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675c12a8064f6b" /><Relationship Type="http://schemas.openxmlformats.org/officeDocument/2006/relationships/extended-properties" Target="/docProps/app.xml" Id="R296e9bc1403247d5" /><Relationship Type="http://schemas.openxmlformats.org/officeDocument/2006/relationships/officeDocument" Target="/ppt/presentation.xml" Id="R056d2a134c824f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0468b250af4400"/>
  </p:sldMasterIdLst>
  <p:notesMasterIdLst>
    <p:notesMasterId xmlns:r="http://schemas.openxmlformats.org/officeDocument/2006/relationships" r:id="Rc17740d8b5aa4300"/>
  </p:notesMasterIdLst>
  <p:sldIdLst>
    <p:sldId xmlns:r="http://schemas.openxmlformats.org/officeDocument/2006/relationships" id="256" r:id="R904fc9f0af8a4cfa"/>
    <p:sldId xmlns:r="http://schemas.openxmlformats.org/officeDocument/2006/relationships" id="257" r:id="R900122280d224ee6"/>
    <p:sldId xmlns:r="http://schemas.openxmlformats.org/officeDocument/2006/relationships" id="258" r:id="Rab500f5827ca4721"/>
    <p:sldId xmlns:r="http://schemas.openxmlformats.org/officeDocument/2006/relationships" id="259" r:id="R997a9e77e6224b56"/>
    <p:sldId xmlns:r="http://schemas.openxmlformats.org/officeDocument/2006/relationships" id="260" r:id="R2ea4c1f166d1419c"/>
    <p:sldId xmlns:r="http://schemas.openxmlformats.org/officeDocument/2006/relationships" id="261" r:id="Redc8ae4fc4184d46"/>
    <p:sldId xmlns:r="http://schemas.openxmlformats.org/officeDocument/2006/relationships" id="262" r:id="R9aaea79dba99466c"/>
    <p:sldId xmlns:r="http://schemas.openxmlformats.org/officeDocument/2006/relationships" id="263" r:id="R757ba71ab5be410d"/>
    <p:sldId xmlns:r="http://schemas.openxmlformats.org/officeDocument/2006/relationships" id="264" r:id="R9a32ef7a7a8e4f47"/>
    <p:sldId xmlns:r="http://schemas.openxmlformats.org/officeDocument/2006/relationships" id="265" r:id="R7add3b86721b4916"/>
    <p:sldId xmlns:r="http://schemas.openxmlformats.org/officeDocument/2006/relationships" id="266" r:id="R778691a3e1884d2d"/>
    <p:sldId xmlns:r="http://schemas.openxmlformats.org/officeDocument/2006/relationships" id="267" r:id="R1ea15463fae347c6"/>
    <p:sldId xmlns:r="http://schemas.openxmlformats.org/officeDocument/2006/relationships" id="268" r:id="R8e3fc7d2592c44f8"/>
    <p:sldId xmlns:r="http://schemas.openxmlformats.org/officeDocument/2006/relationships" id="269" r:id="R2c1ee7e76aed4b1b"/>
    <p:sldId xmlns:r="http://schemas.openxmlformats.org/officeDocument/2006/relationships" id="270" r:id="Rd6323b02960e46bf"/>
    <p:sldId xmlns:r="http://schemas.openxmlformats.org/officeDocument/2006/relationships" id="271" r:id="R4379fc5c6f31497b"/>
    <p:sldId xmlns:r="http://schemas.openxmlformats.org/officeDocument/2006/relationships" id="272" r:id="R14d34e3453db4a0b"/>
    <p:sldId xmlns:r="http://schemas.openxmlformats.org/officeDocument/2006/relationships" id="273" r:id="Rc78f1c162bf94e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3fb60337e34bc5" /><Relationship Type="http://schemas.openxmlformats.org/officeDocument/2006/relationships/slideMaster" Target="/ppt/slideMasters/slideMaster1.xml" Id="R690468b250af4400" /><Relationship Type="http://schemas.openxmlformats.org/officeDocument/2006/relationships/notesMaster" Target="/ppt/notesMasters/notesMaster1.xml" Id="Rc17740d8b5aa4300" /><Relationship Type="http://schemas.openxmlformats.org/officeDocument/2006/relationships/presProps" Target="/ppt/presProps.xml" Id="R2bd65a68c0aa43f6" /><Relationship Type="http://schemas.openxmlformats.org/officeDocument/2006/relationships/tableStyles" Target="/ppt/tableStyles.xml" Id="R6c9bf4c9c2fc4e7e" /><Relationship Type="http://schemas.openxmlformats.org/officeDocument/2006/relationships/slide" Target="/ppt/slides/slide1.xml" Id="R904fc9f0af8a4cfa" /><Relationship Type="http://schemas.openxmlformats.org/officeDocument/2006/relationships/slide" Target="/ppt/slides/slide2.xml" Id="R900122280d224ee6" /><Relationship Type="http://schemas.openxmlformats.org/officeDocument/2006/relationships/slide" Target="/ppt/slides/slide3.xml" Id="Rab500f5827ca4721" /><Relationship Type="http://schemas.openxmlformats.org/officeDocument/2006/relationships/slide" Target="/ppt/slides/slide4.xml" Id="R997a9e77e6224b56" /><Relationship Type="http://schemas.openxmlformats.org/officeDocument/2006/relationships/slide" Target="/ppt/slides/slide5.xml" Id="R2ea4c1f166d1419c" /><Relationship Type="http://schemas.openxmlformats.org/officeDocument/2006/relationships/slide" Target="/ppt/slides/slide6.xml" Id="Redc8ae4fc4184d46" /><Relationship Type="http://schemas.openxmlformats.org/officeDocument/2006/relationships/slide" Target="/ppt/slides/slide7.xml" Id="R9aaea79dba99466c" /><Relationship Type="http://schemas.openxmlformats.org/officeDocument/2006/relationships/slide" Target="/ppt/slides/slide8.xml" Id="R757ba71ab5be410d" /><Relationship Type="http://schemas.openxmlformats.org/officeDocument/2006/relationships/slide" Target="/ppt/slides/slide9.xml" Id="R9a32ef7a7a8e4f47" /><Relationship Type="http://schemas.openxmlformats.org/officeDocument/2006/relationships/slide" Target="/ppt/slides/slide10.xml" Id="R7add3b86721b4916" /><Relationship Type="http://schemas.openxmlformats.org/officeDocument/2006/relationships/slide" Target="/ppt/slides/slide11.xml" Id="R778691a3e1884d2d" /><Relationship Type="http://schemas.openxmlformats.org/officeDocument/2006/relationships/slide" Target="/ppt/slides/slide12.xml" Id="R1ea15463fae347c6" /><Relationship Type="http://schemas.openxmlformats.org/officeDocument/2006/relationships/slide" Target="/ppt/slides/slide13.xml" Id="R8e3fc7d2592c44f8" /><Relationship Type="http://schemas.openxmlformats.org/officeDocument/2006/relationships/slide" Target="/ppt/slides/slide14.xml" Id="R2c1ee7e76aed4b1b" /><Relationship Type="http://schemas.openxmlformats.org/officeDocument/2006/relationships/slide" Target="/ppt/slides/slide15.xml" Id="Rd6323b02960e46bf" /><Relationship Type="http://schemas.openxmlformats.org/officeDocument/2006/relationships/slide" Target="/ppt/slides/slide16.xml" Id="R4379fc5c6f31497b" /><Relationship Type="http://schemas.openxmlformats.org/officeDocument/2006/relationships/slide" Target="/ppt/slides/slide17.xml" Id="R14d34e3453db4a0b" /><Relationship Type="http://schemas.openxmlformats.org/officeDocument/2006/relationships/slide" Target="/ppt/slides/slide18.xml" Id="Rc78f1c162bf94e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a3a6d16d1e49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a186e945ed47b0" /><Relationship Type="http://schemas.openxmlformats.org/officeDocument/2006/relationships/notesMaster" Target="/ppt/notesMasters/notesMaster1.xml" Id="R6e0c424c58bd4c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9c34dc89fa4ec3" /><Relationship Type="http://schemas.openxmlformats.org/officeDocument/2006/relationships/notesMaster" Target="/ppt/notesMasters/notesMaster1.xml" Id="R66a9f6c2ce7b43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5e4de7dd4a45c5" /><Relationship Type="http://schemas.openxmlformats.org/officeDocument/2006/relationships/notesMaster" Target="/ppt/notesMasters/notesMaster1.xml" Id="Rba5cca1e665f41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7348e31e5b4545" /><Relationship Type="http://schemas.openxmlformats.org/officeDocument/2006/relationships/notesMaster" Target="/ppt/notesMasters/notesMaster1.xml" Id="Rcd0b969d500c48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c37e8e69364eac" /><Relationship Type="http://schemas.openxmlformats.org/officeDocument/2006/relationships/notesMaster" Target="/ppt/notesMasters/notesMaster1.xml" Id="R1870038f139b46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a8db96d52540df" /><Relationship Type="http://schemas.openxmlformats.org/officeDocument/2006/relationships/notesMaster" Target="/ppt/notesMasters/notesMaster1.xml" Id="R1d87cf3dbd1a41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1576b6ade84466" /><Relationship Type="http://schemas.openxmlformats.org/officeDocument/2006/relationships/notesMaster" Target="/ppt/notesMasters/notesMaster1.xml" Id="Rb4b9f03c6c0746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822eaee9d84bc4" /><Relationship Type="http://schemas.openxmlformats.org/officeDocument/2006/relationships/notesMaster" Target="/ppt/notesMasters/notesMaster1.xml" Id="R6e2dde503e0449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2a48dd68b24c69" /><Relationship Type="http://schemas.openxmlformats.org/officeDocument/2006/relationships/notesMaster" Target="/ppt/notesMasters/notesMaster1.xml" Id="R992093949a054f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483f54d9e94f0e" /><Relationship Type="http://schemas.openxmlformats.org/officeDocument/2006/relationships/notesMaster" Target="/ppt/notesMasters/notesMaster1.xml" Id="R5ff566f2f3fe44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0ff9eda13e4b85" /><Relationship Type="http://schemas.openxmlformats.org/officeDocument/2006/relationships/notesMaster" Target="/ppt/notesMasters/notesMaster1.xml" Id="R45e25efd6dd44d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b69dc5a72749ea" /><Relationship Type="http://schemas.openxmlformats.org/officeDocument/2006/relationships/notesMaster" Target="/ppt/notesMasters/notesMaster1.xml" Id="R524b0dbe0c4940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9934d24f864e1b" /><Relationship Type="http://schemas.openxmlformats.org/officeDocument/2006/relationships/notesMaster" Target="/ppt/notesMasters/notesMaster1.xml" Id="Rd1338ccaae474e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7c38e3b1af4335" /><Relationship Type="http://schemas.openxmlformats.org/officeDocument/2006/relationships/notesMaster" Target="/ppt/notesMasters/notesMaster1.xml" Id="R0c8ae8a850af46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c5575095ad42fd" /><Relationship Type="http://schemas.openxmlformats.org/officeDocument/2006/relationships/notesMaster" Target="/ppt/notesMasters/notesMaster1.xml" Id="R663d91278ab04e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ac09f3d8bdf4265" /><Relationship Type="http://schemas.openxmlformats.org/officeDocument/2006/relationships/notesMaster" Target="/ppt/notesMasters/notesMaster1.xml" Id="R40928122ca0745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5947fef79841c4" /><Relationship Type="http://schemas.openxmlformats.org/officeDocument/2006/relationships/notesMaster" Target="/ppt/notesMasters/notesMaster1.xml" Id="Rceddc6d932814c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bce07920ea4f90" /><Relationship Type="http://schemas.openxmlformats.org/officeDocument/2006/relationships/notesMaster" Target="/ppt/notesMasters/notesMaster1.xml" Id="R05cd1c987eea4f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The screenshot shows the bundled calculator running successfully with stdin 3 + 5 * 2 followed by a newline and stdout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teaching and workflow problems the project addresses. They do not represent measured findings from a formal user study. Project evidence: README.md; frontend/src/App.jsx; frontend/src/components/OutputPanel/OutputPanel.jsx.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Educational analysis covers the built-in language subset.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sources: official Flex manual, https://westes.github.io/flex/manual/Introduction.html ; GNU Bison manual, https://www.gnu.org/s/bison/manual/bison.html ; GCC manual, https://gcc.gnu.org/onlinedocs/gcc/Overall-Options.html . Lexora-specific integration is documented in backend/services/compiler.js and backend/services/inputAnalysis.js.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backend/services/inputAnalysis.js; backend/services/astGenerator.js; backend/services/semanticAnalyzer.js; backend/services/tacGenerator.js; backend/services/optimizer.js; backend/services/basicBlocks.js. Lexora addresses the need for a dedicated website for Lex/Yacc compilation and visual learning. The contribution is application integration and the educational workflow, not a new compiler algorithm. An absolute claim that no related website exists is not substantiated; an online yacc/lex grammar editor/tester is documented at https://lists.gnu.org/archive/html/help-bison/2023-09/msg00000.html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Actual local screenshot showing the calculator source and the built-in token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backend/services/compiler.js; backend/services/wslRunner.js; backend/routes/compile.js; backend/middleware/validator.js. Project evidence: frontend/src/App.jsx; frontend/src/services/files.js; backend/services/tempDir.js; backend/services/compiler.js. Local development: Vite on port 3000 proxies /api to Express on port 3001. Windows uses WSL Ubuntu. Linux uses native Bash.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backend/services/compiler.js; backend/services/wslRunner.js; backend/routes/compile.js; backend/middleware/validator.js. analyzeInput executes before the native stages. These paths are logically separate, not concurrent jobs. Cleanup is attempted in finally before the route sends the JSON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frontend/src/App.jsx; frontend/src/services/files.js; backend/services/tempDir.js; backend/services/compiler.js. There is no application database. Browser storage is specific to the browser origin and may be blocked or cleared. Cleanup failures are logged.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backend/services/compiler.js; backend/services/wslRunner.js; backend/routes/compile.js; backend/middleware/validator.js. Actual combined-mode order: flex lex.l; bison -d parser.y; normalize generated-header references; regenerate scanner; gcc -o compiler lex.yy.c parser.tab.c -lfl -lm; ./compiler &lt; input.txt. Lex Only skips Bison. Yacc Only skips Flex and requires its own yylex and 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backend/services/inputAnalysis.js; backend/services/astGenerator.js; backend/services/semanticAnalyzer.js; backend/services/tacGenerator.js; backend/services/optimizer.js; backend/services/basicBlocks.js. The screenshot is the actual AST view for calculator stdin 3 + 5 * 2 followed by newline. The AST comes from Lexora’s own parser. It does not trace the uploaded grammar.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backend/services/inputAnalysis.js; backend/services/astGenerator.js; backend/services/semanticAnalyzer.js; backend/services/tacGenerator.js; backend/services/optimizer.js; backend/services/basicBlocks.js. Observed analyzeInput("int x = 2 + 3 * 4;"): AST declaration x:int with addition of 2 and multiplication 3*4. Symbol x global, declared true. TAC and optimized TAC shown exactly. Three assignments remain, so no instruction-count or speed claim applies.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backend/services/inputAnalysis.js; backend/services/astGenerator.js; backend/services/semanticAnalyzer.js; backend/services/tacGenerator.js; backend/services/optimizer.js; backend/services/basicBlocks.js. Observed analyzeInput("int x = 1; if (x &lt; 3) { x = x + 1; }"): B1 x=1, t1=x&lt;3, ifFalse t1 goto L1; B2 t2=x+1, x=t2; B3 L1:. Successors: B1 to B2 and B3, B2 to B3. These blocks use original TAC.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backend/services/compiler.js; backend/services/wslRunner.js; backend/routes/compile.js; backend/middleware/validator.js. The bundled calculator was executed through the current backend and through the UI. Input was exactly "3 + 5 * 2\n". Observed stdout was "13\n" with successful Flex, Bison, GCC and execution stages. The grammar uses EOL to finish an expression.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backend/services/inputAnalysis.js; backend/services/astGenerator.js; backend/services/semanticAnalyzer.js; backend/services/tacGenerator.js; backend/services/optimizer.js; backend/services/basicBlocks.js. Project evidence: backend/services/compiler.js; backend/services/wslRunner.js; backend/routes/compile.js; backend/middleware/validator.js. Future development items are proposals. Native C actions execute with backend-user privileges. The current model serves trusted local or access-controlled demonstrations.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backend/services/inputAnalysis.js; backend/services/astGenerator.js; backend/services/semanticAnalyzer.js; backend/services/tacGenerator.js; backend/services/optimizer.js; backend/services/basicBlocks.js.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 links are listed on the slide. Lexora-specific claims derive from the current source code and README. The current dependencies are React 19, CodeMirror 6, Vite 8, Node.js, and Express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2ca62b39749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947e869fd4a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dbf87aaa147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a8498f0fb47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a259955204a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7131e313841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63DEA9-E136-4D63-B0BA-C367951D4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BB9F72-B93A-4B9A-8DF7-B7F7227B0E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6FA6E1-0454-4595-9384-A4D91D2CE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8E5746-A9E3-407B-B977-366F9D2605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AF5ED5-CF43-4EB9-8B00-2B0EA821A4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B8B748-FB35-43A7-8F4D-ABB18B019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5ABF85-9673-4664-B57D-0AB1AE8DC7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3CDE60-0D93-4321-9A58-C4EFCFC178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CB0139-E020-4090-A361-2E67A92BD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5D77E8-71C1-45D3-AAE5-25D9422D69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e4a8aa27694759" /><Relationship Type="http://schemas.openxmlformats.org/officeDocument/2006/relationships/slideLayout" Target="/ppt/slideLayouts/slideLayout1.xml" Id="Ra454e27a640847d0" /><Relationship Type="http://schemas.openxmlformats.org/officeDocument/2006/relationships/slideLayout" Target="/ppt/slideLayouts/slideLayout2.xml" Id="Re4848ec7744942f8" /><Relationship Type="http://schemas.openxmlformats.org/officeDocument/2006/relationships/slideLayout" Target="/ppt/slideLayouts/slideLayout3.xml" Id="Rf3297ad8421d432d" /><Relationship Type="http://schemas.openxmlformats.org/officeDocument/2006/relationships/slideLayout" Target="/ppt/slideLayouts/slideLayout4.xml" Id="R00c2bcbd10d742f6" /><Relationship Type="http://schemas.openxmlformats.org/officeDocument/2006/relationships/slideLayout" Target="/ppt/slideLayouts/slideLayout5.xml" Id="R7c3deb93824c44a9" /><Relationship Type="http://schemas.openxmlformats.org/officeDocument/2006/relationships/slideLayout" Target="/ppt/slideLayouts/slideLayout6.xml" Id="R57720981cd51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54e27a640847d0"/>
    <p:sldLayoutId xmlns:r="http://schemas.openxmlformats.org/officeDocument/2006/relationships" id="2147483650" r:id="Re4848ec7744942f8"/>
    <p:sldLayoutId xmlns:r="http://schemas.openxmlformats.org/officeDocument/2006/relationships" id="2147483651" r:id="Rf3297ad8421d432d"/>
    <p:sldLayoutId xmlns:r="http://schemas.openxmlformats.org/officeDocument/2006/relationships" id="2147483652" r:id="R00c2bcbd10d742f6"/>
    <p:sldLayoutId xmlns:r="http://schemas.openxmlformats.org/officeDocument/2006/relationships" id="2147483653" r:id="R7c3deb93824c44a9"/>
    <p:sldLayoutId xmlns:r="http://schemas.openxmlformats.org/officeDocument/2006/relationships" id="2147483654" r:id="R57720981cd51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b931bd56c4ce8" /><Relationship Type="http://schemas.openxmlformats.org/officeDocument/2006/relationships/image" Target="/ppt/media/image.jpeg" Id="R4c32474167ba41d7" /><Relationship Type="http://schemas.openxmlformats.org/officeDocument/2006/relationships/notesSlide" Target="/ppt/notesSlides/notesSlide1.xml" Id="Rf3dd8f9be70447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d88939e9a4cbf" /><Relationship Type="http://schemas.openxmlformats.org/officeDocument/2006/relationships/notesSlide" Target="/ppt/notesSlides/notesSlide2.xml" Id="R89c3141130d748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dfea4a9954282" /><Relationship Type="http://schemas.openxmlformats.org/officeDocument/2006/relationships/notesSlide" Target="/ppt/notesSlides/notesSlide3.xml" Id="Rfa3e706650e24b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f4d6d0a224b21" /><Relationship Type="http://schemas.openxmlformats.org/officeDocument/2006/relationships/notesSlide" Target="/ppt/notesSlides/notesSlide4.xml" Id="Rfc5772c175894e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1d8f3563564154" /><Relationship Type="http://schemas.openxmlformats.org/officeDocument/2006/relationships/notesSlide" Target="/ppt/notesSlides/notesSlide5.xml" Id="R9ac2ccad185949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80613f5252481b" /><Relationship Type="http://schemas.openxmlformats.org/officeDocument/2006/relationships/notesSlide" Target="/ppt/notesSlides/notesSlide6.xml" Id="R3baf6fcd911c45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6be82969284f59" /><Relationship Type="http://schemas.openxmlformats.org/officeDocument/2006/relationships/image" Target="/ppt/media/image2.jpeg" Id="R6a1e98b6249e439a" /><Relationship Type="http://schemas.openxmlformats.org/officeDocument/2006/relationships/notesSlide" Target="/ppt/notesSlides/notesSlide7.xml" Id="R4dd33532fc4840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0a0098f8146ba" /><Relationship Type="http://schemas.openxmlformats.org/officeDocument/2006/relationships/notesSlide" Target="/ppt/notesSlides/notesSlide8.xml" Id="Rd16f50d3b17742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680fb499304cbc" /><Relationship Type="http://schemas.openxmlformats.org/officeDocument/2006/relationships/notesSlide" Target="/ppt/notesSlides/notesSlide9.xml" Id="Rd4cfc947cf1f4d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fa98dc6d14668" /><Relationship Type="http://schemas.openxmlformats.org/officeDocument/2006/relationships/notesSlide" Target="/ppt/notesSlides/notesSlide10.xml" Id="Ra595db739f4043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de9292a5d4831" /><Relationship Type="http://schemas.openxmlformats.org/officeDocument/2006/relationships/notesSlide" Target="/ppt/notesSlides/notesSlide11.xml" Id="Rb3a79ebbc23d40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81f8753284eb1" /><Relationship Type="http://schemas.openxmlformats.org/officeDocument/2006/relationships/image" Target="/ppt/media/image3.jpeg" Id="R87112bf8e7fd4172" /><Relationship Type="http://schemas.openxmlformats.org/officeDocument/2006/relationships/notesSlide" Target="/ppt/notesSlides/notesSlide12.xml" Id="Ref2f703795d946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40312085f4f2d" /><Relationship Type="http://schemas.openxmlformats.org/officeDocument/2006/relationships/notesSlide" Target="/ppt/notesSlides/notesSlide13.xml" Id="Rc135694fbd764b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2b4043cf54cb4" /><Relationship Type="http://schemas.openxmlformats.org/officeDocument/2006/relationships/notesSlide" Target="/ppt/notesSlides/notesSlide14.xml" Id="Rfddcf3e6cde340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25d2d446e246bd" /><Relationship Type="http://schemas.openxmlformats.org/officeDocument/2006/relationships/notesSlide" Target="/ppt/notesSlides/notesSlide15.xml" Id="R399915d18ecf42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9135fb501941e9" /><Relationship Type="http://schemas.openxmlformats.org/officeDocument/2006/relationships/notesSlide" Target="/ppt/notesSlides/notesSlide16.xml" Id="R5b31def4189a43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62deed9c054a6f" /><Relationship Type="http://schemas.openxmlformats.org/officeDocument/2006/relationships/notesSlide" Target="/ppt/notesSlides/notesSlide17.xml" Id="R9f015d07faf149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01c2c7e0b4a55" /><Relationship Type="http://schemas.openxmlformats.org/officeDocument/2006/relationships/notesSlide" Target="/ppt/notesSlides/notesSlide18.xml" Id="Re4dd00595f8e4f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7494B-C1CF-4043-AA6A-C947A2B4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EA191-E0C1-4014-8137-C6398D37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2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02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2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Lexora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3C723-C083-41DE-8104-2C4B459C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4248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compiler-design</a:t>
            </a:r>
          </a:p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090DF-82C2-46DB-8B12-58B7F555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Real Lex/Yacc execution with visual explanations of compiler concepts.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7A829-4491-41D4-BC54-2AE9AC19F2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2474167ba41d7"/>
          <a:stretch xmlns:a="http://schemas.openxmlformats.org/drawingml/2006/main"/>
        </p:blipFill>
        <p:spPr>
          <a:xfrm xmlns:a="http://schemas.openxmlformats.org/drawingml/2006/main">
            <a:off x="5200650" y="2458045"/>
            <a:ext cx="6381750" cy="358973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DDCF8-44DD-4EAA-AC03-B4153910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666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COMPILER DESIGN PROJECT</a:t>
            </a:r>
          </a:p>
        </p:txBody>
      </p:sp>
    </p:spTree>
    <p:extLst>
      <p:ext uri="{BB962C8B-B14F-4D97-AF65-F5344CB8AC3E}">
        <p14:creationId xmlns:p14="http://schemas.microsoft.com/office/powerpoint/2010/main" val="616953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23304-9DBF-42BD-BF71-84EA0BC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B1335-C7A7-43D2-A446-78E5E823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E2F73-5A53-48A1-AFE5-20ED3264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0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Lexora brings source editing,</a:t>
            </a:r>
          </a:p>
          <a:p xmlns:a="http://schemas.openxmlformats.org/drawingml/2006/main">
            <a:pPr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0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native compilation, and compiler</a:t>
            </a:r>
          </a:p>
          <a:p xmlns:a="http://schemas.openxmlformats.org/drawingml/2006/main">
            <a:pPr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0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analysis into one browser workspace.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2876C-4EDF-4A14-A176-686BCBB6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Native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9D4FD-0F80-4300-9154-55C544C7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Students compile selected Lex and Yacc specifications using Flex, Bison, and GCC.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EF365-FCA4-4E8F-AF48-9BF97E2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Educational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836D0-68E7-49E3-BA0C-52873936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5143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A built-in analyzer explains supported input through syntax trees, symbols, and intermediate code.</a:t>
            </a:r>
          </a:p>
        </p:txBody>
      </p:sp>
    </p:spTree>
    <p:extLst>
      <p:ext uri="{BB962C8B-B14F-4D97-AF65-F5344CB8AC3E}">
        <p14:creationId xmlns:p14="http://schemas.microsoft.com/office/powerpoint/2010/main" val="1679033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6B76A-919E-45C0-B099-74E70A92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Problem 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032E0-639D-4433-A5F8-591E9FC4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8A9B2-3370-400D-87DE-FA9A550F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096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compilation process is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difficult to understand when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its intermediate steps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remain hidden.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12AD3-88C7-420A-824B-433BAA16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Fragmented laboratory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3EB72-4B0D-43C2-934B-1E0AF707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3338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Students manage separate files and commands to generate, compile, and execute a lexer or parser.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295CA-D576-44BF-894F-867EF629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Limited explanatory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BE471-9303-4248-A09C-0B38C3C3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4333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Program output alone does not explain syntax structure, symbol scope, or intermediate code.</a:t>
            </a:r>
          </a:p>
        </p:txBody>
      </p:sp>
    </p:spTree>
    <p:extLst>
      <p:ext uri="{BB962C8B-B14F-4D97-AF65-F5344CB8AC3E}">
        <p14:creationId xmlns:p14="http://schemas.microsoft.com/office/powerpoint/2010/main" val="1047462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10BE1-F202-42F0-985A-330E44F9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06FFD-2C22-4D8C-A030-0B45B4DC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7E163-ACA8-4094-A00F-6CF2D34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7E070-CC6B-47EC-9229-5B10CA15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2402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Provide an integrated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93699-1891-4A68-94BA-8F8E281F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6222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Students can edit specifications, select targets, and supply program input.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D78E9-0A1F-41D5-9FEF-5BFEBE28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68170-2AF2-48B3-ABCF-D4A804E8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2402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Execute real compiler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BD04A-0FD8-488E-8315-84D115F3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6222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backend generates C sources, builds an executable, and captures its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3488E-A64B-46BD-A68E-5F8A7248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C5DD7-48C9-49D0-89B6-79B04A25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814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Explain compiler concepts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4381C-BD6F-4F13-B8FB-54436B1E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196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Visual views connect tokens and syntax structure with symbols and intermediate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62F2E-5BB4-45C5-9CE6-AE151C71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52875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37F5F-E8D6-41CC-99FA-CD237277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Support repeatable experiments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26077-07C3-49C8-84A7-97A93A61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196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Browser drafts, examples, and file downloads help students continue their work.</a:t>
            </a:r>
          </a:p>
        </p:txBody>
      </p:sp>
    </p:spTree>
    <p:extLst>
      <p:ext uri="{BB962C8B-B14F-4D97-AF65-F5344CB8AC3E}">
        <p14:creationId xmlns:p14="http://schemas.microsoft.com/office/powerpoint/2010/main" val="1804070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1410D-9F05-4921-8375-30B7CB2A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Literature survey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6E1E4-5C8D-4279-A1C6-3A6FB56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7C10E-68A0-4227-B3C3-6FD8B042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Existing lexer and parser tools support compiler construction through separate stages. Flex generates scanners from lexical rules, Bison generates parsers from grammar specifications, and GCC compiles the generated C code. Their command-line workflow requires users to manage source files and execute multiple steps. Lexora builds on these tools by providing a dedicated web interface that combines compilation, execution, and visual explanations of compiler phases.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02045-8CA4-4709-804B-1A30DD05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Sources: official Flex, GNU Bison, and GCC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228897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EE0FD-4268-4003-9707-397E7621C0C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67600" y="56816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FD180-7279-42A6-95CE-8322B4EDA60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71850" y="56816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9CFB1-9DC5-4E92-9E79-7EA2076EC74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67600" y="440531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C6A8F-CA78-4E98-A9AB-C167507CC50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71850" y="440531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A479F-FD65-4EE9-8F03-81B5A5F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Novelty and project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B6D74-2533-466F-9981-ED0B1A02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1599F-D6A9-474C-8060-186CAFFF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dedicated website for compiling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Lex/Yacc code and visualizing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compiler concepts.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BF7DE-68AE-461C-9A99-9E9E547E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Lexora brings specification editing, real tool execution, and educational analysis into one workspace.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28791-5C8B-4C4D-B3C8-E83E1170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Selected .l / .y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154BC-5819-436D-9ABD-CF84DDE7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002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Flex + Bison + GCC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04EDF-9DBC-4D83-8922-1E00C991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002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Native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6C76F-DACC-43B4-AC18-802E525E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Program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24357-2D33-42C1-BB7A-17903092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8637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Built-in analyzer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59BDE-E6CF-460E-9F1B-8CAFF528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8637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Educational views</a:t>
            </a:r>
          </a:p>
        </p:txBody>
      </p:sp>
    </p:spTree>
    <p:extLst>
      <p:ext uri="{BB962C8B-B14F-4D97-AF65-F5344CB8AC3E}">
        <p14:creationId xmlns:p14="http://schemas.microsoft.com/office/powerpoint/2010/main" val="355252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205EE-7E5D-44E7-8A39-AD24502D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The Lexora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3EDE0-7994-4F4E-9BAB-4FEFB939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56A6F-2F5C-4BA2-BFAA-F31C8B6865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e98b6249e439a"/>
          <a:stretch xmlns:a="http://schemas.openxmlformats.org/drawingml/2006/main"/>
        </p:blipFill>
        <p:spPr>
          <a:xfrm xmlns:a="http://schemas.openxmlformats.org/drawingml/2006/main">
            <a:off x="609600" y="1657350"/>
            <a:ext cx="8077200" cy="45434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7EF57-C6E8-4571-8705-33FBD9D4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95475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Source editing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72BA9-0F95-43FC-9505-845CBA1A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00325"/>
            <a:ext cx="2495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editor holds the selected lexer or parser specification.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E603E-58EB-4776-AD70-3613DC8C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57675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Analysis 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E644A-BCD9-4DD0-BA0E-6D1BC9F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62525"/>
            <a:ext cx="2495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token table records each lexeme and its position in the input.</a:t>
            </a:r>
          </a:p>
        </p:txBody>
      </p:sp>
    </p:spTree>
    <p:extLst>
      <p:ext uri="{BB962C8B-B14F-4D97-AF65-F5344CB8AC3E}">
        <p14:creationId xmlns:p14="http://schemas.microsoft.com/office/powerpoint/2010/main" val="9277991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7B7DC-7760-430D-B325-9DC5BCA8C27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039350" y="28670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8850B-1DD9-4FF7-8B13-7DF65121A4FF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86475" y="28670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2F1CA-0E00-46A4-8278-A3470CE6B497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133600" y="28670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35707-1E6C-4A57-90BF-01627382EA5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10475" y="2333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3C4F1-B307-49E3-AF05-AF8C9C19D39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657600" y="2333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83C84-9332-473B-A3ED-E77DD114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CF2C3-87A6-4DDC-BCD5-B0517090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CEA01-8F04-436C-BFD4-129A22A3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Browser interface</a:t>
            </a:r>
          </a:p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React + CodeMirror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878E0-8301-4264-AB81-53E395A5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0022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Backend API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Node.js + Express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38644-C2B2-4755-88D9-FEDA1879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022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Native tools</a:t>
            </a:r>
          </a:p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Flex + Bison + GCC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F050F-6B06-425B-B075-851142A5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571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 / 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78964-6A0D-4EDB-9834-8B45A8BF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Browser localStorage</a:t>
            </a:r>
          </a:p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Workspace drafts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EBFA8-B5A6-468D-9AC1-66967581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05275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JavaScript analyzer</a:t>
            </a:r>
          </a:p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AST, symbols, and TAC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EB497-42D4-4D28-9B82-1BF1D6F3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05275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Temporary job directory</a:t>
            </a:r>
          </a:p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Sources and executable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7139E-BE7A-405F-942A-ECC65595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browser manages editing. The backend performs input analysis and native compilation.</a:t>
            </a:r>
          </a:p>
        </p:txBody>
      </p:sp>
    </p:spTree>
    <p:extLst>
      <p:ext uri="{BB962C8B-B14F-4D97-AF65-F5344CB8AC3E}">
        <p14:creationId xmlns:p14="http://schemas.microsoft.com/office/powerpoint/2010/main" val="825628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B2EA8-31D0-4747-BFDE-DBFEAF71442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086225" y="41529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05249-4545-4DA7-8789-776B5244EE0C}"/>
              </a:ext>
            </a:extLst>
          </p:cNvPr>
          <p:cNvCxnSpPr>
            <a:stCxn xmlns:a="http://schemas.openxmlformats.org/drawingml/2006/main" id="11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9991725" y="36766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9D7B9-B145-4CE8-900E-8472E6F00ED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86225" y="524827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6FB0D-F437-4611-89B9-3C7F147CC79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347913" y="4572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DC288-F8EF-4EC3-ACCA-DEB8F5A42F8E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2347913" y="3390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BF4BD-BBAD-459E-B9AE-1273C71FC7C8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347913" y="23812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FB579-C5C1-4C43-8026-522F8312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Working flowchart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F3E86-B664-4682-8187-31310761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939BC-8AF3-4EFD-A35C-5487A5C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Edit files and program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4A3E6-261C-432C-9B13-4AD1925A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Submit compilation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85116-24B2-4662-8CD5-F091DDCF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476625" cy="838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Validate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5A4D2-446C-4BFA-85EE-C25680EF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Analyze input and create job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05FF4-6C69-4C31-9706-E123784A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81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Valid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8387B-AA72-4611-9073-70BE8976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149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Generate C, compile, and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3FD42-6BB7-4D87-8F92-FCA209D5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Return results and clean job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A607B-DF1D-403C-9229-EF2B8B12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338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Return a validation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DC034-DB18-4236-BE4A-8CFB284A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813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Invalid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79B58-3E8F-4BEC-A8EC-D541C341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314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Failures identify the failing phase and preserve available results.</a:t>
            </a:r>
          </a:p>
        </p:txBody>
      </p:sp>
    </p:spTree>
    <p:extLst>
      <p:ext uri="{BB962C8B-B14F-4D97-AF65-F5344CB8AC3E}">
        <p14:creationId xmlns:p14="http://schemas.microsoft.com/office/powerpoint/2010/main" val="14862857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D3E48-7398-433A-8A3A-C927D4ED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Data storage and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23AAA-906F-4955-B4FA-11FF10A2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1FE69-9A46-4ED9-AF4A-DD65E947E0EA}"/>
              </a:ext>
            </a:extLst>
          </p:cNvPr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4543425"/>
                <a:gridCol w="33337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Storage location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Lifetime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Workspace drafts and 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Browser localStorage</a:t>
                      </a:r>
                    </a:p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lexora.workspace.v2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Persists across reloads until cleared.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Job files and executable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Backend OS temporary directory</a:t>
                      </a:r>
                    </a:p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lexora-&lt;UUID&gt;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One request, followed by cleanup.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Output and analysis results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Backend memory and browser React 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Available during the current run.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Downloaded source and 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The user’s download destination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Remains until the user removes it.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C9844-CE2F-41B3-8B58-C80B354B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Lexora uses browser drafts and temporary job files without an application database.</a:t>
            </a:r>
          </a:p>
        </p:txBody>
      </p:sp>
    </p:spTree>
    <p:extLst>
      <p:ext uri="{BB962C8B-B14F-4D97-AF65-F5344CB8AC3E}">
        <p14:creationId xmlns:p14="http://schemas.microsoft.com/office/powerpoint/2010/main" val="18983852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FC22A-D4D1-46D3-AF25-DAA1210AD0E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67750" y="2305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94FCD-5EBD-4570-92EF-07DC270C258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72150" y="2305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41A22-CC3E-483B-A350-2E1F9FE8FC1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76550" y="2305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B6F42-4444-4E80-BAB3-5249E50D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Native compilation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91901-DBE8-4439-845F-0135106D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33A9A-973D-4BE3-9E96-6BA6F8A1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Flex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A6317-A2D9-433D-891E-AB8D6B9D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5045F-0DEF-404B-910B-9ACB6A66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A4891-A5C3-47E7-A8E0-51A8C4C5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29F4A-94D6-4FB1-857C-5ACDAE29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266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lex.l produces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lex.yy.c.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6BFCA-83B2-4D12-9666-3D5B3B8A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0375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parser.y produces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parser.tab.c and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parser.tab.h.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6EB42-7C35-4C2A-A360-47E62527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2419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Generated C files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produce an executable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named compiler.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F9D58-F742-49B7-816D-A5F24C7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0375"/>
            <a:ext cx="2305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executable reads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input.txt and writes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standard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93B5B-3E42-400D-871D-AA7F7D72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gcc -o compiler lex.yy.c parser.tab.c -lfl -lm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EAEF0-671C-4A9C-89F5-5B37BB54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backend aligns parser-header references and regenerates the scanner before GCC runs.</a:t>
            </a:r>
          </a:p>
        </p:txBody>
      </p:sp>
    </p:spTree>
    <p:extLst>
      <p:ext uri="{BB962C8B-B14F-4D97-AF65-F5344CB8AC3E}">
        <p14:creationId xmlns:p14="http://schemas.microsoft.com/office/powerpoint/2010/main" val="10507254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D4E9A-2B14-43FD-A2FB-3787E281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Educational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BF4A4-6B2A-4016-8B8E-4D37AF5B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73898-3447-4E3C-A1DF-B92AB8C1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Input: 3 + 5 *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A2943-5B9F-45DF-83FD-AF4D4F0F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829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built-in parser groups multiplication before addition and constructs an abstract syntax tree.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05D0B-6787-470C-912D-62A70E77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8293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The analyzer also derives scoped symbols, three-address code, optimization results, and basic blocks.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0C7BE-D1DD-4FB6-81CB-94706F799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12bf8e7fd4172"/>
          <a:stretch xmlns:a="http://schemas.openxmlformats.org/drawingml/2006/main"/>
        </p:blipFill>
        <p:spPr>
          <a:xfrm xmlns:a="http://schemas.openxmlformats.org/drawingml/2006/main">
            <a:off x="7107267" y="1657350"/>
            <a:ext cx="4454465" cy="3886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E4A47-5EDC-48B4-80FA-02AA994D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Educational analysis uses Lexora’s supported C subset. Native execution follows the submitted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253049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AE0CE-AAF2-4F51-A564-F811D12246A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829050" y="5181600"/>
            <a:ext cx="790575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F4DD5-C051-4258-93F6-DA2AA9650596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3114675" y="5181600"/>
            <a:ext cx="714375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94CC9-E627-4640-8E77-FF5BBEB8F87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447925" y="4143375"/>
            <a:ext cx="13811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04FF8-2FC9-4F94-BA13-9649876F104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1152525" y="4143375"/>
            <a:ext cx="129540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FB29B-8DA6-487E-A2EF-1D62314EE4F2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2447925" y="3152775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84E8A-0BEE-49CE-8352-4A1E07A0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Worked example: intermediate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142C4-3564-4BBF-A1B3-1908211A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B7813-2360-498C-9758-020A8777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int x = 2 + 3 * 4;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CCAAD-FDAD-46FE-BD87-EAB12024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241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Declare x : 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EFC84-7BC1-4A4A-AE3A-4E5E504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571875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87C4D-71A7-4B65-9DFA-35312C79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CF39F-5DD1-4F93-8688-770400C2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577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74200-1830-4E69-BDE6-FF35308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19750"/>
            <a:ext cx="74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205E7-5743-419D-9F41-233B9EB6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19750"/>
            <a:ext cx="74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84A4E-857F-4EC8-BB8E-E21AF83E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Original TAC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F4E9F-FAF4-482E-8858-A18A07C6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5048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t1 = 3 * 4</a:t>
            </a:r>
          </a:p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t2 = 2 + t1</a:t>
            </a:r>
          </a:p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x = t2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66320-D3AF-451F-A9DA-D07F264F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Optimized TAC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C704F-DF52-45ED-96FD-839A56A8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24200"/>
            <a:ext cx="23336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t1 = 12</a:t>
            </a:r>
          </a:p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t2 = 14</a:t>
            </a:r>
          </a:p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x = 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3D417-2F83-4930-97C6-58E8E8B1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62525"/>
            <a:ext cx="5410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Constant folding evaluates arithmetic.</a:t>
            </a:r>
          </a:p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Constant propagation substitutes known values.</a:t>
            </a:r>
          </a:p>
        </p:txBody>
      </p:sp>
    </p:spTree>
    <p:extLst>
      <p:ext uri="{BB962C8B-B14F-4D97-AF65-F5344CB8AC3E}">
        <p14:creationId xmlns:p14="http://schemas.microsoft.com/office/powerpoint/2010/main" val="5097119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018CD-FC91-4F39-BF13-722C6FBE116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>
            <a:off x="10382250" y="2400300"/>
            <a:ext cx="1257300" cy="3524250"/>
          </a:xfrm>
          <a:prstGeom xmlns:a="http://schemas.openxmlformats.org/drawingml/2006/main" prst="bentConnector4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4C394-05A1-495B-BBCE-9B45086AA7C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477250" y="49530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DE134-1257-4C22-97C1-5AC8ECCBC31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477250" y="3152775"/>
            <a:ext cx="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AF129-7003-420C-8170-857A2FF6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Basic blocks and control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A9C67-9772-45AF-8517-9164F9F9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03F55-B4FC-4E34-9ABD-61855D4F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int x = 1;</a:t>
            </a:r>
          </a:p>
          <a:p xmlns:a="http://schemas.openxmlformats.org/drawingml/2006/main">
            <a:pPr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if (x &lt; 3) { x = x + 1; 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BD8FF-3D3D-4DAA-8F4C-BAB2C735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50577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A basic block contains consecutive instructions with no internal branch.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43476-04B9-4312-ACF6-9B10DB3D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057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Lexora identifies block leaders and records the successor relationships in the original TAC.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816EF-AC7A-4645-875E-448304F0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47825"/>
            <a:ext cx="3810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B1: Test condition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x = 1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t1 = x &lt; 3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ifFalse t1 goto L1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6E6C0-527C-428D-A4F3-F606E5B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3810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B2: Execute body</a:t>
            </a:r>
          </a:p>
          <a:p xmlns:a="http://schemas.openxmlformats.org/drawingml/2006/main">
            <a:pPr algn="ctr"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t2 = x + 1</a:t>
            </a:r>
          </a:p>
          <a:p xmlns:a="http://schemas.openxmlformats.org/drawingml/2006/main">
            <a:pPr algn="ctr"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x = t2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1BA1F-E1AF-4FA2-BF7E-D6DDD045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B3: Continue</a:t>
            </a:r>
          </a:p>
          <a:p xmlns:a="http://schemas.openxmlformats.org/drawingml/2006/main">
            <a:pPr algn="ctr">
              <a:defRPr sz="17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L1: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84189-62B0-4A8D-B33E-C21E3755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A1CB1-1529-4E44-A154-46CDB68E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433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732231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3E3B5-716C-43FF-AAEC-CB9A7ED3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Demonstration: the calculator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48904-C5B4-4FE3-9367-966FD1DE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C0AEC-90D7-4582-9205-C4F9841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Program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F8F04-96A5-4EB1-ADC1-89A56028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477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5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5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0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 + 5 *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87B59-F9A4-4B1B-8CBF-2FD49FCB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Native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C1967-A0AC-44E7-8007-7801AD65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90775"/>
            <a:ext cx="26670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75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9375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9375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2699C-9420-4456-A1D1-5CDB3FCF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Flex generates the scanner, Bison generates the parser, and GCC builds the program that prints the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87893-9507-49C5-B65E-EF2217FB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bundled calculator expects a newline after each expression.</a:t>
            </a:r>
          </a:p>
        </p:txBody>
      </p:sp>
    </p:spTree>
    <p:extLst>
      <p:ext uri="{BB962C8B-B14F-4D97-AF65-F5344CB8AC3E}">
        <p14:creationId xmlns:p14="http://schemas.microsoft.com/office/powerpoint/2010/main" val="15655730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FF38C-FDD9-4D9B-8BCE-F225F0A0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Current scope and future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EDDDD-7075-42F2-951D-67C4F66A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FB369-6540-4526-8B55-75EF1BF1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Implemented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84A92-25A3-4028-AF7F-29DCEB5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048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Lexora supports selected .l and .y targets and an educational subset of 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D704A-6757-4005-9A2D-D089D5DB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5048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analyzer currently excludes arrays, structures, pointer declarations, and several other C constructs.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7383F-9F9A-4443-95BB-E5696354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Future 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AA043-A6D9-479B-BCAF-CF4B247F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479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Language and project-file support can expand beyond the current teaching subset.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1E946-0294-4D37-8C2D-C56810E8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5143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Public execution would require isolated workers with restricted filesystem and network access.</a:t>
            </a:r>
          </a:p>
        </p:txBody>
      </p:sp>
    </p:spTree>
    <p:extLst>
      <p:ext uri="{BB962C8B-B14F-4D97-AF65-F5344CB8AC3E}">
        <p14:creationId xmlns:p14="http://schemas.microsoft.com/office/powerpoint/2010/main" val="18638834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17B53-CB35-4D37-ADDC-FCD8D542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7FBA1-90F7-4A23-ABB6-8E4DE94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FFE6B-B2A3-46C4-978A-6CF870F7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Lexora makes compiler-design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experiments easier to run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 easier to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0C542-2D3F-429F-A053-2B73AC2E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077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project combines native tool execution with educational representations of program input in a persistent browser workspace.</a:t>
            </a:r>
          </a:p>
        </p:txBody>
      </p:sp>
    </p:spTree>
    <p:extLst>
      <p:ext uri="{BB962C8B-B14F-4D97-AF65-F5344CB8AC3E}">
        <p14:creationId xmlns:p14="http://schemas.microsoft.com/office/powerpoint/2010/main" val="10259154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ED1DD-8903-4667-BC14-DCE6ED7F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7F81B-65A8-4252-9E4B-A91B6E8B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0A625-961C-4E1C-BF35-A2C2C087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9A822-884B-48A6-A8A7-134D4B77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6212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Official Flex documentation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BCB74-42CE-42ED-A3A3-C51F04B7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71700"/>
            <a:ext cx="990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Scanner generation from regular-expression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42505-1422-46AA-AB5B-CC91525D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95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https://westes.github.io/flex/manual/Introduction.html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05231-610A-4CC5-B6B5-500B7DF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5CA62-0900-4562-A1A3-2CA50611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Official GNU Bison documentation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096E6-AEA4-4E20-BE0D-657D48CF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52825"/>
            <a:ext cx="990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Parser generation from annotated context-free grammars.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F8251-3DC8-4E50-8C1F-A2BF0B32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https://www.gnu.org/s/bison/manual/bison.html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00539-A6E6-432D-816C-E8D7D2D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FF2E9-9ACD-40AB-BEB5-7155C388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2437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Official GCC documentation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E6728-2CA0-4380-97D0-C38EAFC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990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Compilation stages and executable generation.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1B374-03A6-4C89-A314-E3F9AC28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https://gcc.gnu.org/onlinedocs/gcc/Overall-Options.html</a:t>
            </a:r>
          </a:p>
        </p:txBody>
      </p:sp>
    </p:spTree>
    <p:extLst>
      <p:ext uri="{BB962C8B-B14F-4D97-AF65-F5344CB8AC3E}">
        <p14:creationId xmlns:p14="http://schemas.microsoft.com/office/powerpoint/2010/main" val="586199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2026-10-08T07:30:44.2410000Z</dcterms:created>
  <dcterms:modified xsi:type="dcterms:W3CDTF">2026-10-08T07:30:44.2410000Z</dcterms:modified>
</coreProperties>
</file>
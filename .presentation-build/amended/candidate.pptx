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f845abdeb4c49e3" /><Relationship Type="http://schemas.openxmlformats.org/officeDocument/2006/relationships/extended-properties" Target="/docProps/app.xml" Id="R6d113e9fc3314d39" /><Relationship Type="http://schemas.openxmlformats.org/officeDocument/2006/relationships/officeDocument" Target="/ppt/presentation.xml" Id="R6bc15bb138a247db" /></Relationships>
</file>

<file path=ppt/presentation.xml><?xml version="1.0" encoding="utf-8"?>
<p:presentation xmlns:p="http://schemas.openxmlformats.org/presentationml/2006/main">
  <p:sldMasterIdLst>
    <p:sldMasterId xmlns:r="http://schemas.openxmlformats.org/officeDocument/2006/relationships" id="2147483648" r:id="Ra3c784b2c8394051"/>
  </p:sldMasterIdLst>
  <p:notesMasterIdLst>
    <p:notesMasterId xmlns:r="http://schemas.openxmlformats.org/officeDocument/2006/relationships" r:id="R59dcc13ecc23427c"/>
  </p:notesMasterIdLst>
  <p:sldIdLst>
    <p:sldId xmlns:r="http://schemas.openxmlformats.org/officeDocument/2006/relationships" id="256" r:id="R063fe58f15b54902"/>
    <p:sldId xmlns:r="http://schemas.openxmlformats.org/officeDocument/2006/relationships" id="257" r:id="R163a94bcbb184f8e"/>
    <p:sldId xmlns:r="http://schemas.openxmlformats.org/officeDocument/2006/relationships" id="258" r:id="R49132fe1d6ff4339"/>
    <p:sldId xmlns:r="http://schemas.openxmlformats.org/officeDocument/2006/relationships" id="259" r:id="R167300a51c4145bc"/>
    <p:sldId xmlns:r="http://schemas.openxmlformats.org/officeDocument/2006/relationships" id="260" r:id="Rb0afcc210c7f4037"/>
    <p:sldId xmlns:r="http://schemas.openxmlformats.org/officeDocument/2006/relationships" id="261" r:id="R95b1406d9f4a4881"/>
    <p:sldId xmlns:r="http://schemas.openxmlformats.org/officeDocument/2006/relationships" id="262" r:id="R0c3e9303f97b48b1"/>
    <p:sldId xmlns:r="http://schemas.openxmlformats.org/officeDocument/2006/relationships" id="263" r:id="R51b2f90ff1784c3c"/>
    <p:sldId xmlns:r="http://schemas.openxmlformats.org/officeDocument/2006/relationships" id="264" r:id="R47f3381545444324"/>
    <p:sldId xmlns:r="http://schemas.openxmlformats.org/officeDocument/2006/relationships" id="265" r:id="R1c54422c98a245d7"/>
    <p:sldId xmlns:r="http://schemas.openxmlformats.org/officeDocument/2006/relationships" id="266" r:id="R175b275bd41947fd"/>
    <p:sldId xmlns:r="http://schemas.openxmlformats.org/officeDocument/2006/relationships" id="267" r:id="Rb0d6befdcede40b1"/>
    <p:sldId xmlns:r="http://schemas.openxmlformats.org/officeDocument/2006/relationships" id="268" r:id="R81e956cdf42f41f3"/>
    <p:sldId xmlns:r="http://schemas.openxmlformats.org/officeDocument/2006/relationships" id="269" r:id="Rc2db219519b54d77"/>
    <p:sldId xmlns:r="http://schemas.openxmlformats.org/officeDocument/2006/relationships" id="270" r:id="Rde3b29e6d47d4fde"/>
    <p:sldId xmlns:r="http://schemas.openxmlformats.org/officeDocument/2006/relationships" id="271" r:id="R18d526844bb04118"/>
    <p:sldId xmlns:r="http://schemas.openxmlformats.org/officeDocument/2006/relationships" id="272" r:id="Rd796ee62806944a2"/>
    <p:sldId xmlns:r="http://schemas.openxmlformats.org/officeDocument/2006/relationships" id="273" r:id="R2cc462b7189c41b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a33f2149cc54994" /><Relationship Type="http://schemas.openxmlformats.org/officeDocument/2006/relationships/slideMaster" Target="/ppt/slideMasters/slideMaster1.xml" Id="Ra3c784b2c8394051" /><Relationship Type="http://schemas.openxmlformats.org/officeDocument/2006/relationships/notesMaster" Target="/ppt/notesMasters/notesMaster1.xml" Id="R59dcc13ecc23427c" /><Relationship Type="http://schemas.openxmlformats.org/officeDocument/2006/relationships/presProps" Target="/ppt/presProps.xml" Id="Rc84e7c0061e54407" /><Relationship Type="http://schemas.openxmlformats.org/officeDocument/2006/relationships/tableStyles" Target="/ppt/tableStyles.xml" Id="Rff8f3557f4044d36" /><Relationship Type="http://schemas.openxmlformats.org/officeDocument/2006/relationships/slide" Target="/ppt/slides/slide1.xml" Id="R063fe58f15b54902" /><Relationship Type="http://schemas.openxmlformats.org/officeDocument/2006/relationships/slide" Target="/ppt/slides/slide2.xml" Id="R163a94bcbb184f8e" /><Relationship Type="http://schemas.openxmlformats.org/officeDocument/2006/relationships/slide" Target="/ppt/slides/slide3.xml" Id="R49132fe1d6ff4339" /><Relationship Type="http://schemas.openxmlformats.org/officeDocument/2006/relationships/slide" Target="/ppt/slides/slide4.xml" Id="R167300a51c4145bc" /><Relationship Type="http://schemas.openxmlformats.org/officeDocument/2006/relationships/slide" Target="/ppt/slides/slide5.xml" Id="Rb0afcc210c7f4037" /><Relationship Type="http://schemas.openxmlformats.org/officeDocument/2006/relationships/slide" Target="/ppt/slides/slide6.xml" Id="R95b1406d9f4a4881" /><Relationship Type="http://schemas.openxmlformats.org/officeDocument/2006/relationships/slide" Target="/ppt/slides/slide7.xml" Id="R0c3e9303f97b48b1" /><Relationship Type="http://schemas.openxmlformats.org/officeDocument/2006/relationships/slide" Target="/ppt/slides/slide8.xml" Id="R51b2f90ff1784c3c" /><Relationship Type="http://schemas.openxmlformats.org/officeDocument/2006/relationships/slide" Target="/ppt/slides/slide9.xml" Id="R47f3381545444324" /><Relationship Type="http://schemas.openxmlformats.org/officeDocument/2006/relationships/slide" Target="/ppt/slides/slide10.xml" Id="R1c54422c98a245d7" /><Relationship Type="http://schemas.openxmlformats.org/officeDocument/2006/relationships/slide" Target="/ppt/slides/slide11.xml" Id="R175b275bd41947fd" /><Relationship Type="http://schemas.openxmlformats.org/officeDocument/2006/relationships/slide" Target="/ppt/slides/slide12.xml" Id="Rb0d6befdcede40b1" /><Relationship Type="http://schemas.openxmlformats.org/officeDocument/2006/relationships/slide" Target="/ppt/slides/slide13.xml" Id="R81e956cdf42f41f3" /><Relationship Type="http://schemas.openxmlformats.org/officeDocument/2006/relationships/slide" Target="/ppt/slides/slide14.xml" Id="Rc2db219519b54d77" /><Relationship Type="http://schemas.openxmlformats.org/officeDocument/2006/relationships/slide" Target="/ppt/slides/slide15.xml" Id="Rde3b29e6d47d4fde" /><Relationship Type="http://schemas.openxmlformats.org/officeDocument/2006/relationships/slide" Target="/ppt/slides/slide16.xml" Id="R18d526844bb04118" /><Relationship Type="http://schemas.openxmlformats.org/officeDocument/2006/relationships/slide" Target="/ppt/slides/slide17.xml" Id="Rd796ee62806944a2" /><Relationship Type="http://schemas.openxmlformats.org/officeDocument/2006/relationships/slide" Target="/ppt/slides/slide18.xml" Id="R2cc462b7189c41b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186248c1866405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2c8cf85d9b74bd9" /><Relationship Type="http://schemas.openxmlformats.org/officeDocument/2006/relationships/notesMaster" Target="/ppt/notesMasters/notesMaster1.xml" Id="R4eb78da5276340a7" /></Relationships>
</file>

<file path=ppt/notesSlides/_rels/notesSlide2.xml.rels>&#65279;<?xml version="1.0" encoding="utf-8"?><Relationships xmlns="http://schemas.openxmlformats.org/package/2006/relationships"><Relationship Type="http://schemas.openxmlformats.org/officeDocument/2006/relationships/slide" Target="/ppt/slides/slide2.xml" Id="Rf9f189de4b164e2f" /><Relationship Type="http://schemas.openxmlformats.org/officeDocument/2006/relationships/notesMaster" Target="/ppt/notesMasters/notesMaster1.xml" Id="R85043b1a20f14eb2" /></Relationships>
</file>

<file path=ppt/notesSlides/_rels/notesSlide3.xml.rels>&#65279;<?xml version="1.0" encoding="utf-8"?><Relationships xmlns="http://schemas.openxmlformats.org/package/2006/relationships"><Relationship Type="http://schemas.openxmlformats.org/officeDocument/2006/relationships/slide" Target="/ppt/slides/slide3.xml" Id="R788f3f4fbd524620" /><Relationship Type="http://schemas.openxmlformats.org/officeDocument/2006/relationships/notesMaster" Target="/ppt/notesMasters/notesMaster1.xml" Id="R5d398309c8e04b7a" /></Relationships>
</file>

<file path=ppt/notesSlides/_rels/notesSlide4.xml.rels>&#65279;<?xml version="1.0" encoding="utf-8"?><Relationships xmlns="http://schemas.openxmlformats.org/package/2006/relationships"><Relationship Type="http://schemas.openxmlformats.org/officeDocument/2006/relationships/slide" Target="/ppt/slides/slide4.xml" Id="Ra4da13efb0ba4733" /><Relationship Type="http://schemas.openxmlformats.org/officeDocument/2006/relationships/notesMaster" Target="/ppt/notesMasters/notesMaster1.xml" Id="Rca302cba70674b38" /></Relationships>
</file>

<file path=ppt/notesSlides/_rels/notesSlide5.xml.rels>&#65279;<?xml version="1.0" encoding="utf-8"?><Relationships xmlns="http://schemas.openxmlformats.org/package/2006/relationships"><Relationship Type="http://schemas.openxmlformats.org/officeDocument/2006/relationships/slide" Target="/ppt/slides/slide5.xml" Id="R62f60b201a664550" /><Relationship Type="http://schemas.openxmlformats.org/officeDocument/2006/relationships/notesMaster" Target="/ppt/notesMasters/notesMaster1.xml" Id="Rf598d87388d84611" /></Relationships>
</file>

<file path=ppt/notesSlides/_rels/notesSlide6.xml.rels>&#65279;<?xml version="1.0" encoding="utf-8"?><Relationships xmlns="http://schemas.openxmlformats.org/package/2006/relationships"><Relationship Type="http://schemas.openxmlformats.org/officeDocument/2006/relationships/slide" Target="/ppt/slides/slide6.xml" Id="Rcb9769f0629e4aae" /><Relationship Type="http://schemas.openxmlformats.org/officeDocument/2006/relationships/notesMaster" Target="/ppt/notesMasters/notesMaster1.xml" Id="Rc0d655537fbd4dd6" /></Relationships>
</file>

<file path=ppt/notesSlides/_rels/notesSlide7.xml.rels>&#65279;<?xml version="1.0" encoding="utf-8"?><Relationships xmlns="http://schemas.openxmlformats.org/package/2006/relationships"><Relationship Type="http://schemas.openxmlformats.org/officeDocument/2006/relationships/slide" Target="/ppt/slides/slide7.xml" Id="R6bd13f94ada04352" /><Relationship Type="http://schemas.openxmlformats.org/officeDocument/2006/relationships/notesMaster" Target="/ppt/notesMasters/notesMaster1.xml" Id="R05f78bc95e334148" /></Relationships>
</file>

<file path=ppt/notesSlides/_rels/notesSlide8.xml.rels>&#65279;<?xml version="1.0" encoding="utf-8"?><Relationships xmlns="http://schemas.openxmlformats.org/package/2006/relationships"><Relationship Type="http://schemas.openxmlformats.org/officeDocument/2006/relationships/slide" Target="/ppt/slides/slide8.xml" Id="Re8f3bf8b46d240f0" /><Relationship Type="http://schemas.openxmlformats.org/officeDocument/2006/relationships/notesMaster" Target="/ppt/notesMasters/notesMaster1.xml" Id="R7e96af97b5944c72" /></Relationships>
</file>

<file path=ppt/notesSlides/_rels/notesSlide9.xml.rels>&#65279;<?xml version="1.0" encoding="utf-8"?><Relationships xmlns="http://schemas.openxmlformats.org/package/2006/relationships"><Relationship Type="http://schemas.openxmlformats.org/officeDocument/2006/relationships/slide" Target="/ppt/slides/slide9.xml" Id="R224ef30869e14e05" /><Relationship Type="http://schemas.openxmlformats.org/officeDocument/2006/relationships/notesMaster" Target="/ppt/notesMasters/notesMaster1.xml" Id="R79d4f7a73aad418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3fd84e19aeb477f" /><Relationship Type="http://schemas.openxmlformats.org/officeDocument/2006/relationships/notesMaster" Target="/ppt/notesMasters/notesMaster1.xml" Id="R773c28ba053f495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564beed5f96469a" /><Relationship Type="http://schemas.openxmlformats.org/officeDocument/2006/relationships/notesMaster" Target="/ppt/notesMasters/notesMaster1.xml" Id="R086249fd179a470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c03ac645aa142d6" /><Relationship Type="http://schemas.openxmlformats.org/officeDocument/2006/relationships/notesMaster" Target="/ppt/notesMasters/notesMaster1.xml" Id="R06c7b9f0221142d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a6c0488d9a24e0f" /><Relationship Type="http://schemas.openxmlformats.org/officeDocument/2006/relationships/notesMaster" Target="/ppt/notesMasters/notesMaster1.xml" Id="Ra6b39bb12f4d47b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4748d31d9d0415a" /><Relationship Type="http://schemas.openxmlformats.org/officeDocument/2006/relationships/notesMaster" Target="/ppt/notesMasters/notesMaster1.xml" Id="Rda6eee8be9724c2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bca5ca2a93c41ef" /><Relationship Type="http://schemas.openxmlformats.org/officeDocument/2006/relationships/notesMaster" Target="/ppt/notesMasters/notesMaster1.xml" Id="R5da8f4cce71a497e"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007a544e8e94fde" /><Relationship Type="http://schemas.openxmlformats.org/officeDocument/2006/relationships/notesMaster" Target="/ppt/notesMasters/notesMaster1.xml" Id="R0aa08b240ed74b06"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421b12d04a70419a" /><Relationship Type="http://schemas.openxmlformats.org/officeDocument/2006/relationships/notesMaster" Target="/ppt/notesMasters/notesMaster1.xml" Id="R44393ebadd764126"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a0857db141ea4cdc" /><Relationship Type="http://schemas.openxmlformats.org/officeDocument/2006/relationships/notesMaster" Target="/ppt/notesMasters/notesMaster1.xml" Id="R96e74fc7412849e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Project evidence: README.md; frontend/src/App.jsx; frontend/src/components/OutputPanel/OutputPanel.jsx. The screenshot shows the bundled calculator running successfully with stdin 3 + 5 * 2 followed by a newline and stdout 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Project evidence: README.md; frontend/src/App.jsx; frontend/src/components/OutputPanel/OutputPanel.jsx.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the teaching and workflow problems the project addresses. They do not represent measured findings from a formal user study. Project evidence: README.md; frontend/src/App.jsx; frontend/src/components/OutputPanel/OutputPanel.jsx.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Project evidence: README.md; frontend/src/App.jsx; frontend/src/components/OutputPanel/OutputPanel.jsx. Educational analysis covers the built-in language subset.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Aho, Lam, Sethi and Ullman. Compilers: Principles, Techniques, and Tools, 2nd ed., 2007. https://www.cs.columbia.edu/~aho/books.html</a:t>
            </a:r>
          </a:p>
          <a:p xmlns:a="http://schemas.openxmlformats.org/drawingml/2006/main">
            <a:r>
              <a:t>[2] Flex manual: https://westes.github.io/flex/manual/Introduction.html</a:t>
            </a:r>
          </a:p>
          <a:p xmlns:a="http://schemas.openxmlformats.org/drawingml/2006/main">
            <a:r>
              <a:t>[3] GNU Bison manual: https://www.gnu.org/s/bison/manual/bison.html</a:t>
            </a:r>
          </a:p>
          <a:p xmlns:a="http://schemas.openxmlformats.org/drawingml/2006/main">
            <a:r>
              <a:t>[4] GCC manual: https://gcc.gnu.org/onlinedocs/gcc/Overall-Options.html</a:t>
            </a:r>
          </a:p>
          <a:p xmlns:a="http://schemas.openxmlformats.org/drawingml/2006/main">
            <a:r>
              <a:t>These references supply the technical foundation; the final sentence describes Lexora’s implementation.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Project evidence: README.md; frontend/src/App.jsx; frontend/src/components/OutputPanel/OutputPanel.jsx. Project evidence: backend/services/inputAnalysis.js; backend/services/astGenerator.js; backend/services/semanticAnalyzer.js; backend/services/tacGenerator.js; backend/services/optimizer.js; backend/services/basicBlocks.js. Lexora addresses the need for a dedicated website for Lex/Yacc compilation and visual learning. The contribution is application integration and the educational workflow, not a new compiler algorithm. An absolute claim that no related website exists is not substantiated; an online yacc/lex grammar editor/tester is documented at https://lists.gnu.org/archive/html/help-bison/2023-09/msg00000.html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Project evidence: README.md; frontend/src/App.jsx; frontend/src/components/OutputPanel/OutputPanel.jsx. Actual local screenshot showing the calculator source and the built-in token 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Project evidence: README.md; frontend/src/App.jsx; frontend/src/components/OutputPanel/OutputPanel.jsx. Project evidence: backend/services/compiler.js; backend/services/wslRunner.js; backend/routes/compile.js; backend/middleware/validator.js. Project evidence: frontend/src/App.jsx; frontend/src/services/files.js; backend/services/tempDir.js; backend/services/compiler.js. Local development: Vite on port 3000 proxies /api to Express on port 3001. Windows uses WSL Ubuntu. Linux uses native Bash.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Project evidence: backend/services/compiler.js; backend/services/wslRunner.js; backend/routes/compile.js; backend/middleware/validator.js. analyzeInput executes before the native stages. These paths are logically separate, not concurrent jobs. Cleanup is attempted in finally before the route sends the JSON response.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Project evidence: frontend/src/App.jsx; frontend/src/services/files.js; backend/services/tempDir.js; backend/services/compiler.js. There is no application database. Browser storage is specific to the browser origin and may be blocked or cleared. Cleanup failures are logged.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Project evidence: backend/services/compiler.js; backend/services/wslRunner.js; backend/routes/compile.js; backend/middleware/validator.js. Actual combined-mode order: flex lex.l; bison -d parser.y; normalize generated-header references; regenerate scanner; gcc -o compiler lex.yy.c parser.tab.c -lfl -lm; ./compiler &lt; input.txt. Lex Only skips Bison. Yacc Only skips Flex and requires its own yylex and main.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Project evidence: backend/services/inputAnalysis.js; backend/services/astGenerator.js; backend/services/semanticAnalyzer.js; backend/services/tacGenerator.js; backend/services/optimizer.js; backend/services/basicBlocks.js. The screenshot is the actual AST view for calculator stdin 3 + 5 * 2 followed by newline. The AST comes from Lexora’s own parser. It does not trace the uploaded grammar.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Project evidence: backend/services/inputAnalysis.js; backend/services/astGenerator.js; backend/services/semanticAnalyzer.js; backend/services/tacGenerator.js; backend/services/optimizer.js; backend/services/basicBlocks.js. Observed analyzeInput("int x = 2 + 3 * 4;"): AST declaration x:int with addition of 2 and multiplication 3*4. Symbol x global, declared true. TAC and optimized TAC shown exactly. Three assignments remain, so no instruction-count or speed claim applies.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Project evidence: backend/services/inputAnalysis.js; backend/services/astGenerator.js; backend/services/semanticAnalyzer.js; backend/services/tacGenerator.js; backend/services/optimizer.js; backend/services/basicBlocks.js. Observed analyzeInput("int x = 1; if (x &lt; 3) { x = x + 1; }"): B1 x=1, t1=x&lt;3, ifFalse t1 goto L1; B2 t2=x+1, x=t2; B3 L1:. Successors: B1 to B2 and B3, B2 to B3. These blocks use original TAC.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Project evidence: backend/services/compiler.js; backend/services/wslRunner.js; backend/routes/compile.js; backend/middleware/validator.js. The bundled calculator was executed through the current backend and through the UI. Input was exactly "3 + 5 * 2\n". Observed stdout was "13\n" with successful Flex, Bison, GCC and execution stages. The grammar uses EOL to finish an expression.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Project evidence: README.md; frontend/src/App.jsx; frontend/src/components/OutputPanel/OutputPanel.jsx. Project evidence: backend/services/inputAnalysis.js; backend/services/astGenerator.js; backend/services/semanticAnalyzer.js; backend/services/tacGenerator.js; backend/services/optimizer.js; backend/services/basicBlocks.js. Project evidence: backend/services/compiler.js; backend/services/wslRunner.js; backend/routes/compile.js; backend/middleware/validator.js. Future development items are proposals. Native C actions execute with backend-user privileges. The current model serves trusted local or access-controlled demonstrations.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Project evidence: README.md; frontend/src/App.jsx; frontend/src/components/OutputPanel/OutputPanel.jsx. Project evidence: backend/services/inputAnalysis.js; backend/services/astGenerator.js; backend/services/semanticAnalyzer.js; backend/services/tacGenerator.js; backend/services/optimizer.js; backend/services/basicBlocks.js.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source links are listed on the slide. Lexora-specific claims derive from the current source code and README. The current dependencies are React 19, CodeMirror 6, Vite 8, Node.js, and Express 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2303ef7f87a470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3f363ce7f9a455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6932a6f29c5492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5665cb904a14cd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8810e9bbe3f428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29aeaf22d504ab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C7A5813-91AB-469F-B941-6B396646F489}"/>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CA723B32-A968-41AF-B6E1-DFD137DA1CB2}"/>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DF24AE2E-EDCD-44B9-9919-21AD5CA4B34B}"/>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A41A8FD-58FA-4184-8DDC-6FD1E9E44E6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990CEBA1-7110-496E-AC58-69607963D433}"/>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FBC52C13-1A89-48C0-9251-71E0D13D829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3B46113-A57A-4EDF-8F28-55E67426253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9E11D1DC-C90A-4587-B787-1BC700436960}"/>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B2D1783-DDD9-48AD-80C2-49B6B0D1527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0959399-5C95-4E2D-B12B-E273B20D997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8049ebf532640a4" /><Relationship Type="http://schemas.openxmlformats.org/officeDocument/2006/relationships/slideLayout" Target="/ppt/slideLayouts/slideLayout1.xml" Id="Rdd65b2f1a55f41df" /><Relationship Type="http://schemas.openxmlformats.org/officeDocument/2006/relationships/slideLayout" Target="/ppt/slideLayouts/slideLayout2.xml" Id="R224c2bfe25b34593" /><Relationship Type="http://schemas.openxmlformats.org/officeDocument/2006/relationships/slideLayout" Target="/ppt/slideLayouts/slideLayout3.xml" Id="Rc93ac14a1aad4953" /><Relationship Type="http://schemas.openxmlformats.org/officeDocument/2006/relationships/slideLayout" Target="/ppt/slideLayouts/slideLayout4.xml" Id="R8166843dbd884f41" /><Relationship Type="http://schemas.openxmlformats.org/officeDocument/2006/relationships/slideLayout" Target="/ppt/slideLayouts/slideLayout5.xml" Id="R9b0e63deb0224774" /><Relationship Type="http://schemas.openxmlformats.org/officeDocument/2006/relationships/slideLayout" Target="/ppt/slideLayouts/slideLayout6.xml" Id="R8e45c271e3ec408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d65b2f1a55f41df"/>
    <p:sldLayoutId xmlns:r="http://schemas.openxmlformats.org/officeDocument/2006/relationships" id="2147483650" r:id="R224c2bfe25b34593"/>
    <p:sldLayoutId xmlns:r="http://schemas.openxmlformats.org/officeDocument/2006/relationships" id="2147483651" r:id="Rc93ac14a1aad4953"/>
    <p:sldLayoutId xmlns:r="http://schemas.openxmlformats.org/officeDocument/2006/relationships" id="2147483652" r:id="R8166843dbd884f41"/>
    <p:sldLayoutId xmlns:r="http://schemas.openxmlformats.org/officeDocument/2006/relationships" id="2147483653" r:id="R9b0e63deb0224774"/>
    <p:sldLayoutId xmlns:r="http://schemas.openxmlformats.org/officeDocument/2006/relationships" id="2147483654" r:id="R8e45c271e3ec408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e9b7aeaa16d4243" /><Relationship Type="http://schemas.openxmlformats.org/officeDocument/2006/relationships/image" Target="/ppt/media/image.jpeg" Id="R2bf0d7f2b7f04920" /><Relationship Type="http://schemas.openxmlformats.org/officeDocument/2006/relationships/notesSlide" Target="/ppt/notesSlides/notesSlide1.xml" Id="R7f679071ffcf448e"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0ae99f68323949ea" /><Relationship Type="http://schemas.openxmlformats.org/officeDocument/2006/relationships/notesSlide" Target="/ppt/notesSlides/notesSlide2.xml" Id="R4466eb9f9db24f0b"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891e9c8b1ae548a6" /><Relationship Type="http://schemas.openxmlformats.org/officeDocument/2006/relationships/notesSlide" Target="/ppt/notesSlides/notesSlide3.xml" Id="R5d3a1925d9b944d5"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55365546485043ac" /><Relationship Type="http://schemas.openxmlformats.org/officeDocument/2006/relationships/notesSlide" Target="/ppt/notesSlides/notesSlide4.xml" Id="Ra90ce09af6a64b60"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4cccea35b4f84038" /><Relationship Type="http://schemas.openxmlformats.org/officeDocument/2006/relationships/notesSlide" Target="/ppt/notesSlides/notesSlide5.xml" Id="R34124070b96944f5"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33f5adfacb584b7e" /><Relationship Type="http://schemas.openxmlformats.org/officeDocument/2006/relationships/notesSlide" Target="/ppt/notesSlides/notesSlide6.xml" Id="Rf9d33083f46745e1"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715a72e25d614795" /><Relationship Type="http://schemas.openxmlformats.org/officeDocument/2006/relationships/image" Target="/ppt/media/image2.jpeg" Id="Rb3477aded23548f1" /><Relationship Type="http://schemas.openxmlformats.org/officeDocument/2006/relationships/notesSlide" Target="/ppt/notesSlides/notesSlide7.xml" Id="R0f11866aab904d9a"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edfec8959c574365" /><Relationship Type="http://schemas.openxmlformats.org/officeDocument/2006/relationships/notesSlide" Target="/ppt/notesSlides/notesSlide8.xml" Id="R4734aa94a4d04e69"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a3786000122a4614" /><Relationship Type="http://schemas.openxmlformats.org/officeDocument/2006/relationships/notesSlide" Target="/ppt/notesSlides/notesSlide9.xml" Id="R7e6deb946ec7466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aa461d475abb455b" /><Relationship Type="http://schemas.openxmlformats.org/officeDocument/2006/relationships/notesSlide" Target="/ppt/notesSlides/notesSlide10.xml" Id="R3f52a34f2e17441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ed1f12a748a846c4" /><Relationship Type="http://schemas.openxmlformats.org/officeDocument/2006/relationships/notesSlide" Target="/ppt/notesSlides/notesSlide11.xml" Id="Rd5c73027e61c47d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fa1ac827f0b340b0" /><Relationship Type="http://schemas.openxmlformats.org/officeDocument/2006/relationships/image" Target="/ppt/media/image3.jpeg" Id="R0c67a04ea0984e68" /><Relationship Type="http://schemas.openxmlformats.org/officeDocument/2006/relationships/notesSlide" Target="/ppt/notesSlides/notesSlide12.xml" Id="R5e1925b29eea4cd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27f7a71e727e45ce" /><Relationship Type="http://schemas.openxmlformats.org/officeDocument/2006/relationships/notesSlide" Target="/ppt/notesSlides/notesSlide13.xml" Id="Rae6f61d1f6cd4a1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fe6f48db77ed4b6f" /><Relationship Type="http://schemas.openxmlformats.org/officeDocument/2006/relationships/notesSlide" Target="/ppt/notesSlides/notesSlide14.xml" Id="R2da8ace32852471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a1acfa3771dd48a1" /><Relationship Type="http://schemas.openxmlformats.org/officeDocument/2006/relationships/notesSlide" Target="/ppt/notesSlides/notesSlide15.xml" Id="R7653168c33f44071"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dc98e50015224deb" /><Relationship Type="http://schemas.openxmlformats.org/officeDocument/2006/relationships/notesSlide" Target="/ppt/notesSlides/notesSlide16.xml" Id="Rac5ef117eb024d8e"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c1f57eb7d4c94c5a" /><Relationship Type="http://schemas.openxmlformats.org/officeDocument/2006/relationships/notesSlide" Target="/ppt/notesSlides/notesSlide17.xml" Id="R8ab3f28c7ce74ad3"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054183464d1242ac" /><Relationship Type="http://schemas.openxmlformats.org/officeDocument/2006/relationships/notesSlide" Target="/ppt/notesSlides/notesSlide18.xml" Id="R6f05da5f41d248a4" /></Relationships>
</file>

<file path=ppt/slides/slide1.xml><?xml version="1.0" encoding="utf-8"?>
<p:sld xmlns:p="http://schemas.openxmlformats.org/presentationml/2006/main">
  <p:cSld>
    <p:bg>
      <p:bgPr>
        <a:solidFill xmlns:a="http://schemas.openxmlformats.org/drawingml/2006/main">
          <a:srgbClr val="111B31"/>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5432449-9E71-4E7E-B684-84444EC760A2}"/>
              </a:ext>
            </a:extLst>
          </p:cNvPr>
          <p:cNvSpPr>
            <a:spLocks xmlns:a="http://schemas.openxmlformats.org/drawingml/2006/main" noGrp="1"/>
          </p:cNvSpPr>
          <p:nvPr/>
        </p:nvSpPr>
        <p:spPr>
          <a:xfrm xmlns:a="http://schemas.openxmlformats.org/drawingml/2006/main">
            <a:off x="11049000" y="6391275"/>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BCC9E4"/>
                </a:solidFill>
                <a:latin typeface="Segoe UI"/>
                <a:ea typeface="Segoe UI"/>
                <a:cs typeface="Segoe UI"/>
              </a:defRPr>
            </a:defPPr>
          </a:lstStyle>
          <a:p xmlns:a="http://schemas.openxmlformats.org/drawingml/2006/main">
            <a:pPr>
              <a:defRPr sz="1200" b="0">
                <a:solidFill>
                  <a:srgbClr val="BCC9E4"/>
                </a:solidFill>
                <a:latin typeface="Segoe UI"/>
                <a:ea typeface="Segoe UI"/>
                <a:cs typeface="Segoe UI"/>
              </a:defRPr>
            </a:pPr>
            <a:r>
              <a:rPr sz="1200" b="0">
                <a:solidFill>
                  <a:srgbClr val="BCC9E4"/>
                </a:solidFill>
                <a:latin typeface="Segoe UI"/>
                <a:ea typeface="Segoe UI"/>
                <a:cs typeface="Segoe UI"/>
              </a:rPr>
              <a:t>01</a:t>
            </a:r>
          </a:p>
        </p:txBody>
      </p:sp>
      <p:sp>
        <p:nvSpPr>
          <p:cNvPr id="2" name="">
            <a:extLst xmlns:a="http://schemas.openxmlformats.org/drawingml/2006/main">
              <a:ext uri="{FF2B5EF4-FFF2-40B4-BE49-F238E27FC236}">
                <a16:creationId xmlns:a16="http://schemas.microsoft.com/office/drawing/2014/main" id="{A5E8A156-DDD9-4863-AAC5-4670F767BA75}"/>
              </a:ext>
            </a:extLst>
          </p:cNvPr>
          <p:cNvSpPr>
            <a:spLocks xmlns:a="http://schemas.openxmlformats.org/drawingml/2006/main" noGrp="1"/>
          </p:cNvSpPr>
          <p:nvPr/>
        </p:nvSpPr>
        <p:spPr>
          <a:xfrm xmlns:a="http://schemas.openxmlformats.org/drawingml/2006/main">
            <a:off x="609600" y="800100"/>
            <a:ext cx="105727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0200" b="0">
                <a:solidFill>
                  <a:srgbClr val="FFFFFF"/>
                </a:solidFill>
                <a:latin typeface="Georgia"/>
                <a:ea typeface="Georgia"/>
                <a:cs typeface="Georgia"/>
              </a:defRPr>
            </a:defPPr>
          </a:lstStyle>
          <a:p xmlns:a="http://schemas.openxmlformats.org/drawingml/2006/main">
            <a:pPr>
              <a:defRPr sz="10200" b="0">
                <a:solidFill>
                  <a:srgbClr val="FFFFFF"/>
                </a:solidFill>
                <a:latin typeface="Georgia"/>
                <a:ea typeface="Georgia"/>
                <a:cs typeface="Georgia"/>
              </a:defRPr>
            </a:pPr>
            <a:r>
              <a:rPr sz="10200" b="0">
                <a:solidFill>
                  <a:srgbClr val="FFFFFF"/>
                </a:solidFill>
                <a:latin typeface="Georgia"/>
                <a:ea typeface="Georgia"/>
                <a:cs typeface="Georgia"/>
              </a:rPr>
              <a:t>Lexora</a:t>
            </a:r>
          </a:p>
        </p:txBody>
      </p:sp>
      <p:sp>
        <p:nvSpPr>
          <p:cNvPr id="3" name="">
            <a:extLst xmlns:a="http://schemas.openxmlformats.org/drawingml/2006/main">
              <a:ext uri="{FF2B5EF4-FFF2-40B4-BE49-F238E27FC236}">
                <a16:creationId xmlns:a16="http://schemas.microsoft.com/office/drawing/2014/main" id="{0EF960FF-C8D4-4B80-B0C8-38B13E24339B}"/>
              </a:ext>
            </a:extLst>
          </p:cNvPr>
          <p:cNvSpPr>
            <a:spLocks xmlns:a="http://schemas.openxmlformats.org/drawingml/2006/main" noGrp="1"/>
          </p:cNvSpPr>
          <p:nvPr/>
        </p:nvSpPr>
        <p:spPr>
          <a:xfrm xmlns:a="http://schemas.openxmlformats.org/drawingml/2006/main">
            <a:off x="647700" y="2924175"/>
            <a:ext cx="42481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1">
                <a:solidFill>
                  <a:srgbClr val="FFFFFF"/>
                </a:solidFill>
                <a:latin typeface="Segoe UI"/>
                <a:ea typeface="Segoe UI"/>
                <a:cs typeface="Segoe UI"/>
              </a:defRPr>
            </a:defPPr>
          </a:lstStyle>
          <a:p xmlns:a="http://schemas.openxmlformats.org/drawingml/2006/main">
            <a:pPr>
              <a:defRPr sz="3000" b="1">
                <a:solidFill>
                  <a:srgbClr val="FFFFFF"/>
                </a:solidFill>
                <a:latin typeface="Segoe UI"/>
                <a:ea typeface="Segoe UI"/>
                <a:cs typeface="Segoe UI"/>
              </a:defRPr>
            </a:pPr>
            <a:r>
              <a:rPr sz="3000" b="1">
                <a:solidFill>
                  <a:srgbClr val="FFFFFF"/>
                </a:solidFill>
                <a:latin typeface="Segoe UI"/>
                <a:ea typeface="Segoe UI"/>
                <a:cs typeface="Segoe UI"/>
              </a:rPr>
              <a:t>A compiler-design</a:t>
            </a:r>
          </a:p>
          <a:p xmlns:a="http://schemas.openxmlformats.org/drawingml/2006/main">
            <a:pPr>
              <a:defRPr sz="3000" b="1">
                <a:solidFill>
                  <a:srgbClr val="FFFFFF"/>
                </a:solidFill>
                <a:latin typeface="Segoe UI"/>
                <a:ea typeface="Segoe UI"/>
                <a:cs typeface="Segoe UI"/>
              </a:defRPr>
            </a:pPr>
            <a:r>
              <a:rPr sz="3000" b="1">
                <a:solidFill>
                  <a:srgbClr val="FFFFFF"/>
                </a:solidFill>
                <a:latin typeface="Segoe UI"/>
                <a:ea typeface="Segoe UI"/>
                <a:cs typeface="Segoe UI"/>
              </a:rPr>
              <a:t>workbench</a:t>
            </a:r>
          </a:p>
        </p:txBody>
      </p:sp>
      <p:sp>
        <p:nvSpPr>
          <p:cNvPr id="4" name="">
            <a:extLst xmlns:a="http://schemas.openxmlformats.org/drawingml/2006/main">
              <a:ext uri="{FF2B5EF4-FFF2-40B4-BE49-F238E27FC236}">
                <a16:creationId xmlns:a16="http://schemas.microsoft.com/office/drawing/2014/main" id="{F4BE86B3-3D40-4A8C-9251-56B7F5AE1A36}"/>
              </a:ext>
            </a:extLst>
          </p:cNvPr>
          <p:cNvSpPr>
            <a:spLocks xmlns:a="http://schemas.openxmlformats.org/drawingml/2006/main" noGrp="1"/>
          </p:cNvSpPr>
          <p:nvPr/>
        </p:nvSpPr>
        <p:spPr>
          <a:xfrm xmlns:a="http://schemas.openxmlformats.org/drawingml/2006/main">
            <a:off x="647700" y="4514850"/>
            <a:ext cx="4000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BCC9E4"/>
                </a:solidFill>
                <a:latin typeface="Segoe UI"/>
                <a:ea typeface="Segoe UI"/>
                <a:cs typeface="Segoe UI"/>
              </a:defRPr>
            </a:defPPr>
          </a:lstStyle>
          <a:p xmlns:a="http://schemas.openxmlformats.org/drawingml/2006/main">
            <a:pPr>
              <a:defRPr sz="2025" b="0">
                <a:solidFill>
                  <a:srgbClr val="BCC9E4"/>
                </a:solidFill>
                <a:latin typeface="Segoe UI"/>
                <a:ea typeface="Segoe UI"/>
                <a:cs typeface="Segoe UI"/>
              </a:defRPr>
            </a:pPr>
            <a:r>
              <a:rPr sz="2025" b="0">
                <a:solidFill>
                  <a:srgbClr val="BCC9E4"/>
                </a:solidFill>
                <a:latin typeface="Segoe UI"/>
                <a:ea typeface="Segoe UI"/>
                <a:cs typeface="Segoe UI"/>
              </a:rPr>
              <a:t>Real Lex/Yacc execution with visual explanations of compiler concepts.</a:t>
            </a:r>
          </a:p>
        </p:txBody>
      </p:sp>
      <p:pic>
        <p:nvPicPr>
          <p:cNvPr id="5" name="">
            <a:extLst xmlns:a="http://schemas.openxmlformats.org/drawingml/2006/main">
              <a:ext uri="{FF2B5EF4-FFF2-40B4-BE49-F238E27FC236}">
                <a16:creationId xmlns:a16="http://schemas.microsoft.com/office/drawing/2014/main" id="{A62D87FD-1771-4D69-A849-B0D9FA1F9053}"/>
              </a:ext>
            </a:extLst>
          </p:cNvPr>
          <p:cNvPicPr>
            <a:picLocks xmlns:a="http://schemas.openxmlformats.org/drawingml/2006/main" noChangeAspect="1"/>
          </p:cNvPicPr>
          <p:nvPr/>
        </p:nvPicPr>
        <p:blipFill>
          <a:blip xmlns:r="http://schemas.openxmlformats.org/officeDocument/2006/relationships" xmlns:a="http://schemas.openxmlformats.org/drawingml/2006/main" r:embed="R2bf0d7f2b7f04920"/>
          <a:stretch xmlns:a="http://schemas.openxmlformats.org/drawingml/2006/main"/>
        </p:blipFill>
        <p:spPr>
          <a:xfrm xmlns:a="http://schemas.openxmlformats.org/drawingml/2006/main">
            <a:off x="5200650" y="2458045"/>
            <a:ext cx="6381750" cy="3589734"/>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25E2A6F7-E928-4DDB-985D-6CC77EF09161}"/>
              </a:ext>
            </a:extLst>
          </p:cNvPr>
          <p:cNvSpPr>
            <a:spLocks xmlns:a="http://schemas.openxmlformats.org/drawingml/2006/main" noGrp="1"/>
          </p:cNvSpPr>
          <p:nvPr/>
        </p:nvSpPr>
        <p:spPr>
          <a:xfrm xmlns:a="http://schemas.openxmlformats.org/drawingml/2006/main">
            <a:off x="685800" y="6248400"/>
            <a:ext cx="6667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1">
                <a:solidFill>
                  <a:srgbClr val="BCC9E4"/>
                </a:solidFill>
                <a:latin typeface="Segoe UI"/>
                <a:ea typeface="Segoe UI"/>
                <a:cs typeface="Segoe UI"/>
              </a:defRPr>
            </a:defPPr>
          </a:lstStyle>
          <a:p xmlns:a="http://schemas.openxmlformats.org/drawingml/2006/main">
            <a:pPr>
              <a:defRPr sz="1350" b="1">
                <a:solidFill>
                  <a:srgbClr val="BCC9E4"/>
                </a:solidFill>
                <a:latin typeface="Segoe UI"/>
                <a:ea typeface="Segoe UI"/>
                <a:cs typeface="Segoe UI"/>
              </a:defRPr>
            </a:pPr>
            <a:r>
              <a:rPr sz="1350" b="1">
                <a:solidFill>
                  <a:srgbClr val="BCC9E4"/>
                </a:solidFill>
                <a:latin typeface="Segoe UI"/>
                <a:ea typeface="Segoe UI"/>
                <a:cs typeface="Segoe UI"/>
              </a:rPr>
              <a:t>COMPILER DESIGN PROJECT</a:t>
            </a:r>
          </a:p>
        </p:txBody>
      </p:sp>
    </p:spTree>
    <p:extLst>
      <p:ext uri="{BB962C8B-B14F-4D97-AF65-F5344CB8AC3E}">
        <p14:creationId xmlns:p14="http://schemas.microsoft.com/office/powerpoint/2010/main" val="195421454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58DFF44-DDD9-4B76-AF4B-01CDDCE798CE}"/>
              </a:ext>
            </a:extLst>
          </p:cNvPr>
          <p:cNvSpPr>
            <a:spLocks xmlns:a="http://schemas.openxmlformats.org/drawingml/2006/main" noGrp="1"/>
          </p:cNvSpPr>
          <p:nvPr/>
        </p:nvSpPr>
        <p:spPr>
          <a:xfrm xmlns:a="http://schemas.openxmlformats.org/drawingml/2006/main">
            <a:off x="609600" y="4572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450" b="1">
                <a:solidFill>
                  <a:srgbClr val="18253E"/>
                </a:solidFill>
                <a:latin typeface="Segoe UI"/>
                <a:ea typeface="Segoe UI"/>
                <a:cs typeface="Segoe UI"/>
              </a:defRPr>
            </a:defPPr>
          </a:lstStyle>
          <a:p xmlns:a="http://schemas.openxmlformats.org/drawingml/2006/main">
            <a:pPr>
              <a:defRPr sz="3450" b="1">
                <a:solidFill>
                  <a:srgbClr val="18253E"/>
                </a:solidFill>
                <a:latin typeface="Segoe UI"/>
                <a:ea typeface="Segoe UI"/>
                <a:cs typeface="Segoe UI"/>
              </a:defRPr>
            </a:pPr>
            <a:r>
              <a:rPr sz="3450" b="1">
                <a:solidFill>
                  <a:srgbClr val="18253E"/>
                </a:solidFill>
                <a:latin typeface="Segoe UI"/>
                <a:ea typeface="Segoe UI"/>
                <a:cs typeface="Segoe UI"/>
              </a:rPr>
              <a:t>Project overview</a:t>
            </a:r>
          </a:p>
        </p:txBody>
      </p:sp>
      <p:sp>
        <p:nvSpPr>
          <p:cNvPr id="2" name="">
            <a:extLst xmlns:a="http://schemas.openxmlformats.org/drawingml/2006/main">
              <a:ext uri="{FF2B5EF4-FFF2-40B4-BE49-F238E27FC236}">
                <a16:creationId xmlns:a16="http://schemas.microsoft.com/office/drawing/2014/main" id="{E3320782-5425-43F1-8886-D81FFCCCBE57}"/>
              </a:ext>
            </a:extLst>
          </p:cNvPr>
          <p:cNvSpPr>
            <a:spLocks xmlns:a="http://schemas.openxmlformats.org/drawingml/2006/main" noGrp="1"/>
          </p:cNvSpPr>
          <p:nvPr/>
        </p:nvSpPr>
        <p:spPr>
          <a:xfrm xmlns:a="http://schemas.openxmlformats.org/drawingml/2006/main">
            <a:off x="11049000" y="6391275"/>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59667C"/>
                </a:solidFill>
                <a:latin typeface="Segoe UI"/>
                <a:ea typeface="Segoe UI"/>
                <a:cs typeface="Segoe UI"/>
              </a:defRPr>
            </a:defPPr>
          </a:lstStyle>
          <a:p xmlns:a="http://schemas.openxmlformats.org/drawingml/2006/main">
            <a:pPr>
              <a:defRPr sz="1200" b="0">
                <a:solidFill>
                  <a:srgbClr val="59667C"/>
                </a:solidFill>
                <a:latin typeface="Segoe UI"/>
                <a:ea typeface="Segoe UI"/>
                <a:cs typeface="Segoe UI"/>
              </a:defRPr>
            </a:pPr>
            <a:r>
              <a:rPr sz="1200" b="0">
                <a:solidFill>
                  <a:srgbClr val="59667C"/>
                </a:solidFill>
                <a:latin typeface="Segoe UI"/>
                <a:ea typeface="Segoe UI"/>
                <a:cs typeface="Segoe UI"/>
              </a:rPr>
              <a:t>02</a:t>
            </a:r>
          </a:p>
        </p:txBody>
      </p:sp>
      <p:sp>
        <p:nvSpPr>
          <p:cNvPr id="3" name="">
            <a:extLst xmlns:a="http://schemas.openxmlformats.org/drawingml/2006/main">
              <a:ext uri="{FF2B5EF4-FFF2-40B4-BE49-F238E27FC236}">
                <a16:creationId xmlns:a16="http://schemas.microsoft.com/office/drawing/2014/main" id="{3D2F2037-835A-4ACC-9CDC-9C88BF4A6FBD}"/>
              </a:ext>
            </a:extLst>
          </p:cNvPr>
          <p:cNvSpPr>
            <a:spLocks xmlns:a="http://schemas.openxmlformats.org/drawingml/2006/main" noGrp="1"/>
          </p:cNvSpPr>
          <p:nvPr/>
        </p:nvSpPr>
        <p:spPr>
          <a:xfrm xmlns:a="http://schemas.openxmlformats.org/drawingml/2006/main">
            <a:off x="609600" y="1676400"/>
            <a:ext cx="10972800" cy="1581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75" b="1">
                <a:solidFill>
                  <a:srgbClr val="18253E"/>
                </a:solidFill>
                <a:latin typeface="Segoe UI"/>
                <a:ea typeface="Segoe UI"/>
                <a:cs typeface="Segoe UI"/>
              </a:defRPr>
            </a:defPPr>
          </a:lstStyle>
          <a:p xmlns:a="http://schemas.openxmlformats.org/drawingml/2006/main">
            <a:pPr>
              <a:defRPr sz="3075" b="1">
                <a:solidFill>
                  <a:srgbClr val="18253E"/>
                </a:solidFill>
                <a:latin typeface="Segoe UI"/>
                <a:ea typeface="Segoe UI"/>
                <a:cs typeface="Segoe UI"/>
              </a:defRPr>
            </a:pPr>
            <a:r>
              <a:rPr sz="3075" b="1">
                <a:solidFill>
                  <a:srgbClr val="18253E"/>
                </a:solidFill>
                <a:latin typeface="Segoe UI"/>
                <a:ea typeface="Segoe UI"/>
                <a:cs typeface="Segoe UI"/>
              </a:rPr>
              <a:t>Lexora brings source editing,</a:t>
            </a:r>
          </a:p>
          <a:p xmlns:a="http://schemas.openxmlformats.org/drawingml/2006/main">
            <a:pPr>
              <a:defRPr sz="3075" b="1">
                <a:solidFill>
                  <a:srgbClr val="18253E"/>
                </a:solidFill>
                <a:latin typeface="Segoe UI"/>
                <a:ea typeface="Segoe UI"/>
                <a:cs typeface="Segoe UI"/>
              </a:defRPr>
            </a:pPr>
            <a:r>
              <a:rPr sz="3075" b="1">
                <a:solidFill>
                  <a:srgbClr val="18253E"/>
                </a:solidFill>
                <a:latin typeface="Segoe UI"/>
                <a:ea typeface="Segoe UI"/>
                <a:cs typeface="Segoe UI"/>
              </a:rPr>
              <a:t>native compilation, and compiler</a:t>
            </a:r>
          </a:p>
          <a:p xmlns:a="http://schemas.openxmlformats.org/drawingml/2006/main">
            <a:pPr>
              <a:defRPr sz="3075" b="1">
                <a:solidFill>
                  <a:srgbClr val="18253E"/>
                </a:solidFill>
                <a:latin typeface="Segoe UI"/>
                <a:ea typeface="Segoe UI"/>
                <a:cs typeface="Segoe UI"/>
              </a:defRPr>
            </a:pPr>
            <a:r>
              <a:rPr sz="3075" b="1">
                <a:solidFill>
                  <a:srgbClr val="18253E"/>
                </a:solidFill>
                <a:latin typeface="Segoe UI"/>
                <a:ea typeface="Segoe UI"/>
                <a:cs typeface="Segoe UI"/>
              </a:rPr>
              <a:t>analysis into one browser workspace.</a:t>
            </a:r>
          </a:p>
        </p:txBody>
      </p:sp>
      <p:sp>
        <p:nvSpPr>
          <p:cNvPr id="4" name="">
            <a:extLst xmlns:a="http://schemas.openxmlformats.org/drawingml/2006/main">
              <a:ext uri="{FF2B5EF4-FFF2-40B4-BE49-F238E27FC236}">
                <a16:creationId xmlns:a16="http://schemas.microsoft.com/office/drawing/2014/main" id="{ACD4B807-0F91-40B9-BAFA-90995B048508}"/>
              </a:ext>
            </a:extLst>
          </p:cNvPr>
          <p:cNvSpPr>
            <a:spLocks xmlns:a="http://schemas.openxmlformats.org/drawingml/2006/main" noGrp="1"/>
          </p:cNvSpPr>
          <p:nvPr/>
        </p:nvSpPr>
        <p:spPr>
          <a:xfrm xmlns:a="http://schemas.openxmlformats.org/drawingml/2006/main">
            <a:off x="609600" y="3857625"/>
            <a:ext cx="476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315EF4"/>
                </a:solidFill>
                <a:latin typeface="Segoe UI"/>
                <a:ea typeface="Segoe UI"/>
                <a:cs typeface="Segoe UI"/>
              </a:defRPr>
            </a:defPPr>
          </a:lstStyle>
          <a:p xmlns:a="http://schemas.openxmlformats.org/drawingml/2006/main">
            <a:pPr>
              <a:defRPr sz="2250" b="1">
                <a:solidFill>
                  <a:srgbClr val="315EF4"/>
                </a:solidFill>
                <a:latin typeface="Segoe UI"/>
                <a:ea typeface="Segoe UI"/>
                <a:cs typeface="Segoe UI"/>
              </a:defRPr>
            </a:pPr>
            <a:r>
              <a:rPr sz="2250" b="1">
                <a:solidFill>
                  <a:srgbClr val="315EF4"/>
                </a:solidFill>
                <a:latin typeface="Segoe UI"/>
                <a:ea typeface="Segoe UI"/>
                <a:cs typeface="Segoe UI"/>
              </a:rPr>
              <a:t>Native execution</a:t>
            </a:r>
          </a:p>
        </p:txBody>
      </p:sp>
      <p:sp>
        <p:nvSpPr>
          <p:cNvPr id="5" name="">
            <a:extLst xmlns:a="http://schemas.openxmlformats.org/drawingml/2006/main">
              <a:ext uri="{FF2B5EF4-FFF2-40B4-BE49-F238E27FC236}">
                <a16:creationId xmlns:a16="http://schemas.microsoft.com/office/drawing/2014/main" id="{D566709B-CE6B-4FA5-B243-0DE2B485F536}"/>
              </a:ext>
            </a:extLst>
          </p:cNvPr>
          <p:cNvSpPr>
            <a:spLocks xmlns:a="http://schemas.openxmlformats.org/drawingml/2006/main" noGrp="1"/>
          </p:cNvSpPr>
          <p:nvPr/>
        </p:nvSpPr>
        <p:spPr>
          <a:xfrm xmlns:a="http://schemas.openxmlformats.org/drawingml/2006/main">
            <a:off x="609600" y="4429125"/>
            <a:ext cx="495300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59667C"/>
                </a:solidFill>
                <a:latin typeface="Segoe UI"/>
                <a:ea typeface="Segoe UI"/>
                <a:cs typeface="Segoe UI"/>
              </a:defRPr>
            </a:defPPr>
          </a:lstStyle>
          <a:p xmlns:a="http://schemas.openxmlformats.org/drawingml/2006/main">
            <a:pPr>
              <a:defRPr sz="2025" b="0">
                <a:solidFill>
                  <a:srgbClr val="59667C"/>
                </a:solidFill>
                <a:latin typeface="Segoe UI"/>
                <a:ea typeface="Segoe UI"/>
                <a:cs typeface="Segoe UI"/>
              </a:defRPr>
            </a:pPr>
            <a:r>
              <a:rPr sz="2025" b="0">
                <a:solidFill>
                  <a:srgbClr val="59667C"/>
                </a:solidFill>
                <a:latin typeface="Segoe UI"/>
                <a:ea typeface="Segoe UI"/>
                <a:cs typeface="Segoe UI"/>
              </a:rPr>
              <a:t>Students compile selected Lex and Yacc specifications using Flex, Bison, and GCC.</a:t>
            </a:r>
          </a:p>
        </p:txBody>
      </p:sp>
      <p:sp>
        <p:nvSpPr>
          <p:cNvPr id="6" name="">
            <a:extLst xmlns:a="http://schemas.openxmlformats.org/drawingml/2006/main">
              <a:ext uri="{FF2B5EF4-FFF2-40B4-BE49-F238E27FC236}">
                <a16:creationId xmlns:a16="http://schemas.microsoft.com/office/drawing/2014/main" id="{94132D59-F571-4D39-B647-999C6347D75D}"/>
              </a:ext>
            </a:extLst>
          </p:cNvPr>
          <p:cNvSpPr>
            <a:spLocks xmlns:a="http://schemas.openxmlformats.org/drawingml/2006/main" noGrp="1"/>
          </p:cNvSpPr>
          <p:nvPr/>
        </p:nvSpPr>
        <p:spPr>
          <a:xfrm xmlns:a="http://schemas.openxmlformats.org/drawingml/2006/main">
            <a:off x="6400800" y="3857625"/>
            <a:ext cx="5143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315EF4"/>
                </a:solidFill>
                <a:latin typeface="Segoe UI"/>
                <a:ea typeface="Segoe UI"/>
                <a:cs typeface="Segoe UI"/>
              </a:defRPr>
            </a:defPPr>
          </a:lstStyle>
          <a:p xmlns:a="http://schemas.openxmlformats.org/drawingml/2006/main">
            <a:pPr>
              <a:defRPr sz="2250" b="1">
                <a:solidFill>
                  <a:srgbClr val="315EF4"/>
                </a:solidFill>
                <a:latin typeface="Segoe UI"/>
                <a:ea typeface="Segoe UI"/>
                <a:cs typeface="Segoe UI"/>
              </a:defRPr>
            </a:pPr>
            <a:r>
              <a:rPr sz="2250" b="1">
                <a:solidFill>
                  <a:srgbClr val="315EF4"/>
                </a:solidFill>
                <a:latin typeface="Segoe UI"/>
                <a:ea typeface="Segoe UI"/>
                <a:cs typeface="Segoe UI"/>
              </a:rPr>
              <a:t>Educational analysis</a:t>
            </a:r>
          </a:p>
        </p:txBody>
      </p:sp>
      <p:sp>
        <p:nvSpPr>
          <p:cNvPr id="7" name="">
            <a:extLst xmlns:a="http://schemas.openxmlformats.org/drawingml/2006/main">
              <a:ext uri="{FF2B5EF4-FFF2-40B4-BE49-F238E27FC236}">
                <a16:creationId xmlns:a16="http://schemas.microsoft.com/office/drawing/2014/main" id="{FF5B474D-0374-49E5-9B87-6804864EBE24}"/>
              </a:ext>
            </a:extLst>
          </p:cNvPr>
          <p:cNvSpPr>
            <a:spLocks xmlns:a="http://schemas.openxmlformats.org/drawingml/2006/main" noGrp="1"/>
          </p:cNvSpPr>
          <p:nvPr/>
        </p:nvSpPr>
        <p:spPr>
          <a:xfrm xmlns:a="http://schemas.openxmlformats.org/drawingml/2006/main">
            <a:off x="6400800" y="4429125"/>
            <a:ext cx="514350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59667C"/>
                </a:solidFill>
                <a:latin typeface="Segoe UI"/>
                <a:ea typeface="Segoe UI"/>
                <a:cs typeface="Segoe UI"/>
              </a:defRPr>
            </a:defPPr>
          </a:lstStyle>
          <a:p xmlns:a="http://schemas.openxmlformats.org/drawingml/2006/main">
            <a:pPr>
              <a:defRPr sz="2025" b="0">
                <a:solidFill>
                  <a:srgbClr val="59667C"/>
                </a:solidFill>
                <a:latin typeface="Segoe UI"/>
                <a:ea typeface="Segoe UI"/>
                <a:cs typeface="Segoe UI"/>
              </a:defRPr>
            </a:pPr>
            <a:r>
              <a:rPr sz="2025" b="0">
                <a:solidFill>
                  <a:srgbClr val="59667C"/>
                </a:solidFill>
                <a:latin typeface="Segoe UI"/>
                <a:ea typeface="Segoe UI"/>
                <a:cs typeface="Segoe UI"/>
              </a:rPr>
              <a:t>A built-in analyzer explains supported input through syntax trees, symbols, and intermediate code.</a:t>
            </a:r>
          </a:p>
        </p:txBody>
      </p:sp>
    </p:spTree>
    <p:extLst>
      <p:ext uri="{BB962C8B-B14F-4D97-AF65-F5344CB8AC3E}">
        <p14:creationId xmlns:p14="http://schemas.microsoft.com/office/powerpoint/2010/main" val="1204935271"/>
      </p:ext>
    </p:extLst>
  </p:cSld>
</p:sld>
</file>

<file path=ppt/slides/slide3.xml><?xml version="1.0" encoding="utf-8"?>
<p:sld xmlns:p="http://schemas.openxmlformats.org/presentationml/2006/main">
  <p:cSld>
    <p:bg>
      <p:bgPr>
        <a:solidFill xmlns:a="http://schemas.openxmlformats.org/drawingml/2006/main">
          <a:srgbClr val="111B31"/>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2F7591F-4BA3-4FC0-BBCF-EE8B09AD2C15}"/>
              </a:ext>
            </a:extLst>
          </p:cNvPr>
          <p:cNvSpPr>
            <a:spLocks xmlns:a="http://schemas.openxmlformats.org/drawingml/2006/main" noGrp="1"/>
          </p:cNvSpPr>
          <p:nvPr/>
        </p:nvSpPr>
        <p:spPr>
          <a:xfrm xmlns:a="http://schemas.openxmlformats.org/drawingml/2006/main">
            <a:off x="609600" y="4572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450" b="1">
                <a:solidFill>
                  <a:srgbClr val="FFFFFF"/>
                </a:solidFill>
                <a:latin typeface="Segoe UI"/>
                <a:ea typeface="Segoe UI"/>
                <a:cs typeface="Segoe UI"/>
              </a:defRPr>
            </a:defPPr>
          </a:lstStyle>
          <a:p xmlns:a="http://schemas.openxmlformats.org/drawingml/2006/main">
            <a:pPr>
              <a:defRPr sz="3450" b="1">
                <a:solidFill>
                  <a:srgbClr val="FFFFFF"/>
                </a:solidFill>
                <a:latin typeface="Segoe UI"/>
                <a:ea typeface="Segoe UI"/>
                <a:cs typeface="Segoe UI"/>
              </a:defRPr>
            </a:pPr>
            <a:r>
              <a:rPr sz="3450" b="1">
                <a:solidFill>
                  <a:srgbClr val="FFFFFF"/>
                </a:solidFill>
                <a:latin typeface="Segoe UI"/>
                <a:ea typeface="Segoe UI"/>
                <a:cs typeface="Segoe UI"/>
              </a:rPr>
              <a:t>Problem identification</a:t>
            </a:r>
          </a:p>
        </p:txBody>
      </p:sp>
      <p:sp>
        <p:nvSpPr>
          <p:cNvPr id="2" name="">
            <a:extLst xmlns:a="http://schemas.openxmlformats.org/drawingml/2006/main">
              <a:ext uri="{FF2B5EF4-FFF2-40B4-BE49-F238E27FC236}">
                <a16:creationId xmlns:a16="http://schemas.microsoft.com/office/drawing/2014/main" id="{3B8C12FF-EA69-4299-A2FA-F0F04D6A8E3F}"/>
              </a:ext>
            </a:extLst>
          </p:cNvPr>
          <p:cNvSpPr>
            <a:spLocks xmlns:a="http://schemas.openxmlformats.org/drawingml/2006/main" noGrp="1"/>
          </p:cNvSpPr>
          <p:nvPr/>
        </p:nvSpPr>
        <p:spPr>
          <a:xfrm xmlns:a="http://schemas.openxmlformats.org/drawingml/2006/main">
            <a:off x="11049000" y="6391275"/>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BCC9E4"/>
                </a:solidFill>
                <a:latin typeface="Segoe UI"/>
                <a:ea typeface="Segoe UI"/>
                <a:cs typeface="Segoe UI"/>
              </a:defRPr>
            </a:defPPr>
          </a:lstStyle>
          <a:p xmlns:a="http://schemas.openxmlformats.org/drawingml/2006/main">
            <a:pPr>
              <a:defRPr sz="1200" b="0">
                <a:solidFill>
                  <a:srgbClr val="BCC9E4"/>
                </a:solidFill>
                <a:latin typeface="Segoe UI"/>
                <a:ea typeface="Segoe UI"/>
                <a:cs typeface="Segoe UI"/>
              </a:defRPr>
            </a:pPr>
            <a:r>
              <a:rPr sz="1200" b="0">
                <a:solidFill>
                  <a:srgbClr val="BCC9E4"/>
                </a:solidFill>
                <a:latin typeface="Segoe UI"/>
                <a:ea typeface="Segoe UI"/>
                <a:cs typeface="Segoe UI"/>
              </a:rPr>
              <a:t>03</a:t>
            </a:r>
          </a:p>
        </p:txBody>
      </p:sp>
      <p:sp>
        <p:nvSpPr>
          <p:cNvPr id="3" name="">
            <a:extLst xmlns:a="http://schemas.openxmlformats.org/drawingml/2006/main">
              <a:ext uri="{FF2B5EF4-FFF2-40B4-BE49-F238E27FC236}">
                <a16:creationId xmlns:a16="http://schemas.microsoft.com/office/drawing/2014/main" id="{F061BB45-A36C-43CF-B5BE-8B63627045E7}"/>
              </a:ext>
            </a:extLst>
          </p:cNvPr>
          <p:cNvSpPr>
            <a:spLocks xmlns:a="http://schemas.openxmlformats.org/drawingml/2006/main" noGrp="1"/>
          </p:cNvSpPr>
          <p:nvPr/>
        </p:nvSpPr>
        <p:spPr>
          <a:xfrm xmlns:a="http://schemas.openxmlformats.org/drawingml/2006/main">
            <a:off x="609600" y="1790700"/>
            <a:ext cx="609600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FFFFFF"/>
                </a:solidFill>
                <a:latin typeface="Segoe UI"/>
                <a:ea typeface="Segoe UI"/>
                <a:cs typeface="Segoe UI"/>
              </a:defRPr>
            </a:defPPr>
          </a:lstStyle>
          <a:p xmlns:a="http://schemas.openxmlformats.org/drawingml/2006/main">
            <a:pPr>
              <a:defRPr sz="3300" b="1">
                <a:solidFill>
                  <a:srgbClr val="FFFFFF"/>
                </a:solidFill>
                <a:latin typeface="Segoe UI"/>
                <a:ea typeface="Segoe UI"/>
                <a:cs typeface="Segoe UI"/>
              </a:defRPr>
            </a:pPr>
            <a:r>
              <a:rPr sz="3300" b="1">
                <a:solidFill>
                  <a:srgbClr val="FFFFFF"/>
                </a:solidFill>
                <a:latin typeface="Segoe UI"/>
                <a:ea typeface="Segoe UI"/>
                <a:cs typeface="Segoe UI"/>
              </a:rPr>
              <a:t>The compilation process is</a:t>
            </a:r>
          </a:p>
          <a:p xmlns:a="http://schemas.openxmlformats.org/drawingml/2006/main">
            <a:pPr>
              <a:defRPr sz="3300" b="1">
                <a:solidFill>
                  <a:srgbClr val="FFFFFF"/>
                </a:solidFill>
                <a:latin typeface="Segoe UI"/>
                <a:ea typeface="Segoe UI"/>
                <a:cs typeface="Segoe UI"/>
              </a:defRPr>
            </a:pPr>
            <a:r>
              <a:rPr sz="3300" b="1">
                <a:solidFill>
                  <a:srgbClr val="FFFFFF"/>
                </a:solidFill>
                <a:latin typeface="Segoe UI"/>
                <a:ea typeface="Segoe UI"/>
                <a:cs typeface="Segoe UI"/>
              </a:rPr>
              <a:t>difficult to understand when</a:t>
            </a:r>
          </a:p>
          <a:p xmlns:a="http://schemas.openxmlformats.org/drawingml/2006/main">
            <a:pPr>
              <a:defRPr sz="3300" b="1">
                <a:solidFill>
                  <a:srgbClr val="FFFFFF"/>
                </a:solidFill>
                <a:latin typeface="Segoe UI"/>
                <a:ea typeface="Segoe UI"/>
                <a:cs typeface="Segoe UI"/>
              </a:defRPr>
            </a:pPr>
            <a:r>
              <a:rPr sz="3300" b="1">
                <a:solidFill>
                  <a:srgbClr val="FFFFFF"/>
                </a:solidFill>
                <a:latin typeface="Segoe UI"/>
                <a:ea typeface="Segoe UI"/>
                <a:cs typeface="Segoe UI"/>
              </a:rPr>
              <a:t>its intermediate steps</a:t>
            </a:r>
          </a:p>
          <a:p xmlns:a="http://schemas.openxmlformats.org/drawingml/2006/main">
            <a:pPr>
              <a:defRPr sz="3300" b="1">
                <a:solidFill>
                  <a:srgbClr val="FFFFFF"/>
                </a:solidFill>
                <a:latin typeface="Segoe UI"/>
                <a:ea typeface="Segoe UI"/>
                <a:cs typeface="Segoe UI"/>
              </a:defRPr>
            </a:pPr>
            <a:r>
              <a:rPr sz="3300" b="1">
                <a:solidFill>
                  <a:srgbClr val="FFFFFF"/>
                </a:solidFill>
                <a:latin typeface="Segoe UI"/>
                <a:ea typeface="Segoe UI"/>
                <a:cs typeface="Segoe UI"/>
              </a:rPr>
              <a:t>remain hidden.</a:t>
            </a:r>
          </a:p>
        </p:txBody>
      </p:sp>
      <p:sp>
        <p:nvSpPr>
          <p:cNvPr id="4" name="">
            <a:extLst xmlns:a="http://schemas.openxmlformats.org/drawingml/2006/main">
              <a:ext uri="{FF2B5EF4-FFF2-40B4-BE49-F238E27FC236}">
                <a16:creationId xmlns:a16="http://schemas.microsoft.com/office/drawing/2014/main" id="{E194BAAA-A9E2-4A61-BBD3-BE937022EC39}"/>
              </a:ext>
            </a:extLst>
          </p:cNvPr>
          <p:cNvSpPr>
            <a:spLocks xmlns:a="http://schemas.openxmlformats.org/drawingml/2006/main" noGrp="1"/>
          </p:cNvSpPr>
          <p:nvPr/>
        </p:nvSpPr>
        <p:spPr>
          <a:xfrm xmlns:a="http://schemas.openxmlformats.org/drawingml/2006/main">
            <a:off x="7239000" y="1752600"/>
            <a:ext cx="4333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1">
                <a:solidFill>
                  <a:srgbClr val="9EE7CE"/>
                </a:solidFill>
                <a:latin typeface="Segoe UI"/>
                <a:ea typeface="Segoe UI"/>
                <a:cs typeface="Segoe UI"/>
              </a:defRPr>
            </a:defPPr>
          </a:lstStyle>
          <a:p xmlns:a="http://schemas.openxmlformats.org/drawingml/2006/main">
            <a:pPr>
              <a:defRPr sz="2100" b="1">
                <a:solidFill>
                  <a:srgbClr val="9EE7CE"/>
                </a:solidFill>
                <a:latin typeface="Segoe UI"/>
                <a:ea typeface="Segoe UI"/>
                <a:cs typeface="Segoe UI"/>
              </a:defRPr>
            </a:pPr>
            <a:r>
              <a:rPr sz="2100" b="1">
                <a:solidFill>
                  <a:srgbClr val="9EE7CE"/>
                </a:solidFill>
                <a:latin typeface="Segoe UI"/>
                <a:ea typeface="Segoe UI"/>
                <a:cs typeface="Segoe UI"/>
              </a:rPr>
              <a:t>Fragmented laboratory workflow</a:t>
            </a:r>
          </a:p>
        </p:txBody>
      </p:sp>
      <p:sp>
        <p:nvSpPr>
          <p:cNvPr id="5" name="">
            <a:extLst xmlns:a="http://schemas.openxmlformats.org/drawingml/2006/main">
              <a:ext uri="{FF2B5EF4-FFF2-40B4-BE49-F238E27FC236}">
                <a16:creationId xmlns:a16="http://schemas.microsoft.com/office/drawing/2014/main" id="{0CE3A110-6FE7-437B-806F-6139DF48C287}"/>
              </a:ext>
            </a:extLst>
          </p:cNvPr>
          <p:cNvSpPr>
            <a:spLocks xmlns:a="http://schemas.openxmlformats.org/drawingml/2006/main" noGrp="1"/>
          </p:cNvSpPr>
          <p:nvPr/>
        </p:nvSpPr>
        <p:spPr>
          <a:xfrm xmlns:a="http://schemas.openxmlformats.org/drawingml/2006/main">
            <a:off x="7239000" y="2381250"/>
            <a:ext cx="4333875"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0">
                <a:solidFill>
                  <a:srgbClr val="BCC9E4"/>
                </a:solidFill>
                <a:latin typeface="Segoe UI"/>
                <a:ea typeface="Segoe UI"/>
                <a:cs typeface="Segoe UI"/>
              </a:defRPr>
            </a:defPPr>
          </a:lstStyle>
          <a:p xmlns:a="http://schemas.openxmlformats.org/drawingml/2006/main">
            <a:pPr>
              <a:defRPr sz="1950" b="0">
                <a:solidFill>
                  <a:srgbClr val="BCC9E4"/>
                </a:solidFill>
                <a:latin typeface="Segoe UI"/>
                <a:ea typeface="Segoe UI"/>
                <a:cs typeface="Segoe UI"/>
              </a:defRPr>
            </a:pPr>
            <a:r>
              <a:rPr sz="1950" b="0">
                <a:solidFill>
                  <a:srgbClr val="BCC9E4"/>
                </a:solidFill>
                <a:latin typeface="Segoe UI"/>
                <a:ea typeface="Segoe UI"/>
                <a:cs typeface="Segoe UI"/>
              </a:rPr>
              <a:t>Students manage separate files and commands to generate, compile, and execute a lexer or parser.</a:t>
            </a:r>
          </a:p>
        </p:txBody>
      </p:sp>
      <p:sp>
        <p:nvSpPr>
          <p:cNvPr id="6" name="">
            <a:extLst xmlns:a="http://schemas.openxmlformats.org/drawingml/2006/main">
              <a:ext uri="{FF2B5EF4-FFF2-40B4-BE49-F238E27FC236}">
                <a16:creationId xmlns:a16="http://schemas.microsoft.com/office/drawing/2014/main" id="{BF16B8F4-F99F-4085-8AF4-B9BB5F5E8653}"/>
              </a:ext>
            </a:extLst>
          </p:cNvPr>
          <p:cNvSpPr>
            <a:spLocks xmlns:a="http://schemas.openxmlformats.org/drawingml/2006/main" noGrp="1"/>
          </p:cNvSpPr>
          <p:nvPr/>
        </p:nvSpPr>
        <p:spPr>
          <a:xfrm xmlns:a="http://schemas.openxmlformats.org/drawingml/2006/main">
            <a:off x="7239000" y="4067175"/>
            <a:ext cx="4333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1">
                <a:solidFill>
                  <a:srgbClr val="9EE7CE"/>
                </a:solidFill>
                <a:latin typeface="Segoe UI"/>
                <a:ea typeface="Segoe UI"/>
                <a:cs typeface="Segoe UI"/>
              </a:defRPr>
            </a:defPPr>
          </a:lstStyle>
          <a:p xmlns:a="http://schemas.openxmlformats.org/drawingml/2006/main">
            <a:pPr>
              <a:defRPr sz="2100" b="1">
                <a:solidFill>
                  <a:srgbClr val="9EE7CE"/>
                </a:solidFill>
                <a:latin typeface="Segoe UI"/>
                <a:ea typeface="Segoe UI"/>
                <a:cs typeface="Segoe UI"/>
              </a:defRPr>
            </a:pPr>
            <a:r>
              <a:rPr sz="2100" b="1">
                <a:solidFill>
                  <a:srgbClr val="9EE7CE"/>
                </a:solidFill>
                <a:latin typeface="Segoe UI"/>
                <a:ea typeface="Segoe UI"/>
                <a:cs typeface="Segoe UI"/>
              </a:rPr>
              <a:t>Limited explanatory feedback</a:t>
            </a:r>
          </a:p>
        </p:txBody>
      </p:sp>
      <p:sp>
        <p:nvSpPr>
          <p:cNvPr id="7" name="">
            <a:extLst xmlns:a="http://schemas.openxmlformats.org/drawingml/2006/main">
              <a:ext uri="{FF2B5EF4-FFF2-40B4-BE49-F238E27FC236}">
                <a16:creationId xmlns:a16="http://schemas.microsoft.com/office/drawing/2014/main" id="{D22E37F0-33FD-46E6-A79A-274913819495}"/>
              </a:ext>
            </a:extLst>
          </p:cNvPr>
          <p:cNvSpPr>
            <a:spLocks xmlns:a="http://schemas.openxmlformats.org/drawingml/2006/main" noGrp="1"/>
          </p:cNvSpPr>
          <p:nvPr/>
        </p:nvSpPr>
        <p:spPr>
          <a:xfrm xmlns:a="http://schemas.openxmlformats.org/drawingml/2006/main">
            <a:off x="7239000" y="4686300"/>
            <a:ext cx="4333875" cy="1323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0">
                <a:solidFill>
                  <a:srgbClr val="BCC9E4"/>
                </a:solidFill>
                <a:latin typeface="Segoe UI"/>
                <a:ea typeface="Segoe UI"/>
                <a:cs typeface="Segoe UI"/>
              </a:defRPr>
            </a:defPPr>
          </a:lstStyle>
          <a:p xmlns:a="http://schemas.openxmlformats.org/drawingml/2006/main">
            <a:pPr>
              <a:defRPr sz="1950" b="0">
                <a:solidFill>
                  <a:srgbClr val="BCC9E4"/>
                </a:solidFill>
                <a:latin typeface="Segoe UI"/>
                <a:ea typeface="Segoe UI"/>
                <a:cs typeface="Segoe UI"/>
              </a:defRPr>
            </a:pPr>
            <a:r>
              <a:rPr sz="1950" b="0">
                <a:solidFill>
                  <a:srgbClr val="BCC9E4"/>
                </a:solidFill>
                <a:latin typeface="Segoe UI"/>
                <a:ea typeface="Segoe UI"/>
                <a:cs typeface="Segoe UI"/>
              </a:rPr>
              <a:t>Program output alone does not explain syntax structure, symbol scope, or intermediate code.</a:t>
            </a:r>
          </a:p>
        </p:txBody>
      </p:sp>
    </p:spTree>
    <p:extLst>
      <p:ext uri="{BB962C8B-B14F-4D97-AF65-F5344CB8AC3E}">
        <p14:creationId xmlns:p14="http://schemas.microsoft.com/office/powerpoint/2010/main" val="179696990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E7398D60-E610-42AE-97C2-2B9034C4BA56}"/>
              </a:ext>
            </a:extLst>
          </p:cNvPr>
          <p:cNvSpPr>
            <a:spLocks xmlns:a="http://schemas.openxmlformats.org/drawingml/2006/main" noGrp="1"/>
          </p:cNvSpPr>
          <p:nvPr/>
        </p:nvSpPr>
        <p:spPr>
          <a:xfrm xmlns:a="http://schemas.openxmlformats.org/drawingml/2006/main">
            <a:off x="609600" y="4572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450" b="1">
                <a:solidFill>
                  <a:srgbClr val="18253E"/>
                </a:solidFill>
                <a:latin typeface="Segoe UI"/>
                <a:ea typeface="Segoe UI"/>
                <a:cs typeface="Segoe UI"/>
              </a:defRPr>
            </a:defPPr>
          </a:lstStyle>
          <a:p xmlns:a="http://schemas.openxmlformats.org/drawingml/2006/main">
            <a:pPr>
              <a:defRPr sz="3450" b="1">
                <a:solidFill>
                  <a:srgbClr val="18253E"/>
                </a:solidFill>
                <a:latin typeface="Segoe UI"/>
                <a:ea typeface="Segoe UI"/>
                <a:cs typeface="Segoe UI"/>
              </a:defRPr>
            </a:pPr>
            <a:r>
              <a:rPr sz="3450" b="1">
                <a:solidFill>
                  <a:srgbClr val="18253E"/>
                </a:solidFill>
                <a:latin typeface="Segoe UI"/>
                <a:ea typeface="Segoe UI"/>
                <a:cs typeface="Segoe UI"/>
              </a:rPr>
              <a:t>Project objectives</a:t>
            </a:r>
          </a:p>
        </p:txBody>
      </p:sp>
      <p:sp>
        <p:nvSpPr>
          <p:cNvPr id="2" name="">
            <a:extLst xmlns:a="http://schemas.openxmlformats.org/drawingml/2006/main">
              <a:ext uri="{FF2B5EF4-FFF2-40B4-BE49-F238E27FC236}">
                <a16:creationId xmlns:a16="http://schemas.microsoft.com/office/drawing/2014/main" id="{AE4259D7-62A1-410C-AB16-E9C058CB6C44}"/>
              </a:ext>
            </a:extLst>
          </p:cNvPr>
          <p:cNvSpPr>
            <a:spLocks xmlns:a="http://schemas.openxmlformats.org/drawingml/2006/main" noGrp="1"/>
          </p:cNvSpPr>
          <p:nvPr/>
        </p:nvSpPr>
        <p:spPr>
          <a:xfrm xmlns:a="http://schemas.openxmlformats.org/drawingml/2006/main">
            <a:off x="11049000" y="6391275"/>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59667C"/>
                </a:solidFill>
                <a:latin typeface="Segoe UI"/>
                <a:ea typeface="Segoe UI"/>
                <a:cs typeface="Segoe UI"/>
              </a:defRPr>
            </a:defPPr>
          </a:lstStyle>
          <a:p xmlns:a="http://schemas.openxmlformats.org/drawingml/2006/main">
            <a:pPr>
              <a:defRPr sz="1200" b="0">
                <a:solidFill>
                  <a:srgbClr val="59667C"/>
                </a:solidFill>
                <a:latin typeface="Segoe UI"/>
                <a:ea typeface="Segoe UI"/>
                <a:cs typeface="Segoe UI"/>
              </a:defRPr>
            </a:pPr>
            <a:r>
              <a:rPr sz="1200" b="0">
                <a:solidFill>
                  <a:srgbClr val="59667C"/>
                </a:solidFill>
                <a:latin typeface="Segoe UI"/>
                <a:ea typeface="Segoe UI"/>
                <a:cs typeface="Segoe UI"/>
              </a:rPr>
              <a:t>04</a:t>
            </a:r>
          </a:p>
        </p:txBody>
      </p:sp>
      <p:sp>
        <p:nvSpPr>
          <p:cNvPr id="3" name="">
            <a:extLst xmlns:a="http://schemas.openxmlformats.org/drawingml/2006/main">
              <a:ext uri="{FF2B5EF4-FFF2-40B4-BE49-F238E27FC236}">
                <a16:creationId xmlns:a16="http://schemas.microsoft.com/office/drawing/2014/main" id="{D1A7538F-730C-4E71-AFCE-6D82B2B23A02}"/>
              </a:ext>
            </a:extLst>
          </p:cNvPr>
          <p:cNvSpPr>
            <a:spLocks xmlns:a="http://schemas.openxmlformats.org/drawingml/2006/main" noGrp="1"/>
          </p:cNvSpPr>
          <p:nvPr/>
        </p:nvSpPr>
        <p:spPr>
          <a:xfrm xmlns:a="http://schemas.openxmlformats.org/drawingml/2006/main">
            <a:off x="609600" y="1695450"/>
            <a:ext cx="8191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525" b="0">
                <a:solidFill>
                  <a:srgbClr val="315EF4"/>
                </a:solidFill>
                <a:latin typeface="Segoe UI"/>
                <a:ea typeface="Segoe UI"/>
                <a:cs typeface="Segoe UI"/>
              </a:defRPr>
            </a:defPPr>
          </a:lstStyle>
          <a:p xmlns:a="http://schemas.openxmlformats.org/drawingml/2006/main">
            <a:pPr>
              <a:defRPr sz="3525" b="0">
                <a:solidFill>
                  <a:srgbClr val="315EF4"/>
                </a:solidFill>
                <a:latin typeface="Segoe UI"/>
                <a:ea typeface="Segoe UI"/>
                <a:cs typeface="Segoe UI"/>
              </a:defRPr>
            </a:pPr>
            <a:r>
              <a:rPr sz="3525" b="0">
                <a:solidFill>
                  <a:srgbClr val="315EF4"/>
                </a:solidFill>
                <a:latin typeface="Segoe UI"/>
                <a:ea typeface="Segoe UI"/>
                <a:cs typeface="Segoe UI"/>
              </a:rPr>
              <a:t>01</a:t>
            </a:r>
          </a:p>
        </p:txBody>
      </p:sp>
      <p:sp>
        <p:nvSpPr>
          <p:cNvPr id="4" name="">
            <a:extLst xmlns:a="http://schemas.openxmlformats.org/drawingml/2006/main">
              <a:ext uri="{FF2B5EF4-FFF2-40B4-BE49-F238E27FC236}">
                <a16:creationId xmlns:a16="http://schemas.microsoft.com/office/drawing/2014/main" id="{ACB73F24-9D46-408F-A2E0-D9AE4D04D860}"/>
              </a:ext>
            </a:extLst>
          </p:cNvPr>
          <p:cNvSpPr>
            <a:spLocks xmlns:a="http://schemas.openxmlformats.org/drawingml/2006/main" noGrp="1"/>
          </p:cNvSpPr>
          <p:nvPr/>
        </p:nvSpPr>
        <p:spPr>
          <a:xfrm xmlns:a="http://schemas.openxmlformats.org/drawingml/2006/main">
            <a:off x="1562100" y="1724025"/>
            <a:ext cx="4191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1">
                <a:solidFill>
                  <a:srgbClr val="18253E"/>
                </a:solidFill>
                <a:latin typeface="Segoe UI"/>
                <a:ea typeface="Segoe UI"/>
                <a:cs typeface="Segoe UI"/>
              </a:defRPr>
            </a:defPPr>
          </a:lstStyle>
          <a:p xmlns:a="http://schemas.openxmlformats.org/drawingml/2006/main">
            <a:pPr>
              <a:defRPr sz="2175" b="1">
                <a:solidFill>
                  <a:srgbClr val="18253E"/>
                </a:solidFill>
                <a:latin typeface="Segoe UI"/>
                <a:ea typeface="Segoe UI"/>
                <a:cs typeface="Segoe UI"/>
              </a:defRPr>
            </a:pPr>
            <a:r>
              <a:rPr sz="2175" b="1">
                <a:solidFill>
                  <a:srgbClr val="18253E"/>
                </a:solidFill>
                <a:latin typeface="Segoe UI"/>
                <a:ea typeface="Segoe UI"/>
                <a:cs typeface="Segoe UI"/>
              </a:rPr>
              <a:t>Provide an integrated workspace</a:t>
            </a:r>
          </a:p>
        </p:txBody>
      </p:sp>
      <p:sp>
        <p:nvSpPr>
          <p:cNvPr id="5" name="">
            <a:extLst xmlns:a="http://schemas.openxmlformats.org/drawingml/2006/main">
              <a:ext uri="{FF2B5EF4-FFF2-40B4-BE49-F238E27FC236}">
                <a16:creationId xmlns:a16="http://schemas.microsoft.com/office/drawing/2014/main" id="{A5B3D88D-9085-4B74-AB58-B0DC75C68774}"/>
              </a:ext>
            </a:extLst>
          </p:cNvPr>
          <p:cNvSpPr>
            <a:spLocks xmlns:a="http://schemas.openxmlformats.org/drawingml/2006/main" noGrp="1"/>
          </p:cNvSpPr>
          <p:nvPr/>
        </p:nvSpPr>
        <p:spPr>
          <a:xfrm xmlns:a="http://schemas.openxmlformats.org/drawingml/2006/main">
            <a:off x="1562100" y="2562225"/>
            <a:ext cx="4191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0">
                <a:solidFill>
                  <a:srgbClr val="59667C"/>
                </a:solidFill>
                <a:latin typeface="Segoe UI"/>
                <a:ea typeface="Segoe UI"/>
                <a:cs typeface="Segoe UI"/>
              </a:defRPr>
            </a:defPPr>
          </a:lstStyle>
          <a:p xmlns:a="http://schemas.openxmlformats.org/drawingml/2006/main">
            <a:pPr>
              <a:defRPr sz="1950" b="0">
                <a:solidFill>
                  <a:srgbClr val="59667C"/>
                </a:solidFill>
                <a:latin typeface="Segoe UI"/>
                <a:ea typeface="Segoe UI"/>
                <a:cs typeface="Segoe UI"/>
              </a:defRPr>
            </a:pPr>
            <a:r>
              <a:rPr sz="1950" b="0">
                <a:solidFill>
                  <a:srgbClr val="59667C"/>
                </a:solidFill>
                <a:latin typeface="Segoe UI"/>
                <a:ea typeface="Segoe UI"/>
                <a:cs typeface="Segoe UI"/>
              </a:rPr>
              <a:t>Students can edit specifications, select targets, and supply program input.</a:t>
            </a:r>
          </a:p>
        </p:txBody>
      </p:sp>
      <p:sp>
        <p:nvSpPr>
          <p:cNvPr id="6" name="">
            <a:extLst xmlns:a="http://schemas.openxmlformats.org/drawingml/2006/main">
              <a:ext uri="{FF2B5EF4-FFF2-40B4-BE49-F238E27FC236}">
                <a16:creationId xmlns:a16="http://schemas.microsoft.com/office/drawing/2014/main" id="{10C041A1-5AE4-4403-ACB1-BBDDBA375345}"/>
              </a:ext>
            </a:extLst>
          </p:cNvPr>
          <p:cNvSpPr>
            <a:spLocks xmlns:a="http://schemas.openxmlformats.org/drawingml/2006/main" noGrp="1"/>
          </p:cNvSpPr>
          <p:nvPr/>
        </p:nvSpPr>
        <p:spPr>
          <a:xfrm xmlns:a="http://schemas.openxmlformats.org/drawingml/2006/main">
            <a:off x="6419850" y="1695450"/>
            <a:ext cx="8191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525" b="0">
                <a:solidFill>
                  <a:srgbClr val="315EF4"/>
                </a:solidFill>
                <a:latin typeface="Segoe UI"/>
                <a:ea typeface="Segoe UI"/>
                <a:cs typeface="Segoe UI"/>
              </a:defRPr>
            </a:defPPr>
          </a:lstStyle>
          <a:p xmlns:a="http://schemas.openxmlformats.org/drawingml/2006/main">
            <a:pPr>
              <a:defRPr sz="3525" b="0">
                <a:solidFill>
                  <a:srgbClr val="315EF4"/>
                </a:solidFill>
                <a:latin typeface="Segoe UI"/>
                <a:ea typeface="Segoe UI"/>
                <a:cs typeface="Segoe UI"/>
              </a:defRPr>
            </a:pPr>
            <a:r>
              <a:rPr sz="3525" b="0">
                <a:solidFill>
                  <a:srgbClr val="315EF4"/>
                </a:solidFill>
                <a:latin typeface="Segoe UI"/>
                <a:ea typeface="Segoe UI"/>
                <a:cs typeface="Segoe UI"/>
              </a:rPr>
              <a:t>02</a:t>
            </a:r>
          </a:p>
        </p:txBody>
      </p:sp>
      <p:sp>
        <p:nvSpPr>
          <p:cNvPr id="7" name="">
            <a:extLst xmlns:a="http://schemas.openxmlformats.org/drawingml/2006/main">
              <a:ext uri="{FF2B5EF4-FFF2-40B4-BE49-F238E27FC236}">
                <a16:creationId xmlns:a16="http://schemas.microsoft.com/office/drawing/2014/main" id="{6A41F738-E30F-4139-8F2A-0011A34A9057}"/>
              </a:ext>
            </a:extLst>
          </p:cNvPr>
          <p:cNvSpPr>
            <a:spLocks xmlns:a="http://schemas.openxmlformats.org/drawingml/2006/main" noGrp="1"/>
          </p:cNvSpPr>
          <p:nvPr/>
        </p:nvSpPr>
        <p:spPr>
          <a:xfrm xmlns:a="http://schemas.openxmlformats.org/drawingml/2006/main">
            <a:off x="7372350" y="1724025"/>
            <a:ext cx="4191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1">
                <a:solidFill>
                  <a:srgbClr val="18253E"/>
                </a:solidFill>
                <a:latin typeface="Segoe UI"/>
                <a:ea typeface="Segoe UI"/>
                <a:cs typeface="Segoe UI"/>
              </a:defRPr>
            </a:defPPr>
          </a:lstStyle>
          <a:p xmlns:a="http://schemas.openxmlformats.org/drawingml/2006/main">
            <a:pPr>
              <a:defRPr sz="2175" b="1">
                <a:solidFill>
                  <a:srgbClr val="18253E"/>
                </a:solidFill>
                <a:latin typeface="Segoe UI"/>
                <a:ea typeface="Segoe UI"/>
                <a:cs typeface="Segoe UI"/>
              </a:defRPr>
            </a:pPr>
            <a:r>
              <a:rPr sz="2175" b="1">
                <a:solidFill>
                  <a:srgbClr val="18253E"/>
                </a:solidFill>
                <a:latin typeface="Segoe UI"/>
                <a:ea typeface="Segoe UI"/>
                <a:cs typeface="Segoe UI"/>
              </a:rPr>
              <a:t>Execute real compiler tools</a:t>
            </a:r>
          </a:p>
        </p:txBody>
      </p:sp>
      <p:sp>
        <p:nvSpPr>
          <p:cNvPr id="8" name="">
            <a:extLst xmlns:a="http://schemas.openxmlformats.org/drawingml/2006/main">
              <a:ext uri="{FF2B5EF4-FFF2-40B4-BE49-F238E27FC236}">
                <a16:creationId xmlns:a16="http://schemas.microsoft.com/office/drawing/2014/main" id="{2A97C418-6D44-4E4A-B548-73612593A921}"/>
              </a:ext>
            </a:extLst>
          </p:cNvPr>
          <p:cNvSpPr>
            <a:spLocks xmlns:a="http://schemas.openxmlformats.org/drawingml/2006/main" noGrp="1"/>
          </p:cNvSpPr>
          <p:nvPr/>
        </p:nvSpPr>
        <p:spPr>
          <a:xfrm xmlns:a="http://schemas.openxmlformats.org/drawingml/2006/main">
            <a:off x="7372350" y="2562225"/>
            <a:ext cx="4191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0">
                <a:solidFill>
                  <a:srgbClr val="59667C"/>
                </a:solidFill>
                <a:latin typeface="Segoe UI"/>
                <a:ea typeface="Segoe UI"/>
                <a:cs typeface="Segoe UI"/>
              </a:defRPr>
            </a:defPPr>
          </a:lstStyle>
          <a:p xmlns:a="http://schemas.openxmlformats.org/drawingml/2006/main">
            <a:pPr>
              <a:defRPr sz="1950" b="0">
                <a:solidFill>
                  <a:srgbClr val="59667C"/>
                </a:solidFill>
                <a:latin typeface="Segoe UI"/>
                <a:ea typeface="Segoe UI"/>
                <a:cs typeface="Segoe UI"/>
              </a:defRPr>
            </a:pPr>
            <a:r>
              <a:rPr sz="1950" b="0">
                <a:solidFill>
                  <a:srgbClr val="59667C"/>
                </a:solidFill>
                <a:latin typeface="Segoe UI"/>
                <a:ea typeface="Segoe UI"/>
                <a:cs typeface="Segoe UI"/>
              </a:rPr>
              <a:t>The backend generates C sources, builds an executable, and captures its output.</a:t>
            </a:r>
          </a:p>
        </p:txBody>
      </p:sp>
      <p:sp>
        <p:nvSpPr>
          <p:cNvPr id="9" name="">
            <a:extLst xmlns:a="http://schemas.openxmlformats.org/drawingml/2006/main">
              <a:ext uri="{FF2B5EF4-FFF2-40B4-BE49-F238E27FC236}">
                <a16:creationId xmlns:a16="http://schemas.microsoft.com/office/drawing/2014/main" id="{8D0087F6-145C-4696-8127-45A7D25EE414}"/>
              </a:ext>
            </a:extLst>
          </p:cNvPr>
          <p:cNvSpPr>
            <a:spLocks xmlns:a="http://schemas.openxmlformats.org/drawingml/2006/main" noGrp="1"/>
          </p:cNvSpPr>
          <p:nvPr/>
        </p:nvSpPr>
        <p:spPr>
          <a:xfrm xmlns:a="http://schemas.openxmlformats.org/drawingml/2006/main">
            <a:off x="609600" y="3952875"/>
            <a:ext cx="8191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525" b="0">
                <a:solidFill>
                  <a:srgbClr val="315EF4"/>
                </a:solidFill>
                <a:latin typeface="Segoe UI"/>
                <a:ea typeface="Segoe UI"/>
                <a:cs typeface="Segoe UI"/>
              </a:defRPr>
            </a:defPPr>
          </a:lstStyle>
          <a:p xmlns:a="http://schemas.openxmlformats.org/drawingml/2006/main">
            <a:pPr>
              <a:defRPr sz="3525" b="0">
                <a:solidFill>
                  <a:srgbClr val="315EF4"/>
                </a:solidFill>
                <a:latin typeface="Segoe UI"/>
                <a:ea typeface="Segoe UI"/>
                <a:cs typeface="Segoe UI"/>
              </a:defRPr>
            </a:pPr>
            <a:r>
              <a:rPr sz="3525" b="0">
                <a:solidFill>
                  <a:srgbClr val="315EF4"/>
                </a:solidFill>
                <a:latin typeface="Segoe UI"/>
                <a:ea typeface="Segoe UI"/>
                <a:cs typeface="Segoe UI"/>
              </a:rPr>
              <a:t>03</a:t>
            </a:r>
          </a:p>
        </p:txBody>
      </p:sp>
      <p:sp>
        <p:nvSpPr>
          <p:cNvPr id="10" name="">
            <a:extLst xmlns:a="http://schemas.openxmlformats.org/drawingml/2006/main">
              <a:ext uri="{FF2B5EF4-FFF2-40B4-BE49-F238E27FC236}">
                <a16:creationId xmlns:a16="http://schemas.microsoft.com/office/drawing/2014/main" id="{7DF01469-97E3-4756-9DCC-F09C19809513}"/>
              </a:ext>
            </a:extLst>
          </p:cNvPr>
          <p:cNvSpPr>
            <a:spLocks xmlns:a="http://schemas.openxmlformats.org/drawingml/2006/main" noGrp="1"/>
          </p:cNvSpPr>
          <p:nvPr/>
        </p:nvSpPr>
        <p:spPr>
          <a:xfrm xmlns:a="http://schemas.openxmlformats.org/drawingml/2006/main">
            <a:off x="1562100" y="3981450"/>
            <a:ext cx="4191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1">
                <a:solidFill>
                  <a:srgbClr val="18253E"/>
                </a:solidFill>
                <a:latin typeface="Segoe UI"/>
                <a:ea typeface="Segoe UI"/>
                <a:cs typeface="Segoe UI"/>
              </a:defRPr>
            </a:defPPr>
          </a:lstStyle>
          <a:p xmlns:a="http://schemas.openxmlformats.org/drawingml/2006/main">
            <a:pPr>
              <a:defRPr sz="2175" b="1">
                <a:solidFill>
                  <a:srgbClr val="18253E"/>
                </a:solidFill>
                <a:latin typeface="Segoe UI"/>
                <a:ea typeface="Segoe UI"/>
                <a:cs typeface="Segoe UI"/>
              </a:defRPr>
            </a:pPr>
            <a:r>
              <a:rPr sz="2175" b="1">
                <a:solidFill>
                  <a:srgbClr val="18253E"/>
                </a:solidFill>
                <a:latin typeface="Segoe UI"/>
                <a:ea typeface="Segoe UI"/>
                <a:cs typeface="Segoe UI"/>
              </a:rPr>
              <a:t>Explain compiler concepts</a:t>
            </a:r>
          </a:p>
        </p:txBody>
      </p:sp>
      <p:sp>
        <p:nvSpPr>
          <p:cNvPr id="11" name="">
            <a:extLst xmlns:a="http://schemas.openxmlformats.org/drawingml/2006/main">
              <a:ext uri="{FF2B5EF4-FFF2-40B4-BE49-F238E27FC236}">
                <a16:creationId xmlns:a16="http://schemas.microsoft.com/office/drawing/2014/main" id="{7F0C46ED-73FE-4621-B8AF-1459BE6A1EE9}"/>
              </a:ext>
            </a:extLst>
          </p:cNvPr>
          <p:cNvSpPr>
            <a:spLocks xmlns:a="http://schemas.openxmlformats.org/drawingml/2006/main" noGrp="1"/>
          </p:cNvSpPr>
          <p:nvPr/>
        </p:nvSpPr>
        <p:spPr>
          <a:xfrm xmlns:a="http://schemas.openxmlformats.org/drawingml/2006/main">
            <a:off x="1562100" y="4819650"/>
            <a:ext cx="4191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0">
                <a:solidFill>
                  <a:srgbClr val="59667C"/>
                </a:solidFill>
                <a:latin typeface="Segoe UI"/>
                <a:ea typeface="Segoe UI"/>
                <a:cs typeface="Segoe UI"/>
              </a:defRPr>
            </a:defPPr>
          </a:lstStyle>
          <a:p xmlns:a="http://schemas.openxmlformats.org/drawingml/2006/main">
            <a:pPr>
              <a:defRPr sz="1950" b="0">
                <a:solidFill>
                  <a:srgbClr val="59667C"/>
                </a:solidFill>
                <a:latin typeface="Segoe UI"/>
                <a:ea typeface="Segoe UI"/>
                <a:cs typeface="Segoe UI"/>
              </a:defRPr>
            </a:pPr>
            <a:r>
              <a:rPr sz="1950" b="0">
                <a:solidFill>
                  <a:srgbClr val="59667C"/>
                </a:solidFill>
                <a:latin typeface="Segoe UI"/>
                <a:ea typeface="Segoe UI"/>
                <a:cs typeface="Segoe UI"/>
              </a:rPr>
              <a:t>Visual views connect tokens and syntax structure with symbols and intermediate code.</a:t>
            </a:r>
          </a:p>
        </p:txBody>
      </p:sp>
      <p:sp>
        <p:nvSpPr>
          <p:cNvPr id="12" name="">
            <a:extLst xmlns:a="http://schemas.openxmlformats.org/drawingml/2006/main">
              <a:ext uri="{FF2B5EF4-FFF2-40B4-BE49-F238E27FC236}">
                <a16:creationId xmlns:a16="http://schemas.microsoft.com/office/drawing/2014/main" id="{4BFE1E50-7482-4933-94E5-494E4F44B379}"/>
              </a:ext>
            </a:extLst>
          </p:cNvPr>
          <p:cNvSpPr>
            <a:spLocks xmlns:a="http://schemas.openxmlformats.org/drawingml/2006/main" noGrp="1"/>
          </p:cNvSpPr>
          <p:nvPr/>
        </p:nvSpPr>
        <p:spPr>
          <a:xfrm xmlns:a="http://schemas.openxmlformats.org/drawingml/2006/main">
            <a:off x="6419850" y="3952875"/>
            <a:ext cx="8191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525" b="0">
                <a:solidFill>
                  <a:srgbClr val="315EF4"/>
                </a:solidFill>
                <a:latin typeface="Segoe UI"/>
                <a:ea typeface="Segoe UI"/>
                <a:cs typeface="Segoe UI"/>
              </a:defRPr>
            </a:defPPr>
          </a:lstStyle>
          <a:p xmlns:a="http://schemas.openxmlformats.org/drawingml/2006/main">
            <a:pPr>
              <a:defRPr sz="3525" b="0">
                <a:solidFill>
                  <a:srgbClr val="315EF4"/>
                </a:solidFill>
                <a:latin typeface="Segoe UI"/>
                <a:ea typeface="Segoe UI"/>
                <a:cs typeface="Segoe UI"/>
              </a:defRPr>
            </a:pPr>
            <a:r>
              <a:rPr sz="3525" b="0">
                <a:solidFill>
                  <a:srgbClr val="315EF4"/>
                </a:solidFill>
                <a:latin typeface="Segoe UI"/>
                <a:ea typeface="Segoe UI"/>
                <a:cs typeface="Segoe UI"/>
              </a:rPr>
              <a:t>04</a:t>
            </a:r>
          </a:p>
        </p:txBody>
      </p:sp>
      <p:sp>
        <p:nvSpPr>
          <p:cNvPr id="13" name="">
            <a:extLst xmlns:a="http://schemas.openxmlformats.org/drawingml/2006/main">
              <a:ext uri="{FF2B5EF4-FFF2-40B4-BE49-F238E27FC236}">
                <a16:creationId xmlns:a16="http://schemas.microsoft.com/office/drawing/2014/main" id="{A938AC26-5DD4-49DF-A15C-5ABADF92B1C2}"/>
              </a:ext>
            </a:extLst>
          </p:cNvPr>
          <p:cNvSpPr>
            <a:spLocks xmlns:a="http://schemas.openxmlformats.org/drawingml/2006/main" noGrp="1"/>
          </p:cNvSpPr>
          <p:nvPr/>
        </p:nvSpPr>
        <p:spPr>
          <a:xfrm xmlns:a="http://schemas.openxmlformats.org/drawingml/2006/main">
            <a:off x="7372350" y="3981450"/>
            <a:ext cx="4191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1">
                <a:solidFill>
                  <a:srgbClr val="18253E"/>
                </a:solidFill>
                <a:latin typeface="Segoe UI"/>
                <a:ea typeface="Segoe UI"/>
                <a:cs typeface="Segoe UI"/>
              </a:defRPr>
            </a:defPPr>
          </a:lstStyle>
          <a:p xmlns:a="http://schemas.openxmlformats.org/drawingml/2006/main">
            <a:pPr>
              <a:defRPr sz="2175" b="1">
                <a:solidFill>
                  <a:srgbClr val="18253E"/>
                </a:solidFill>
                <a:latin typeface="Segoe UI"/>
                <a:ea typeface="Segoe UI"/>
                <a:cs typeface="Segoe UI"/>
              </a:defRPr>
            </a:pPr>
            <a:r>
              <a:rPr sz="2175" b="1">
                <a:solidFill>
                  <a:srgbClr val="18253E"/>
                </a:solidFill>
                <a:latin typeface="Segoe UI"/>
                <a:ea typeface="Segoe UI"/>
                <a:cs typeface="Segoe UI"/>
              </a:rPr>
              <a:t>Support repeatable experiments</a:t>
            </a:r>
          </a:p>
        </p:txBody>
      </p:sp>
      <p:sp>
        <p:nvSpPr>
          <p:cNvPr id="14" name="">
            <a:extLst xmlns:a="http://schemas.openxmlformats.org/drawingml/2006/main">
              <a:ext uri="{FF2B5EF4-FFF2-40B4-BE49-F238E27FC236}">
                <a16:creationId xmlns:a16="http://schemas.microsoft.com/office/drawing/2014/main" id="{54643D22-A29B-4F47-A139-5F2994CCAF96}"/>
              </a:ext>
            </a:extLst>
          </p:cNvPr>
          <p:cNvSpPr>
            <a:spLocks xmlns:a="http://schemas.openxmlformats.org/drawingml/2006/main" noGrp="1"/>
          </p:cNvSpPr>
          <p:nvPr/>
        </p:nvSpPr>
        <p:spPr>
          <a:xfrm xmlns:a="http://schemas.openxmlformats.org/drawingml/2006/main">
            <a:off x="7372350" y="4819650"/>
            <a:ext cx="4191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0">
                <a:solidFill>
                  <a:srgbClr val="59667C"/>
                </a:solidFill>
                <a:latin typeface="Segoe UI"/>
                <a:ea typeface="Segoe UI"/>
                <a:cs typeface="Segoe UI"/>
              </a:defRPr>
            </a:defPPr>
          </a:lstStyle>
          <a:p xmlns:a="http://schemas.openxmlformats.org/drawingml/2006/main">
            <a:pPr>
              <a:defRPr sz="1950" b="0">
                <a:solidFill>
                  <a:srgbClr val="59667C"/>
                </a:solidFill>
                <a:latin typeface="Segoe UI"/>
                <a:ea typeface="Segoe UI"/>
                <a:cs typeface="Segoe UI"/>
              </a:defRPr>
            </a:pPr>
            <a:r>
              <a:rPr sz="1950" b="0">
                <a:solidFill>
                  <a:srgbClr val="59667C"/>
                </a:solidFill>
                <a:latin typeface="Segoe UI"/>
                <a:ea typeface="Segoe UI"/>
                <a:cs typeface="Segoe UI"/>
              </a:rPr>
              <a:t>Browser drafts, examples, and file downloads help students continue their work.</a:t>
            </a:r>
          </a:p>
        </p:txBody>
      </p:sp>
    </p:spTree>
    <p:extLst>
      <p:ext uri="{BB962C8B-B14F-4D97-AF65-F5344CB8AC3E}">
        <p14:creationId xmlns:p14="http://schemas.microsoft.com/office/powerpoint/2010/main" val="32481548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5D1CD6A-7476-4BB0-BECD-CA828CEB9862}"/>
              </a:ext>
            </a:extLst>
          </p:cNvPr>
          <p:cNvSpPr>
            <a:spLocks xmlns:a="http://schemas.openxmlformats.org/drawingml/2006/main" noGrp="1"/>
          </p:cNvSpPr>
          <p:nvPr/>
        </p:nvSpPr>
        <p:spPr>
          <a:xfrm xmlns:a="http://schemas.openxmlformats.org/drawingml/2006/main">
            <a:off x="609600" y="4572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450" b="1">
                <a:solidFill>
                  <a:srgbClr val="18253E"/>
                </a:solidFill>
                <a:latin typeface="Segoe UI"/>
                <a:ea typeface="Segoe UI"/>
                <a:cs typeface="Segoe UI"/>
              </a:defRPr>
            </a:defPPr>
          </a:lstStyle>
          <a:p xmlns:a="http://schemas.openxmlformats.org/drawingml/2006/main">
            <a:pPr>
              <a:defRPr sz="3450" b="1">
                <a:solidFill>
                  <a:srgbClr val="18253E"/>
                </a:solidFill>
                <a:latin typeface="Segoe UI"/>
                <a:ea typeface="Segoe UI"/>
                <a:cs typeface="Segoe UI"/>
              </a:defRPr>
            </a:pPr>
            <a:r>
              <a:rPr sz="3450" b="1">
                <a:solidFill>
                  <a:srgbClr val="18253E"/>
                </a:solidFill>
                <a:latin typeface="Segoe UI"/>
                <a:ea typeface="Segoe UI"/>
                <a:cs typeface="Segoe UI"/>
              </a:rPr>
              <a:t>Literature survey</a:t>
            </a:r>
          </a:p>
        </p:txBody>
      </p:sp>
      <p:sp>
        <p:nvSpPr>
          <p:cNvPr id="2" name="">
            <a:extLst xmlns:a="http://schemas.openxmlformats.org/drawingml/2006/main">
              <a:ext uri="{FF2B5EF4-FFF2-40B4-BE49-F238E27FC236}">
                <a16:creationId xmlns:a16="http://schemas.microsoft.com/office/drawing/2014/main" id="{88851B9A-4484-404A-BFED-8F1D83300A36}"/>
              </a:ext>
            </a:extLst>
          </p:cNvPr>
          <p:cNvSpPr>
            <a:spLocks xmlns:a="http://schemas.openxmlformats.org/drawingml/2006/main" noGrp="1"/>
          </p:cNvSpPr>
          <p:nvPr/>
        </p:nvSpPr>
        <p:spPr>
          <a:xfrm xmlns:a="http://schemas.openxmlformats.org/drawingml/2006/main">
            <a:off x="11049000" y="6391275"/>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59667C"/>
                </a:solidFill>
                <a:latin typeface="Segoe UI"/>
                <a:ea typeface="Segoe UI"/>
                <a:cs typeface="Segoe UI"/>
              </a:defRPr>
            </a:defPPr>
          </a:lstStyle>
          <a:p xmlns:a="http://schemas.openxmlformats.org/drawingml/2006/main">
            <a:pPr>
              <a:defRPr sz="1200" b="0">
                <a:solidFill>
                  <a:srgbClr val="59667C"/>
                </a:solidFill>
                <a:latin typeface="Segoe UI"/>
                <a:ea typeface="Segoe UI"/>
                <a:cs typeface="Segoe UI"/>
              </a:defRPr>
            </a:pPr>
            <a:r>
              <a:rPr sz="1200" b="0">
                <a:solidFill>
                  <a:srgbClr val="59667C"/>
                </a:solidFill>
                <a:latin typeface="Segoe UI"/>
                <a:ea typeface="Segoe UI"/>
                <a:cs typeface="Segoe UI"/>
              </a:rPr>
              <a:t>05</a:t>
            </a:r>
          </a:p>
        </p:txBody>
      </p:sp>
      <p:sp>
        <p:nvSpPr>
          <p:cNvPr id="3" name="">
            <a:extLst xmlns:a="http://schemas.openxmlformats.org/drawingml/2006/main">
              <a:ext uri="{FF2B5EF4-FFF2-40B4-BE49-F238E27FC236}">
                <a16:creationId xmlns:a16="http://schemas.microsoft.com/office/drawing/2014/main" id="{ACA4F4EB-AD5C-4DC2-A081-CB6BF4DA44D7}"/>
              </a:ext>
            </a:extLst>
          </p:cNvPr>
          <p:cNvSpPr>
            <a:spLocks xmlns:a="http://schemas.openxmlformats.org/drawingml/2006/main" noGrp="1"/>
          </p:cNvSpPr>
          <p:nvPr/>
        </p:nvSpPr>
        <p:spPr>
          <a:xfrm xmlns:a="http://schemas.openxmlformats.org/drawingml/2006/main">
            <a:off x="609600" y="1838325"/>
            <a:ext cx="10972800" cy="323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0">
                <a:solidFill>
                  <a:srgbClr val="18253E"/>
                </a:solidFill>
                <a:latin typeface="Segoe UI"/>
                <a:ea typeface="Segoe UI"/>
                <a:cs typeface="Segoe UI"/>
              </a:defRPr>
            </a:defPPr>
          </a:lstStyle>
          <a:p xmlns:a="http://schemas.openxmlformats.org/drawingml/2006/main">
            <a:pPr>
              <a:defRPr sz="2550" b="0">
                <a:solidFill>
                  <a:srgbClr val="18253E"/>
                </a:solidFill>
                <a:latin typeface="Segoe UI"/>
                <a:ea typeface="Segoe UI"/>
                <a:cs typeface="Segoe UI"/>
              </a:defRPr>
            </a:pPr>
            <a:r>
              <a:rPr sz="2550" b="0">
                <a:solidFill>
                  <a:srgbClr val="18253E"/>
                </a:solidFill>
                <a:latin typeface="Segoe UI"/>
                <a:ea typeface="Segoe UI"/>
                <a:cs typeface="Segoe UI"/>
              </a:rPr>
              <a:t>Aho et al. describe lexical analysis, parsing, semantic analysis, and intermediate-code generation as core compiler stages. The official Flex and Bison manuals explain scanner and parser generation, while the GCC documentation describes compilation and linking. These references form the technical foundation of Lexora, which brings specification editing, execution, and visual analysis into a dedicated web interface for compiler-design laboratory work.</a:t>
            </a:r>
          </a:p>
        </p:txBody>
      </p:sp>
      <p:sp>
        <p:nvSpPr>
          <p:cNvPr id="4" name="">
            <a:extLst xmlns:a="http://schemas.openxmlformats.org/drawingml/2006/main">
              <a:ext uri="{FF2B5EF4-FFF2-40B4-BE49-F238E27FC236}">
                <a16:creationId xmlns:a16="http://schemas.microsoft.com/office/drawing/2014/main" id="{05837F2F-42AD-4C13-AF4E-4BA7E99A4EC6}"/>
              </a:ext>
            </a:extLst>
          </p:cNvPr>
          <p:cNvSpPr>
            <a:spLocks xmlns:a="http://schemas.openxmlformats.org/drawingml/2006/main" noGrp="1"/>
          </p:cNvSpPr>
          <p:nvPr/>
        </p:nvSpPr>
        <p:spPr>
          <a:xfrm xmlns:a="http://schemas.openxmlformats.org/drawingml/2006/main">
            <a:off x="609600" y="56578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59667C"/>
                </a:solidFill>
                <a:latin typeface="Segoe UI"/>
                <a:ea typeface="Segoe UI"/>
                <a:cs typeface="Segoe UI"/>
              </a:defRPr>
            </a:defPPr>
          </a:lstStyle>
          <a:p xmlns:a="http://schemas.openxmlformats.org/drawingml/2006/main">
            <a:pPr>
              <a:defRPr sz="1725" b="0">
                <a:solidFill>
                  <a:srgbClr val="59667C"/>
                </a:solidFill>
                <a:latin typeface="Segoe UI"/>
                <a:ea typeface="Segoe UI"/>
                <a:cs typeface="Segoe UI"/>
              </a:defRPr>
            </a:pPr>
            <a:r>
              <a:rPr sz="1725" b="0">
                <a:solidFill>
                  <a:srgbClr val="59667C"/>
                </a:solidFill>
                <a:latin typeface="Segoe UI"/>
                <a:ea typeface="Segoe UI"/>
                <a:cs typeface="Segoe UI"/>
              </a:rPr>
              <a:t>Sources: Aho et al. (2007); official Flex, GNU Bison, and GCC documentation.</a:t>
            </a:r>
          </a:p>
        </p:txBody>
      </p:sp>
    </p:spTree>
    <p:extLst>
      <p:ext uri="{BB962C8B-B14F-4D97-AF65-F5344CB8AC3E}">
        <p14:creationId xmlns:p14="http://schemas.microsoft.com/office/powerpoint/2010/main" val="597829559"/>
      </p:ext>
    </p:extLst>
  </p:cSld>
</p:sld>
</file>

<file path=ppt/slides/slide6.xml><?xml version="1.0" encoding="utf-8"?>
<p:sld xmlns:p="http://schemas.openxmlformats.org/presentationml/2006/main">
  <p:cSld>
    <p:bg>
      <p:bgPr>
        <a:solidFill xmlns:a="http://schemas.openxmlformats.org/drawingml/2006/main">
          <a:srgbClr val="111B31"/>
        </a:solidFill>
      </p:bgPr>
    </p:bg>
    <p:spTree>
      <p:nvGrpSpPr>
        <p:cNvPr id="1" name=""/>
        <p:cNvGrpSpPr/>
        <p:nvPr/>
      </p:nvGrpSpPr>
      <p:grpSpPr>
        <a:xfrm xmlns:a="http://schemas.openxmlformats.org/drawingml/2006/main"/>
      </p:grpSpPr>
      <p:cxnSp>
        <p:nvCxnSpPr>
          <p:cNvPr id="14" name="">
            <a:extLst xmlns:a="http://schemas.openxmlformats.org/drawingml/2006/main">
              <a:ext uri="{FF2B5EF4-FFF2-40B4-BE49-F238E27FC236}">
                <a16:creationId xmlns:a16="http://schemas.microsoft.com/office/drawing/2014/main" id="{4D774903-A0C3-4B49-8971-28F78017FEF9}"/>
              </a:ext>
            </a:extLst>
          </p:cNvPr>
          <p:cNvCxnSpPr>
            <a:stCxn xmlns:a="http://schemas.openxmlformats.org/drawingml/2006/main" id="11" idx="3"/>
            <a:endCxn xmlns:a="http://schemas.openxmlformats.org/drawingml/2006/main" id="12" idx="1"/>
          </p:cNvCxnSpPr>
          <p:nvPr/>
        </p:nvCxnSpPr>
        <p:spPr>
          <a:xfrm xmlns:a="http://schemas.openxmlformats.org/drawingml/2006/main">
            <a:off x="7467600" y="5681663"/>
            <a:ext cx="1333500" cy="0"/>
          </a:xfrm>
          <a:prstGeom xmlns:a="http://schemas.openxmlformats.org/drawingml/2006/main" prst="straightConnector1">
            <a:avLst/>
          </a:prstGeom>
          <a:ln xmlns:a="http://schemas.openxmlformats.org/drawingml/2006/main" w="22860">
            <a:solidFill>
              <a:srgbClr val="315EF4"/>
            </a:solidFill>
            <a:tailEnd type="triangle" w="med" len="med"/>
          </a:ln>
        </p:spPr>
      </p:cxnSp>
      <p:cxnSp>
        <p:nvCxnSpPr>
          <p:cNvPr id="13" name="">
            <a:extLst xmlns:a="http://schemas.openxmlformats.org/drawingml/2006/main">
              <a:ext uri="{FF2B5EF4-FFF2-40B4-BE49-F238E27FC236}">
                <a16:creationId xmlns:a16="http://schemas.microsoft.com/office/drawing/2014/main" id="{F7F3B331-23E3-40F0-BA50-9CE7ED706D76}"/>
              </a:ext>
            </a:extLst>
          </p:cNvPr>
          <p:cNvCxnSpPr>
            <a:stCxn xmlns:a="http://schemas.openxmlformats.org/drawingml/2006/main" id="10" idx="3"/>
            <a:endCxn xmlns:a="http://schemas.openxmlformats.org/drawingml/2006/main" id="11" idx="1"/>
          </p:cNvCxnSpPr>
          <p:nvPr/>
        </p:nvCxnSpPr>
        <p:spPr>
          <a:xfrm xmlns:a="http://schemas.openxmlformats.org/drawingml/2006/main">
            <a:off x="3371850" y="5681663"/>
            <a:ext cx="1333500" cy="0"/>
          </a:xfrm>
          <a:prstGeom xmlns:a="http://schemas.openxmlformats.org/drawingml/2006/main" prst="straightConnector1">
            <a:avLst/>
          </a:prstGeom>
          <a:ln xmlns:a="http://schemas.openxmlformats.org/drawingml/2006/main" w="22860">
            <a:solidFill>
              <a:srgbClr val="315EF4"/>
            </a:solidFill>
            <a:tailEnd type="triangle" w="med" len="med"/>
          </a:ln>
        </p:spPr>
      </p:cxnSp>
      <p:cxnSp>
        <p:nvCxnSpPr>
          <p:cNvPr id="9" name="">
            <a:extLst xmlns:a="http://schemas.openxmlformats.org/drawingml/2006/main">
              <a:ext uri="{FF2B5EF4-FFF2-40B4-BE49-F238E27FC236}">
                <a16:creationId xmlns:a16="http://schemas.microsoft.com/office/drawing/2014/main" id="{26A70869-EB59-457E-8FFC-DDC35AD378C5}"/>
              </a:ext>
            </a:extLst>
          </p:cNvPr>
          <p:cNvCxnSpPr>
            <a:stCxn xmlns:a="http://schemas.openxmlformats.org/drawingml/2006/main" id="6" idx="3"/>
            <a:endCxn xmlns:a="http://schemas.openxmlformats.org/drawingml/2006/main" id="7" idx="1"/>
          </p:cNvCxnSpPr>
          <p:nvPr/>
        </p:nvCxnSpPr>
        <p:spPr>
          <a:xfrm xmlns:a="http://schemas.openxmlformats.org/drawingml/2006/main">
            <a:off x="7467600" y="4405313"/>
            <a:ext cx="1333500" cy="0"/>
          </a:xfrm>
          <a:prstGeom xmlns:a="http://schemas.openxmlformats.org/drawingml/2006/main" prst="straightConnector1">
            <a:avLst/>
          </a:prstGeom>
          <a:ln xmlns:a="http://schemas.openxmlformats.org/drawingml/2006/main" w="22860">
            <a:solidFill>
              <a:srgbClr val="315EF4"/>
            </a:solidFill>
            <a:tailEnd type="triangle" w="med" len="med"/>
          </a:ln>
        </p:spPr>
      </p:cxnSp>
      <p:cxnSp>
        <p:nvCxnSpPr>
          <p:cNvPr id="8" name="">
            <a:extLst xmlns:a="http://schemas.openxmlformats.org/drawingml/2006/main">
              <a:ext uri="{FF2B5EF4-FFF2-40B4-BE49-F238E27FC236}">
                <a16:creationId xmlns:a16="http://schemas.microsoft.com/office/drawing/2014/main" id="{74E9F619-8F88-440F-B96C-13231217FACB}"/>
              </a:ext>
            </a:extLst>
          </p:cNvPr>
          <p:cNvCxnSpPr>
            <a:stCxn xmlns:a="http://schemas.openxmlformats.org/drawingml/2006/main" id="5" idx="3"/>
            <a:endCxn xmlns:a="http://schemas.openxmlformats.org/drawingml/2006/main" id="6" idx="1"/>
          </p:cNvCxnSpPr>
          <p:nvPr/>
        </p:nvCxnSpPr>
        <p:spPr>
          <a:xfrm xmlns:a="http://schemas.openxmlformats.org/drawingml/2006/main">
            <a:off x="3371850" y="4405313"/>
            <a:ext cx="1333500" cy="0"/>
          </a:xfrm>
          <a:prstGeom xmlns:a="http://schemas.openxmlformats.org/drawingml/2006/main" prst="straightConnector1">
            <a:avLst/>
          </a:prstGeom>
          <a:ln xmlns:a="http://schemas.openxmlformats.org/drawingml/2006/main" w="22860">
            <a:solidFill>
              <a:srgbClr val="315EF4"/>
            </a:solidFill>
            <a:tailEnd type="triangle" w="med" len="med"/>
          </a:ln>
        </p:spPr>
      </p:cxnSp>
      <p:sp>
        <p:nvSpPr>
          <p:cNvPr id="15" name="">
            <a:extLst xmlns:a="http://schemas.openxmlformats.org/drawingml/2006/main">
              <a:ext uri="{FF2B5EF4-FFF2-40B4-BE49-F238E27FC236}">
                <a16:creationId xmlns:a16="http://schemas.microsoft.com/office/drawing/2014/main" id="{AE5AAA3E-9447-4AFB-92B7-08FFF129E08E}"/>
              </a:ext>
            </a:extLst>
          </p:cNvPr>
          <p:cNvSpPr>
            <a:spLocks xmlns:a="http://schemas.openxmlformats.org/drawingml/2006/main" noGrp="1"/>
          </p:cNvSpPr>
          <p:nvPr/>
        </p:nvSpPr>
        <p:spPr>
          <a:xfrm xmlns:a="http://schemas.openxmlformats.org/drawingml/2006/main">
            <a:off x="609600" y="4572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450" b="1">
                <a:solidFill>
                  <a:srgbClr val="FFFFFF"/>
                </a:solidFill>
                <a:latin typeface="Segoe UI"/>
                <a:ea typeface="Segoe UI"/>
                <a:cs typeface="Segoe UI"/>
              </a:defRPr>
            </a:defPPr>
          </a:lstStyle>
          <a:p xmlns:a="http://schemas.openxmlformats.org/drawingml/2006/main">
            <a:pPr>
              <a:defRPr sz="3450" b="1">
                <a:solidFill>
                  <a:srgbClr val="FFFFFF"/>
                </a:solidFill>
                <a:latin typeface="Segoe UI"/>
                <a:ea typeface="Segoe UI"/>
                <a:cs typeface="Segoe UI"/>
              </a:defRPr>
            </a:pPr>
            <a:r>
              <a:rPr sz="3450" b="1">
                <a:solidFill>
                  <a:srgbClr val="FFFFFF"/>
                </a:solidFill>
                <a:latin typeface="Segoe UI"/>
                <a:ea typeface="Segoe UI"/>
                <a:cs typeface="Segoe UI"/>
              </a:rPr>
              <a:t>Novelty and project contribution</a:t>
            </a:r>
          </a:p>
        </p:txBody>
      </p:sp>
      <p:sp>
        <p:nvSpPr>
          <p:cNvPr id="2" name="">
            <a:extLst xmlns:a="http://schemas.openxmlformats.org/drawingml/2006/main">
              <a:ext uri="{FF2B5EF4-FFF2-40B4-BE49-F238E27FC236}">
                <a16:creationId xmlns:a16="http://schemas.microsoft.com/office/drawing/2014/main" id="{D01CBE28-E974-45D6-91CB-52EF80268927}"/>
              </a:ext>
            </a:extLst>
          </p:cNvPr>
          <p:cNvSpPr>
            <a:spLocks xmlns:a="http://schemas.openxmlformats.org/drawingml/2006/main" noGrp="1"/>
          </p:cNvSpPr>
          <p:nvPr/>
        </p:nvSpPr>
        <p:spPr>
          <a:xfrm xmlns:a="http://schemas.openxmlformats.org/drawingml/2006/main">
            <a:off x="11049000" y="6391275"/>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BCC9E4"/>
                </a:solidFill>
                <a:latin typeface="Segoe UI"/>
                <a:ea typeface="Segoe UI"/>
                <a:cs typeface="Segoe UI"/>
              </a:defRPr>
            </a:defPPr>
          </a:lstStyle>
          <a:p xmlns:a="http://schemas.openxmlformats.org/drawingml/2006/main">
            <a:pPr>
              <a:defRPr sz="1200" b="0">
                <a:solidFill>
                  <a:srgbClr val="BCC9E4"/>
                </a:solidFill>
                <a:latin typeface="Segoe UI"/>
                <a:ea typeface="Segoe UI"/>
                <a:cs typeface="Segoe UI"/>
              </a:defRPr>
            </a:pPr>
            <a:r>
              <a:rPr sz="1200" b="0">
                <a:solidFill>
                  <a:srgbClr val="BCC9E4"/>
                </a:solidFill>
                <a:latin typeface="Segoe UI"/>
                <a:ea typeface="Segoe UI"/>
                <a:cs typeface="Segoe UI"/>
              </a:rPr>
              <a:t>06</a:t>
            </a:r>
          </a:p>
        </p:txBody>
      </p:sp>
      <p:sp>
        <p:nvSpPr>
          <p:cNvPr id="3" name="">
            <a:extLst xmlns:a="http://schemas.openxmlformats.org/drawingml/2006/main">
              <a:ext uri="{FF2B5EF4-FFF2-40B4-BE49-F238E27FC236}">
                <a16:creationId xmlns:a16="http://schemas.microsoft.com/office/drawing/2014/main" id="{FB032E96-292C-4E61-BD68-1A83CB7C117F}"/>
              </a:ext>
            </a:extLst>
          </p:cNvPr>
          <p:cNvSpPr>
            <a:spLocks xmlns:a="http://schemas.openxmlformats.org/drawingml/2006/main" noGrp="1"/>
          </p:cNvSpPr>
          <p:nvPr/>
        </p:nvSpPr>
        <p:spPr>
          <a:xfrm xmlns:a="http://schemas.openxmlformats.org/drawingml/2006/main">
            <a:off x="609600" y="1457325"/>
            <a:ext cx="109728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225" b="1">
                <a:solidFill>
                  <a:srgbClr val="FFFFFF"/>
                </a:solidFill>
                <a:latin typeface="Segoe UI"/>
                <a:ea typeface="Segoe UI"/>
                <a:cs typeface="Segoe UI"/>
              </a:defRPr>
            </a:defPPr>
          </a:lstStyle>
          <a:p xmlns:a="http://schemas.openxmlformats.org/drawingml/2006/main">
            <a:pPr>
              <a:defRPr sz="3225" b="1">
                <a:solidFill>
                  <a:srgbClr val="FFFFFF"/>
                </a:solidFill>
                <a:latin typeface="Segoe UI"/>
                <a:ea typeface="Segoe UI"/>
                <a:cs typeface="Segoe UI"/>
              </a:defRPr>
            </a:pPr>
            <a:r>
              <a:rPr sz="3225" b="1">
                <a:solidFill>
                  <a:srgbClr val="FFFFFF"/>
                </a:solidFill>
                <a:latin typeface="Segoe UI"/>
                <a:ea typeface="Segoe UI"/>
                <a:cs typeface="Segoe UI"/>
              </a:rPr>
              <a:t>A dedicated website for compiling</a:t>
            </a:r>
          </a:p>
          <a:p xmlns:a="http://schemas.openxmlformats.org/drawingml/2006/main">
            <a:pPr>
              <a:defRPr sz="3225" b="1">
                <a:solidFill>
                  <a:srgbClr val="FFFFFF"/>
                </a:solidFill>
                <a:latin typeface="Segoe UI"/>
                <a:ea typeface="Segoe UI"/>
                <a:cs typeface="Segoe UI"/>
              </a:defRPr>
            </a:pPr>
            <a:r>
              <a:rPr sz="3225" b="1">
                <a:solidFill>
                  <a:srgbClr val="FFFFFF"/>
                </a:solidFill>
                <a:latin typeface="Segoe UI"/>
                <a:ea typeface="Segoe UI"/>
                <a:cs typeface="Segoe UI"/>
              </a:rPr>
              <a:t>Lex/Yacc code and visualizing</a:t>
            </a:r>
          </a:p>
          <a:p xmlns:a="http://schemas.openxmlformats.org/drawingml/2006/main">
            <a:pPr>
              <a:defRPr sz="3225" b="1">
                <a:solidFill>
                  <a:srgbClr val="FFFFFF"/>
                </a:solidFill>
                <a:latin typeface="Segoe UI"/>
                <a:ea typeface="Segoe UI"/>
                <a:cs typeface="Segoe UI"/>
              </a:defRPr>
            </a:pPr>
            <a:r>
              <a:rPr sz="3225" b="1">
                <a:solidFill>
                  <a:srgbClr val="FFFFFF"/>
                </a:solidFill>
                <a:latin typeface="Segoe UI"/>
                <a:ea typeface="Segoe UI"/>
                <a:cs typeface="Segoe UI"/>
              </a:rPr>
              <a:t>compiler concepts.</a:t>
            </a:r>
          </a:p>
        </p:txBody>
      </p:sp>
      <p:sp>
        <p:nvSpPr>
          <p:cNvPr id="4" name="">
            <a:extLst xmlns:a="http://schemas.openxmlformats.org/drawingml/2006/main">
              <a:ext uri="{FF2B5EF4-FFF2-40B4-BE49-F238E27FC236}">
                <a16:creationId xmlns:a16="http://schemas.microsoft.com/office/drawing/2014/main" id="{9367A1FF-B0EE-4571-A9CD-11D310B23680}"/>
              </a:ext>
            </a:extLst>
          </p:cNvPr>
          <p:cNvSpPr>
            <a:spLocks xmlns:a="http://schemas.openxmlformats.org/drawingml/2006/main" noGrp="1"/>
          </p:cNvSpPr>
          <p:nvPr/>
        </p:nvSpPr>
        <p:spPr>
          <a:xfrm xmlns:a="http://schemas.openxmlformats.org/drawingml/2006/main">
            <a:off x="609600" y="3114675"/>
            <a:ext cx="109728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BCC9E4"/>
                </a:solidFill>
                <a:latin typeface="Segoe UI"/>
                <a:ea typeface="Segoe UI"/>
                <a:cs typeface="Segoe UI"/>
              </a:defRPr>
            </a:defPPr>
          </a:lstStyle>
          <a:p xmlns:a="http://schemas.openxmlformats.org/drawingml/2006/main">
            <a:pPr>
              <a:defRPr sz="1875" b="0">
                <a:solidFill>
                  <a:srgbClr val="BCC9E4"/>
                </a:solidFill>
                <a:latin typeface="Segoe UI"/>
                <a:ea typeface="Segoe UI"/>
                <a:cs typeface="Segoe UI"/>
              </a:defRPr>
            </a:pPr>
            <a:r>
              <a:rPr sz="1875" b="0">
                <a:solidFill>
                  <a:srgbClr val="BCC9E4"/>
                </a:solidFill>
                <a:latin typeface="Segoe UI"/>
                <a:ea typeface="Segoe UI"/>
                <a:cs typeface="Segoe UI"/>
              </a:rPr>
              <a:t>Lexora brings specification editing, real tool execution, and educational analysis into one workspace.</a:t>
            </a:r>
          </a:p>
        </p:txBody>
      </p:sp>
      <p:sp>
        <p:nvSpPr>
          <p:cNvPr id="5" name="">
            <a:extLst xmlns:a="http://schemas.openxmlformats.org/drawingml/2006/main">
              <a:ext uri="{FF2B5EF4-FFF2-40B4-BE49-F238E27FC236}">
                <a16:creationId xmlns:a16="http://schemas.microsoft.com/office/drawing/2014/main" id="{2F233E72-E87C-4059-9AD1-323E3E90FDA8}"/>
              </a:ext>
            </a:extLst>
          </p:cNvPr>
          <p:cNvSpPr>
            <a:spLocks xmlns:a="http://schemas.openxmlformats.org/drawingml/2006/main" noGrp="1"/>
          </p:cNvSpPr>
          <p:nvPr/>
        </p:nvSpPr>
        <p:spPr>
          <a:xfrm xmlns:a="http://schemas.openxmlformats.org/drawingml/2006/main">
            <a:off x="609600" y="4010025"/>
            <a:ext cx="2762250" cy="790575"/>
          </a:xfrm>
          <a:prstGeom xmlns:a="http://schemas.openxmlformats.org/drawingml/2006/main" prst="rect">
            <a:avLst/>
          </a:prstGeom>
          <a:solidFill xmlns:a="http://schemas.openxmlformats.org/drawingml/2006/main">
            <a:srgbClr val="FFFFFF"/>
          </a:solidFill>
          <a:ln xmlns:a="http://schemas.openxmlformats.org/drawingml/2006/main" w="12383">
            <a:solidFill>
              <a:srgbClr val="DAE1EF"/>
            </a:solidFill>
          </a:ln>
        </p:spPr>
        <p:txBody>
          <a:bodyPr xmlns:a="http://schemas.openxmlformats.org/drawingml/2006/main" anchor="ctr">
            <a:noAutofit/>
          </a:bodyPr>
          <a:lstStyle xmlns:a="http://schemas.openxmlformats.org/drawingml/2006/main">
            <a:defPPr algn="ctr">
              <a:defRPr sz="1875" b="1">
                <a:solidFill>
                  <a:srgbClr val="18253E"/>
                </a:solidFill>
                <a:latin typeface="Segoe UI"/>
                <a:ea typeface="Segoe UI"/>
                <a:cs typeface="Segoe UI"/>
              </a:defRPr>
            </a:defPPr>
          </a:lstStyle>
          <a:p xmlns:a="http://schemas.openxmlformats.org/drawingml/2006/main">
            <a:pPr algn="ctr">
              <a:defRPr sz="1875" b="1">
                <a:solidFill>
                  <a:srgbClr val="18253E"/>
                </a:solidFill>
                <a:latin typeface="Segoe UI"/>
                <a:ea typeface="Segoe UI"/>
                <a:cs typeface="Segoe UI"/>
              </a:defRPr>
            </a:pPr>
            <a:r>
              <a:rPr sz="1875" b="1">
                <a:solidFill>
                  <a:srgbClr val="18253E"/>
                </a:solidFill>
                <a:latin typeface="Segoe UI"/>
                <a:ea typeface="Segoe UI"/>
                <a:cs typeface="Segoe UI"/>
              </a:rPr>
              <a:t>Selected .l / .y files</a:t>
            </a:r>
          </a:p>
        </p:txBody>
      </p:sp>
      <p:sp>
        <p:nvSpPr>
          <p:cNvPr id="6" name="">
            <a:extLst xmlns:a="http://schemas.openxmlformats.org/drawingml/2006/main">
              <a:ext uri="{FF2B5EF4-FFF2-40B4-BE49-F238E27FC236}">
                <a16:creationId xmlns:a16="http://schemas.microsoft.com/office/drawing/2014/main" id="{B4C3E553-D11E-4DD3-9F0C-F9D3491B7E08}"/>
              </a:ext>
            </a:extLst>
          </p:cNvPr>
          <p:cNvSpPr>
            <a:spLocks xmlns:a="http://schemas.openxmlformats.org/drawingml/2006/main" noGrp="1"/>
          </p:cNvSpPr>
          <p:nvPr/>
        </p:nvSpPr>
        <p:spPr>
          <a:xfrm xmlns:a="http://schemas.openxmlformats.org/drawingml/2006/main">
            <a:off x="4705350" y="4010025"/>
            <a:ext cx="2762250" cy="790575"/>
          </a:xfrm>
          <a:prstGeom xmlns:a="http://schemas.openxmlformats.org/drawingml/2006/main" prst="rect">
            <a:avLst/>
          </a:prstGeom>
          <a:solidFill xmlns:a="http://schemas.openxmlformats.org/drawingml/2006/main">
            <a:srgbClr val="315EF4"/>
          </a:solidFill>
          <a:ln xmlns:a="http://schemas.openxmlformats.org/drawingml/2006/main" w="12383">
            <a:solidFill>
              <a:srgbClr val="315EF4"/>
            </a:solidFill>
          </a:ln>
        </p:spPr>
        <p:txBody>
          <a:bodyPr xmlns:a="http://schemas.openxmlformats.org/drawingml/2006/main" anchor="ctr">
            <a:noAutofit/>
          </a:bodyPr>
          <a:lstStyle xmlns:a="http://schemas.openxmlformats.org/drawingml/2006/main">
            <a:defPPr algn="ctr">
              <a:defRPr sz="1875" b="1">
                <a:solidFill>
                  <a:srgbClr val="FFFFFF"/>
                </a:solidFill>
                <a:latin typeface="Segoe UI"/>
                <a:ea typeface="Segoe UI"/>
                <a:cs typeface="Segoe UI"/>
              </a:defRPr>
            </a:defPPr>
          </a:lstStyle>
          <a:p xmlns:a="http://schemas.openxmlformats.org/drawingml/2006/main">
            <a:pPr algn="ctr">
              <a:defRPr sz="1875" b="1">
                <a:solidFill>
                  <a:srgbClr val="FFFFFF"/>
                </a:solidFill>
                <a:latin typeface="Segoe UI"/>
                <a:ea typeface="Segoe UI"/>
                <a:cs typeface="Segoe UI"/>
              </a:defRPr>
            </a:pPr>
            <a:r>
              <a:rPr sz="1875" b="1">
                <a:solidFill>
                  <a:srgbClr val="FFFFFF"/>
                </a:solidFill>
                <a:latin typeface="Segoe UI"/>
                <a:ea typeface="Segoe UI"/>
                <a:cs typeface="Segoe UI"/>
              </a:rPr>
              <a:t>Flex + Bison + GCC</a:t>
            </a:r>
          </a:p>
        </p:txBody>
      </p:sp>
      <p:sp>
        <p:nvSpPr>
          <p:cNvPr id="7" name="">
            <a:extLst xmlns:a="http://schemas.openxmlformats.org/drawingml/2006/main">
              <a:ext uri="{FF2B5EF4-FFF2-40B4-BE49-F238E27FC236}">
                <a16:creationId xmlns:a16="http://schemas.microsoft.com/office/drawing/2014/main" id="{90CC4A84-0176-4F25-B3CA-3993EFA33638}"/>
              </a:ext>
            </a:extLst>
          </p:cNvPr>
          <p:cNvSpPr>
            <a:spLocks xmlns:a="http://schemas.openxmlformats.org/drawingml/2006/main" noGrp="1"/>
          </p:cNvSpPr>
          <p:nvPr/>
        </p:nvSpPr>
        <p:spPr>
          <a:xfrm xmlns:a="http://schemas.openxmlformats.org/drawingml/2006/main">
            <a:off x="8801100" y="4010025"/>
            <a:ext cx="2762250" cy="790575"/>
          </a:xfrm>
          <a:prstGeom xmlns:a="http://schemas.openxmlformats.org/drawingml/2006/main" prst="rect">
            <a:avLst/>
          </a:prstGeom>
          <a:solidFill xmlns:a="http://schemas.openxmlformats.org/drawingml/2006/main">
            <a:srgbClr val="FFFFFF"/>
          </a:solidFill>
          <a:ln xmlns:a="http://schemas.openxmlformats.org/drawingml/2006/main" w="12383">
            <a:solidFill>
              <a:srgbClr val="DAE1EF"/>
            </a:solidFill>
          </a:ln>
        </p:spPr>
        <p:txBody>
          <a:bodyPr xmlns:a="http://schemas.openxmlformats.org/drawingml/2006/main" anchor="ctr">
            <a:noAutofit/>
          </a:bodyPr>
          <a:lstStyle xmlns:a="http://schemas.openxmlformats.org/drawingml/2006/main">
            <a:defPPr algn="ctr">
              <a:defRPr sz="1875" b="1">
                <a:solidFill>
                  <a:srgbClr val="18253E"/>
                </a:solidFill>
                <a:latin typeface="Segoe UI"/>
                <a:ea typeface="Segoe UI"/>
                <a:cs typeface="Segoe UI"/>
              </a:defRPr>
            </a:defPPr>
          </a:lstStyle>
          <a:p xmlns:a="http://schemas.openxmlformats.org/drawingml/2006/main">
            <a:pPr algn="ctr">
              <a:defRPr sz="1875" b="1">
                <a:solidFill>
                  <a:srgbClr val="18253E"/>
                </a:solidFill>
                <a:latin typeface="Segoe UI"/>
                <a:ea typeface="Segoe UI"/>
                <a:cs typeface="Segoe UI"/>
              </a:defRPr>
            </a:pPr>
            <a:r>
              <a:rPr sz="1875" b="1">
                <a:solidFill>
                  <a:srgbClr val="18253E"/>
                </a:solidFill>
                <a:latin typeface="Segoe UI"/>
                <a:ea typeface="Segoe UI"/>
                <a:cs typeface="Segoe UI"/>
              </a:rPr>
              <a:t>Native output</a:t>
            </a:r>
          </a:p>
        </p:txBody>
      </p:sp>
      <p:sp>
        <p:nvSpPr>
          <p:cNvPr id="10" name="">
            <a:extLst xmlns:a="http://schemas.openxmlformats.org/drawingml/2006/main">
              <a:ext uri="{FF2B5EF4-FFF2-40B4-BE49-F238E27FC236}">
                <a16:creationId xmlns:a16="http://schemas.microsoft.com/office/drawing/2014/main" id="{7B6AB828-9440-4BEE-8DAD-73C6FBD1D856}"/>
              </a:ext>
            </a:extLst>
          </p:cNvPr>
          <p:cNvSpPr>
            <a:spLocks xmlns:a="http://schemas.openxmlformats.org/drawingml/2006/main" noGrp="1"/>
          </p:cNvSpPr>
          <p:nvPr/>
        </p:nvSpPr>
        <p:spPr>
          <a:xfrm xmlns:a="http://schemas.openxmlformats.org/drawingml/2006/main">
            <a:off x="609600" y="5286375"/>
            <a:ext cx="2762250" cy="790575"/>
          </a:xfrm>
          <a:prstGeom xmlns:a="http://schemas.openxmlformats.org/drawingml/2006/main" prst="rect">
            <a:avLst/>
          </a:prstGeom>
          <a:solidFill xmlns:a="http://schemas.openxmlformats.org/drawingml/2006/main">
            <a:srgbClr val="FFFFFF"/>
          </a:solidFill>
          <a:ln xmlns:a="http://schemas.openxmlformats.org/drawingml/2006/main" w="12383">
            <a:solidFill>
              <a:srgbClr val="DAE1EF"/>
            </a:solidFill>
          </a:ln>
        </p:spPr>
        <p:txBody>
          <a:bodyPr xmlns:a="http://schemas.openxmlformats.org/drawingml/2006/main" anchor="ctr">
            <a:noAutofit/>
          </a:bodyPr>
          <a:lstStyle xmlns:a="http://schemas.openxmlformats.org/drawingml/2006/main">
            <a:defPPr algn="ctr">
              <a:defRPr sz="1875" b="1">
                <a:solidFill>
                  <a:srgbClr val="18253E"/>
                </a:solidFill>
                <a:latin typeface="Segoe UI"/>
                <a:ea typeface="Segoe UI"/>
                <a:cs typeface="Segoe UI"/>
              </a:defRPr>
            </a:defPPr>
          </a:lstStyle>
          <a:p xmlns:a="http://schemas.openxmlformats.org/drawingml/2006/main">
            <a:pPr algn="ctr">
              <a:defRPr sz="1875" b="1">
                <a:solidFill>
                  <a:srgbClr val="18253E"/>
                </a:solidFill>
                <a:latin typeface="Segoe UI"/>
                <a:ea typeface="Segoe UI"/>
                <a:cs typeface="Segoe UI"/>
              </a:defRPr>
            </a:pPr>
            <a:r>
              <a:rPr sz="1875" b="1">
                <a:solidFill>
                  <a:srgbClr val="18253E"/>
                </a:solidFill>
                <a:latin typeface="Segoe UI"/>
                <a:ea typeface="Segoe UI"/>
                <a:cs typeface="Segoe UI"/>
              </a:rPr>
              <a:t>Program input</a:t>
            </a:r>
          </a:p>
        </p:txBody>
      </p:sp>
      <p:sp>
        <p:nvSpPr>
          <p:cNvPr id="11" name="">
            <a:extLst xmlns:a="http://schemas.openxmlformats.org/drawingml/2006/main">
              <a:ext uri="{FF2B5EF4-FFF2-40B4-BE49-F238E27FC236}">
                <a16:creationId xmlns:a16="http://schemas.microsoft.com/office/drawing/2014/main" id="{99E4B7D4-9B6D-4138-9461-89BA367CF804}"/>
              </a:ext>
            </a:extLst>
          </p:cNvPr>
          <p:cNvSpPr>
            <a:spLocks xmlns:a="http://schemas.openxmlformats.org/drawingml/2006/main" noGrp="1"/>
          </p:cNvSpPr>
          <p:nvPr/>
        </p:nvSpPr>
        <p:spPr>
          <a:xfrm xmlns:a="http://schemas.openxmlformats.org/drawingml/2006/main">
            <a:off x="4705350" y="5286375"/>
            <a:ext cx="2762250" cy="790575"/>
          </a:xfrm>
          <a:prstGeom xmlns:a="http://schemas.openxmlformats.org/drawingml/2006/main" prst="rect">
            <a:avLst/>
          </a:prstGeom>
          <a:solidFill xmlns:a="http://schemas.openxmlformats.org/drawingml/2006/main">
            <a:srgbClr val="315EF4"/>
          </a:solidFill>
          <a:ln xmlns:a="http://schemas.openxmlformats.org/drawingml/2006/main" w="12383">
            <a:solidFill>
              <a:srgbClr val="315EF4"/>
            </a:solidFill>
          </a:ln>
        </p:spPr>
        <p:txBody>
          <a:bodyPr xmlns:a="http://schemas.openxmlformats.org/drawingml/2006/main" anchor="ctr">
            <a:noAutofit/>
          </a:bodyPr>
          <a:lstStyle xmlns:a="http://schemas.openxmlformats.org/drawingml/2006/main">
            <a:defPPr algn="ctr">
              <a:defRPr sz="1875" b="1">
                <a:solidFill>
                  <a:srgbClr val="FFFFFF"/>
                </a:solidFill>
                <a:latin typeface="Segoe UI"/>
                <a:ea typeface="Segoe UI"/>
                <a:cs typeface="Segoe UI"/>
              </a:defRPr>
            </a:defPPr>
          </a:lstStyle>
          <a:p xmlns:a="http://schemas.openxmlformats.org/drawingml/2006/main">
            <a:pPr algn="ctr">
              <a:defRPr sz="1875" b="1">
                <a:solidFill>
                  <a:srgbClr val="FFFFFF"/>
                </a:solidFill>
                <a:latin typeface="Segoe UI"/>
                <a:ea typeface="Segoe UI"/>
                <a:cs typeface="Segoe UI"/>
              </a:defRPr>
            </a:pPr>
            <a:r>
              <a:rPr sz="1875" b="1">
                <a:solidFill>
                  <a:srgbClr val="FFFFFF"/>
                </a:solidFill>
                <a:latin typeface="Segoe UI"/>
                <a:ea typeface="Segoe UI"/>
                <a:cs typeface="Segoe UI"/>
              </a:rPr>
              <a:t>Built-in analyzer</a:t>
            </a:r>
          </a:p>
        </p:txBody>
      </p:sp>
      <p:sp>
        <p:nvSpPr>
          <p:cNvPr id="12" name="">
            <a:extLst xmlns:a="http://schemas.openxmlformats.org/drawingml/2006/main">
              <a:ext uri="{FF2B5EF4-FFF2-40B4-BE49-F238E27FC236}">
                <a16:creationId xmlns:a16="http://schemas.microsoft.com/office/drawing/2014/main" id="{26230516-C57E-44BB-9F51-FBD68716A9DE}"/>
              </a:ext>
            </a:extLst>
          </p:cNvPr>
          <p:cNvSpPr>
            <a:spLocks xmlns:a="http://schemas.openxmlformats.org/drawingml/2006/main" noGrp="1"/>
          </p:cNvSpPr>
          <p:nvPr/>
        </p:nvSpPr>
        <p:spPr>
          <a:xfrm xmlns:a="http://schemas.openxmlformats.org/drawingml/2006/main">
            <a:off x="8801100" y="5286375"/>
            <a:ext cx="2762250" cy="790575"/>
          </a:xfrm>
          <a:prstGeom xmlns:a="http://schemas.openxmlformats.org/drawingml/2006/main" prst="rect">
            <a:avLst/>
          </a:prstGeom>
          <a:solidFill xmlns:a="http://schemas.openxmlformats.org/drawingml/2006/main">
            <a:srgbClr val="FFFFFF"/>
          </a:solidFill>
          <a:ln xmlns:a="http://schemas.openxmlformats.org/drawingml/2006/main" w="12383">
            <a:solidFill>
              <a:srgbClr val="DAE1EF"/>
            </a:solidFill>
          </a:ln>
        </p:spPr>
        <p:txBody>
          <a:bodyPr xmlns:a="http://schemas.openxmlformats.org/drawingml/2006/main" anchor="ctr">
            <a:noAutofit/>
          </a:bodyPr>
          <a:lstStyle xmlns:a="http://schemas.openxmlformats.org/drawingml/2006/main">
            <a:defPPr algn="ctr">
              <a:defRPr sz="1875" b="1">
                <a:solidFill>
                  <a:srgbClr val="18253E"/>
                </a:solidFill>
                <a:latin typeface="Segoe UI"/>
                <a:ea typeface="Segoe UI"/>
                <a:cs typeface="Segoe UI"/>
              </a:defRPr>
            </a:defPPr>
          </a:lstStyle>
          <a:p xmlns:a="http://schemas.openxmlformats.org/drawingml/2006/main">
            <a:pPr algn="ctr">
              <a:defRPr sz="1875" b="1">
                <a:solidFill>
                  <a:srgbClr val="18253E"/>
                </a:solidFill>
                <a:latin typeface="Segoe UI"/>
                <a:ea typeface="Segoe UI"/>
                <a:cs typeface="Segoe UI"/>
              </a:defRPr>
            </a:pPr>
            <a:r>
              <a:rPr sz="1875" b="1">
                <a:solidFill>
                  <a:srgbClr val="18253E"/>
                </a:solidFill>
                <a:latin typeface="Segoe UI"/>
                <a:ea typeface="Segoe UI"/>
                <a:cs typeface="Segoe UI"/>
              </a:rPr>
              <a:t>Educational views</a:t>
            </a:r>
          </a:p>
        </p:txBody>
      </p:sp>
    </p:spTree>
    <p:extLst>
      <p:ext uri="{BB962C8B-B14F-4D97-AF65-F5344CB8AC3E}">
        <p14:creationId xmlns:p14="http://schemas.microsoft.com/office/powerpoint/2010/main" val="82252825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7BCD76B-8C8B-4C57-BF19-E30039AE8C14}"/>
              </a:ext>
            </a:extLst>
          </p:cNvPr>
          <p:cNvSpPr>
            <a:spLocks xmlns:a="http://schemas.openxmlformats.org/drawingml/2006/main" noGrp="1"/>
          </p:cNvSpPr>
          <p:nvPr/>
        </p:nvSpPr>
        <p:spPr>
          <a:xfrm xmlns:a="http://schemas.openxmlformats.org/drawingml/2006/main">
            <a:off x="609600" y="4572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450" b="1">
                <a:solidFill>
                  <a:srgbClr val="18253E"/>
                </a:solidFill>
                <a:latin typeface="Segoe UI"/>
                <a:ea typeface="Segoe UI"/>
                <a:cs typeface="Segoe UI"/>
              </a:defRPr>
            </a:defPPr>
          </a:lstStyle>
          <a:p xmlns:a="http://schemas.openxmlformats.org/drawingml/2006/main">
            <a:pPr>
              <a:defRPr sz="3450" b="1">
                <a:solidFill>
                  <a:srgbClr val="18253E"/>
                </a:solidFill>
                <a:latin typeface="Segoe UI"/>
                <a:ea typeface="Segoe UI"/>
                <a:cs typeface="Segoe UI"/>
              </a:defRPr>
            </a:pPr>
            <a:r>
              <a:rPr sz="3450" b="1">
                <a:solidFill>
                  <a:srgbClr val="18253E"/>
                </a:solidFill>
                <a:latin typeface="Segoe UI"/>
                <a:ea typeface="Segoe UI"/>
                <a:cs typeface="Segoe UI"/>
              </a:rPr>
              <a:t>The Lexora workspace</a:t>
            </a:r>
          </a:p>
        </p:txBody>
      </p:sp>
      <p:sp>
        <p:nvSpPr>
          <p:cNvPr id="2" name="">
            <a:extLst xmlns:a="http://schemas.openxmlformats.org/drawingml/2006/main">
              <a:ext uri="{FF2B5EF4-FFF2-40B4-BE49-F238E27FC236}">
                <a16:creationId xmlns:a16="http://schemas.microsoft.com/office/drawing/2014/main" id="{B9F5FA11-DD2C-44E7-9596-9ED833E6EDD2}"/>
              </a:ext>
            </a:extLst>
          </p:cNvPr>
          <p:cNvSpPr>
            <a:spLocks xmlns:a="http://schemas.openxmlformats.org/drawingml/2006/main" noGrp="1"/>
          </p:cNvSpPr>
          <p:nvPr/>
        </p:nvSpPr>
        <p:spPr>
          <a:xfrm xmlns:a="http://schemas.openxmlformats.org/drawingml/2006/main">
            <a:off x="11049000" y="6391275"/>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59667C"/>
                </a:solidFill>
                <a:latin typeface="Segoe UI"/>
                <a:ea typeface="Segoe UI"/>
                <a:cs typeface="Segoe UI"/>
              </a:defRPr>
            </a:defPPr>
          </a:lstStyle>
          <a:p xmlns:a="http://schemas.openxmlformats.org/drawingml/2006/main">
            <a:pPr>
              <a:defRPr sz="1200" b="0">
                <a:solidFill>
                  <a:srgbClr val="59667C"/>
                </a:solidFill>
                <a:latin typeface="Segoe UI"/>
                <a:ea typeface="Segoe UI"/>
                <a:cs typeface="Segoe UI"/>
              </a:defRPr>
            </a:pPr>
            <a:r>
              <a:rPr sz="1200" b="0">
                <a:solidFill>
                  <a:srgbClr val="59667C"/>
                </a:solidFill>
                <a:latin typeface="Segoe UI"/>
                <a:ea typeface="Segoe UI"/>
                <a:cs typeface="Segoe UI"/>
              </a:rPr>
              <a:t>07</a:t>
            </a:r>
          </a:p>
        </p:txBody>
      </p:sp>
      <p:pic>
        <p:nvPicPr>
          <p:cNvPr id="3" name="">
            <a:extLst xmlns:a="http://schemas.openxmlformats.org/drawingml/2006/main">
              <a:ext uri="{FF2B5EF4-FFF2-40B4-BE49-F238E27FC236}">
                <a16:creationId xmlns:a16="http://schemas.microsoft.com/office/drawing/2014/main" id="{88CC838A-5E7A-4349-971A-803F30291AC8}"/>
              </a:ext>
            </a:extLst>
          </p:cNvPr>
          <p:cNvPicPr>
            <a:picLocks xmlns:a="http://schemas.openxmlformats.org/drawingml/2006/main" noChangeAspect="1"/>
          </p:cNvPicPr>
          <p:nvPr/>
        </p:nvPicPr>
        <p:blipFill>
          <a:blip xmlns:r="http://schemas.openxmlformats.org/officeDocument/2006/relationships" xmlns:a="http://schemas.openxmlformats.org/drawingml/2006/main" r:embed="Rb3477aded23548f1"/>
          <a:stretch xmlns:a="http://schemas.openxmlformats.org/drawingml/2006/main"/>
        </p:blipFill>
        <p:spPr>
          <a:xfrm xmlns:a="http://schemas.openxmlformats.org/drawingml/2006/main">
            <a:off x="609600" y="1657350"/>
            <a:ext cx="8077200" cy="45434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0FDB5975-F808-40E7-B36E-3844C9E619BE}"/>
              </a:ext>
            </a:extLst>
          </p:cNvPr>
          <p:cNvSpPr>
            <a:spLocks xmlns:a="http://schemas.openxmlformats.org/drawingml/2006/main" noGrp="1"/>
          </p:cNvSpPr>
          <p:nvPr/>
        </p:nvSpPr>
        <p:spPr>
          <a:xfrm xmlns:a="http://schemas.openxmlformats.org/drawingml/2006/main">
            <a:off x="9067800" y="1895475"/>
            <a:ext cx="24955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315EF4"/>
                </a:solidFill>
                <a:latin typeface="Segoe UI"/>
                <a:ea typeface="Segoe UI"/>
                <a:cs typeface="Segoe UI"/>
              </a:defRPr>
            </a:defPPr>
          </a:lstStyle>
          <a:p xmlns:a="http://schemas.openxmlformats.org/drawingml/2006/main">
            <a:pPr>
              <a:defRPr sz="2025" b="1">
                <a:solidFill>
                  <a:srgbClr val="315EF4"/>
                </a:solidFill>
                <a:latin typeface="Segoe UI"/>
                <a:ea typeface="Segoe UI"/>
                <a:cs typeface="Segoe UI"/>
              </a:defRPr>
            </a:pPr>
            <a:r>
              <a:rPr sz="2025" b="1">
                <a:solidFill>
                  <a:srgbClr val="315EF4"/>
                </a:solidFill>
                <a:latin typeface="Segoe UI"/>
                <a:ea typeface="Segoe UI"/>
                <a:cs typeface="Segoe UI"/>
              </a:rPr>
              <a:t>Source editing</a:t>
            </a:r>
          </a:p>
        </p:txBody>
      </p:sp>
      <p:sp>
        <p:nvSpPr>
          <p:cNvPr id="5" name="">
            <a:extLst xmlns:a="http://schemas.openxmlformats.org/drawingml/2006/main">
              <a:ext uri="{FF2B5EF4-FFF2-40B4-BE49-F238E27FC236}">
                <a16:creationId xmlns:a16="http://schemas.microsoft.com/office/drawing/2014/main" id="{B7DC9C6F-D0D1-4814-BB31-75C8C95E650B}"/>
              </a:ext>
            </a:extLst>
          </p:cNvPr>
          <p:cNvSpPr>
            <a:spLocks xmlns:a="http://schemas.openxmlformats.org/drawingml/2006/main" noGrp="1"/>
          </p:cNvSpPr>
          <p:nvPr/>
        </p:nvSpPr>
        <p:spPr>
          <a:xfrm xmlns:a="http://schemas.openxmlformats.org/drawingml/2006/main">
            <a:off x="9067800" y="2600325"/>
            <a:ext cx="24955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59667C"/>
                </a:solidFill>
                <a:latin typeface="Segoe UI"/>
                <a:ea typeface="Segoe UI"/>
                <a:cs typeface="Segoe UI"/>
              </a:defRPr>
            </a:defPPr>
          </a:lstStyle>
          <a:p xmlns:a="http://schemas.openxmlformats.org/drawingml/2006/main">
            <a:pPr>
              <a:defRPr sz="1875" b="0">
                <a:solidFill>
                  <a:srgbClr val="59667C"/>
                </a:solidFill>
                <a:latin typeface="Segoe UI"/>
                <a:ea typeface="Segoe UI"/>
                <a:cs typeface="Segoe UI"/>
              </a:defRPr>
            </a:pPr>
            <a:r>
              <a:rPr sz="1875" b="0">
                <a:solidFill>
                  <a:srgbClr val="59667C"/>
                </a:solidFill>
                <a:latin typeface="Segoe UI"/>
                <a:ea typeface="Segoe UI"/>
                <a:cs typeface="Segoe UI"/>
              </a:rPr>
              <a:t>The editor holds the selected lexer or parser specification.</a:t>
            </a:r>
          </a:p>
        </p:txBody>
      </p:sp>
      <p:sp>
        <p:nvSpPr>
          <p:cNvPr id="6" name="">
            <a:extLst xmlns:a="http://schemas.openxmlformats.org/drawingml/2006/main">
              <a:ext uri="{FF2B5EF4-FFF2-40B4-BE49-F238E27FC236}">
                <a16:creationId xmlns:a16="http://schemas.microsoft.com/office/drawing/2014/main" id="{891E9CDF-6024-45FE-9294-E8C63E88ED36}"/>
              </a:ext>
            </a:extLst>
          </p:cNvPr>
          <p:cNvSpPr>
            <a:spLocks xmlns:a="http://schemas.openxmlformats.org/drawingml/2006/main" noGrp="1"/>
          </p:cNvSpPr>
          <p:nvPr/>
        </p:nvSpPr>
        <p:spPr>
          <a:xfrm xmlns:a="http://schemas.openxmlformats.org/drawingml/2006/main">
            <a:off x="9067800" y="4257675"/>
            <a:ext cx="24955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315EF4"/>
                </a:solidFill>
                <a:latin typeface="Segoe UI"/>
                <a:ea typeface="Segoe UI"/>
                <a:cs typeface="Segoe UI"/>
              </a:defRPr>
            </a:defPPr>
          </a:lstStyle>
          <a:p xmlns:a="http://schemas.openxmlformats.org/drawingml/2006/main">
            <a:pPr>
              <a:defRPr sz="2025" b="1">
                <a:solidFill>
                  <a:srgbClr val="315EF4"/>
                </a:solidFill>
                <a:latin typeface="Segoe UI"/>
                <a:ea typeface="Segoe UI"/>
                <a:cs typeface="Segoe UI"/>
              </a:defRPr>
            </a:pPr>
            <a:r>
              <a:rPr sz="2025" b="1">
                <a:solidFill>
                  <a:srgbClr val="315EF4"/>
                </a:solidFill>
                <a:latin typeface="Segoe UI"/>
                <a:ea typeface="Segoe UI"/>
                <a:cs typeface="Segoe UI"/>
              </a:rPr>
              <a:t>Analysis views</a:t>
            </a:r>
          </a:p>
        </p:txBody>
      </p:sp>
      <p:sp>
        <p:nvSpPr>
          <p:cNvPr id="7" name="">
            <a:extLst xmlns:a="http://schemas.openxmlformats.org/drawingml/2006/main">
              <a:ext uri="{FF2B5EF4-FFF2-40B4-BE49-F238E27FC236}">
                <a16:creationId xmlns:a16="http://schemas.microsoft.com/office/drawing/2014/main" id="{C24F07A6-480D-4A13-A551-338E54ED1C9A}"/>
              </a:ext>
            </a:extLst>
          </p:cNvPr>
          <p:cNvSpPr>
            <a:spLocks xmlns:a="http://schemas.openxmlformats.org/drawingml/2006/main" noGrp="1"/>
          </p:cNvSpPr>
          <p:nvPr/>
        </p:nvSpPr>
        <p:spPr>
          <a:xfrm xmlns:a="http://schemas.openxmlformats.org/drawingml/2006/main">
            <a:off x="9067800" y="4962525"/>
            <a:ext cx="249555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59667C"/>
                </a:solidFill>
                <a:latin typeface="Segoe UI"/>
                <a:ea typeface="Segoe UI"/>
                <a:cs typeface="Segoe UI"/>
              </a:defRPr>
            </a:defPPr>
          </a:lstStyle>
          <a:p xmlns:a="http://schemas.openxmlformats.org/drawingml/2006/main">
            <a:pPr>
              <a:defRPr sz="1875" b="0">
                <a:solidFill>
                  <a:srgbClr val="59667C"/>
                </a:solidFill>
                <a:latin typeface="Segoe UI"/>
                <a:ea typeface="Segoe UI"/>
                <a:cs typeface="Segoe UI"/>
              </a:defRPr>
            </a:pPr>
            <a:r>
              <a:rPr sz="1875" b="0">
                <a:solidFill>
                  <a:srgbClr val="59667C"/>
                </a:solidFill>
                <a:latin typeface="Segoe UI"/>
                <a:ea typeface="Segoe UI"/>
                <a:cs typeface="Segoe UI"/>
              </a:rPr>
              <a:t>The token table records each lexeme and its position in the input.</a:t>
            </a:r>
          </a:p>
        </p:txBody>
      </p:sp>
    </p:spTree>
    <p:extLst>
      <p:ext uri="{BB962C8B-B14F-4D97-AF65-F5344CB8AC3E}">
        <p14:creationId xmlns:p14="http://schemas.microsoft.com/office/powerpoint/2010/main" val="1203453097"/>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4" name="">
            <a:extLst xmlns:a="http://schemas.openxmlformats.org/drawingml/2006/main">
              <a:ext uri="{FF2B5EF4-FFF2-40B4-BE49-F238E27FC236}">
                <a16:creationId xmlns:a16="http://schemas.microsoft.com/office/drawing/2014/main" id="{494C5297-0E81-4F8D-A2C3-2C0928E9E538}"/>
              </a:ext>
            </a:extLst>
          </p:cNvPr>
          <p:cNvCxnSpPr>
            <a:stCxn xmlns:a="http://schemas.openxmlformats.org/drawingml/2006/main" id="5" idx="2"/>
            <a:endCxn xmlns:a="http://schemas.openxmlformats.org/drawingml/2006/main" id="11" idx="0"/>
          </p:cNvCxnSpPr>
          <p:nvPr/>
        </p:nvCxnSpPr>
        <p:spPr>
          <a:xfrm xmlns:a="http://schemas.openxmlformats.org/drawingml/2006/main">
            <a:off x="10039350" y="2867025"/>
            <a:ext cx="0" cy="1238250"/>
          </a:xfrm>
          <a:prstGeom xmlns:a="http://schemas.openxmlformats.org/drawingml/2006/main" prst="straightConnector1">
            <a:avLst/>
          </a:prstGeom>
          <a:ln xmlns:a="http://schemas.openxmlformats.org/drawingml/2006/main" w="22860">
            <a:solidFill>
              <a:srgbClr val="315EF4"/>
            </a:solidFill>
            <a:tailEnd type="triangle" w="med" len="med"/>
          </a:ln>
        </p:spPr>
      </p:cxnSp>
      <p:cxnSp>
        <p:nvCxnSpPr>
          <p:cNvPr id="13" name="">
            <a:extLst xmlns:a="http://schemas.openxmlformats.org/drawingml/2006/main">
              <a:ext uri="{FF2B5EF4-FFF2-40B4-BE49-F238E27FC236}">
                <a16:creationId xmlns:a16="http://schemas.microsoft.com/office/drawing/2014/main" id="{B0A7EFFF-20AE-4F81-BB38-3681AA7A1676}"/>
              </a:ext>
            </a:extLst>
          </p:cNvPr>
          <p:cNvCxnSpPr>
            <a:stCxn xmlns:a="http://schemas.openxmlformats.org/drawingml/2006/main" id="4" idx="2"/>
            <a:endCxn xmlns:a="http://schemas.openxmlformats.org/drawingml/2006/main" id="10" idx="0"/>
          </p:cNvCxnSpPr>
          <p:nvPr/>
        </p:nvCxnSpPr>
        <p:spPr>
          <a:xfrm xmlns:a="http://schemas.openxmlformats.org/drawingml/2006/main">
            <a:off x="6086475" y="2867025"/>
            <a:ext cx="0" cy="1238250"/>
          </a:xfrm>
          <a:prstGeom xmlns:a="http://schemas.openxmlformats.org/drawingml/2006/main" prst="straightConnector1">
            <a:avLst/>
          </a:prstGeom>
          <a:ln xmlns:a="http://schemas.openxmlformats.org/drawingml/2006/main" w="22860">
            <a:solidFill>
              <a:srgbClr val="315EF4"/>
            </a:solidFill>
            <a:tailEnd type="triangle" w="med" len="med"/>
          </a:ln>
        </p:spPr>
      </p:cxnSp>
      <p:cxnSp>
        <p:nvCxnSpPr>
          <p:cNvPr id="12" name="">
            <a:extLst xmlns:a="http://schemas.openxmlformats.org/drawingml/2006/main">
              <a:ext uri="{FF2B5EF4-FFF2-40B4-BE49-F238E27FC236}">
                <a16:creationId xmlns:a16="http://schemas.microsoft.com/office/drawing/2014/main" id="{4A07A850-06B3-47C2-9C77-AD5B534E8E72}"/>
              </a:ext>
            </a:extLst>
          </p:cNvPr>
          <p:cNvCxnSpPr>
            <a:stCxn xmlns:a="http://schemas.openxmlformats.org/drawingml/2006/main" id="3" idx="2"/>
            <a:endCxn xmlns:a="http://schemas.openxmlformats.org/drawingml/2006/main" id="9" idx="0"/>
          </p:cNvCxnSpPr>
          <p:nvPr/>
        </p:nvCxnSpPr>
        <p:spPr>
          <a:xfrm xmlns:a="http://schemas.openxmlformats.org/drawingml/2006/main">
            <a:off x="2133600" y="2867025"/>
            <a:ext cx="0" cy="1238250"/>
          </a:xfrm>
          <a:prstGeom xmlns:a="http://schemas.openxmlformats.org/drawingml/2006/main" prst="straightConnector1">
            <a:avLst/>
          </a:prstGeom>
          <a:ln xmlns:a="http://schemas.openxmlformats.org/drawingml/2006/main" w="22860">
            <a:solidFill>
              <a:srgbClr val="315EF4"/>
            </a:solidFill>
            <a:tailEnd type="triangle" w="med" len="med"/>
          </a:ln>
        </p:spPr>
      </p:cxnSp>
      <p:cxnSp>
        <p:nvCxnSpPr>
          <p:cNvPr id="7" name="">
            <a:extLst xmlns:a="http://schemas.openxmlformats.org/drawingml/2006/main">
              <a:ext uri="{FF2B5EF4-FFF2-40B4-BE49-F238E27FC236}">
                <a16:creationId xmlns:a16="http://schemas.microsoft.com/office/drawing/2014/main" id="{56A1A7D0-7C71-48DB-9EDA-DF7615E80E88}"/>
              </a:ext>
            </a:extLst>
          </p:cNvPr>
          <p:cNvCxnSpPr>
            <a:stCxn xmlns:a="http://schemas.openxmlformats.org/drawingml/2006/main" id="4" idx="3"/>
            <a:endCxn xmlns:a="http://schemas.openxmlformats.org/drawingml/2006/main" id="5" idx="1"/>
          </p:cNvCxnSpPr>
          <p:nvPr/>
        </p:nvCxnSpPr>
        <p:spPr>
          <a:xfrm xmlns:a="http://schemas.openxmlformats.org/drawingml/2006/main">
            <a:off x="7610475" y="2333625"/>
            <a:ext cx="904875" cy="0"/>
          </a:xfrm>
          <a:prstGeom xmlns:a="http://schemas.openxmlformats.org/drawingml/2006/main" prst="straightConnector1">
            <a:avLst/>
          </a:prstGeom>
          <a:ln xmlns:a="http://schemas.openxmlformats.org/drawingml/2006/main" w="22860">
            <a:solidFill>
              <a:srgbClr val="315EF4"/>
            </a:solidFill>
            <a:tailEnd type="triangle" w="med" len="med"/>
          </a:ln>
        </p:spPr>
      </p:cxnSp>
      <p:cxnSp>
        <p:nvCxnSpPr>
          <p:cNvPr id="6" name="">
            <a:extLst xmlns:a="http://schemas.openxmlformats.org/drawingml/2006/main">
              <a:ext uri="{FF2B5EF4-FFF2-40B4-BE49-F238E27FC236}">
                <a16:creationId xmlns:a16="http://schemas.microsoft.com/office/drawing/2014/main" id="{B562E9B8-CD58-4E30-921F-F371C11E2CE3}"/>
              </a:ext>
            </a:extLst>
          </p:cNvPr>
          <p:cNvCxnSpPr>
            <a:stCxn xmlns:a="http://schemas.openxmlformats.org/drawingml/2006/main" id="3" idx="3"/>
            <a:endCxn xmlns:a="http://schemas.openxmlformats.org/drawingml/2006/main" id="4" idx="1"/>
          </p:cNvCxnSpPr>
          <p:nvPr/>
        </p:nvCxnSpPr>
        <p:spPr>
          <a:xfrm xmlns:a="http://schemas.openxmlformats.org/drawingml/2006/main">
            <a:off x="3657600" y="2333625"/>
            <a:ext cx="904875" cy="0"/>
          </a:xfrm>
          <a:prstGeom xmlns:a="http://schemas.openxmlformats.org/drawingml/2006/main" prst="straightConnector1">
            <a:avLst/>
          </a:prstGeom>
          <a:ln xmlns:a="http://schemas.openxmlformats.org/drawingml/2006/main" w="22860">
            <a:solidFill>
              <a:srgbClr val="315EF4"/>
            </a:solidFill>
            <a:tailEnd type="triangle" w="med" len="med"/>
          </a:ln>
        </p:spPr>
      </p:cxnSp>
      <p:sp>
        <p:nvSpPr>
          <p:cNvPr id="16" name="">
            <a:extLst xmlns:a="http://schemas.openxmlformats.org/drawingml/2006/main">
              <a:ext uri="{FF2B5EF4-FFF2-40B4-BE49-F238E27FC236}">
                <a16:creationId xmlns:a16="http://schemas.microsoft.com/office/drawing/2014/main" id="{4C01B579-FB60-4000-82D8-F1398414238F}"/>
              </a:ext>
            </a:extLst>
          </p:cNvPr>
          <p:cNvSpPr>
            <a:spLocks xmlns:a="http://schemas.openxmlformats.org/drawingml/2006/main" noGrp="1"/>
          </p:cNvSpPr>
          <p:nvPr/>
        </p:nvSpPr>
        <p:spPr>
          <a:xfrm xmlns:a="http://schemas.openxmlformats.org/drawingml/2006/main">
            <a:off x="609600" y="4572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450" b="1">
                <a:solidFill>
                  <a:srgbClr val="18253E"/>
                </a:solidFill>
                <a:latin typeface="Segoe UI"/>
                <a:ea typeface="Segoe UI"/>
                <a:cs typeface="Segoe UI"/>
              </a:defRPr>
            </a:defPPr>
          </a:lstStyle>
          <a:p xmlns:a="http://schemas.openxmlformats.org/drawingml/2006/main">
            <a:pPr>
              <a:defRPr sz="3450" b="1">
                <a:solidFill>
                  <a:srgbClr val="18253E"/>
                </a:solidFill>
                <a:latin typeface="Segoe UI"/>
                <a:ea typeface="Segoe UI"/>
                <a:cs typeface="Segoe UI"/>
              </a:defRPr>
            </a:pPr>
            <a:r>
              <a:rPr sz="3450" b="1">
                <a:solidFill>
                  <a:srgbClr val="18253E"/>
                </a:solidFill>
                <a:latin typeface="Segoe UI"/>
                <a:ea typeface="Segoe UI"/>
                <a:cs typeface="Segoe UI"/>
              </a:rPr>
              <a:t>System architecture</a:t>
            </a:r>
          </a:p>
        </p:txBody>
      </p:sp>
      <p:sp>
        <p:nvSpPr>
          <p:cNvPr id="2" name="">
            <a:extLst xmlns:a="http://schemas.openxmlformats.org/drawingml/2006/main">
              <a:ext uri="{FF2B5EF4-FFF2-40B4-BE49-F238E27FC236}">
                <a16:creationId xmlns:a16="http://schemas.microsoft.com/office/drawing/2014/main" id="{A52F76C9-52A0-4FC7-811F-939D91CF7162}"/>
              </a:ext>
            </a:extLst>
          </p:cNvPr>
          <p:cNvSpPr>
            <a:spLocks xmlns:a="http://schemas.openxmlformats.org/drawingml/2006/main" noGrp="1"/>
          </p:cNvSpPr>
          <p:nvPr/>
        </p:nvSpPr>
        <p:spPr>
          <a:xfrm xmlns:a="http://schemas.openxmlformats.org/drawingml/2006/main">
            <a:off x="11049000" y="6391275"/>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59667C"/>
                </a:solidFill>
                <a:latin typeface="Segoe UI"/>
                <a:ea typeface="Segoe UI"/>
                <a:cs typeface="Segoe UI"/>
              </a:defRPr>
            </a:defPPr>
          </a:lstStyle>
          <a:p xmlns:a="http://schemas.openxmlformats.org/drawingml/2006/main">
            <a:pPr>
              <a:defRPr sz="1200" b="0">
                <a:solidFill>
                  <a:srgbClr val="59667C"/>
                </a:solidFill>
                <a:latin typeface="Segoe UI"/>
                <a:ea typeface="Segoe UI"/>
                <a:cs typeface="Segoe UI"/>
              </a:defRPr>
            </a:pPr>
            <a:r>
              <a:rPr sz="1200" b="0">
                <a:solidFill>
                  <a:srgbClr val="59667C"/>
                </a:solidFill>
                <a:latin typeface="Segoe UI"/>
                <a:ea typeface="Segoe UI"/>
                <a:cs typeface="Segoe UI"/>
              </a:rPr>
              <a:t>08</a:t>
            </a:r>
          </a:p>
        </p:txBody>
      </p:sp>
      <p:sp>
        <p:nvSpPr>
          <p:cNvPr id="3" name="">
            <a:extLst xmlns:a="http://schemas.openxmlformats.org/drawingml/2006/main">
              <a:ext uri="{FF2B5EF4-FFF2-40B4-BE49-F238E27FC236}">
                <a16:creationId xmlns:a16="http://schemas.microsoft.com/office/drawing/2014/main" id="{BF600589-F457-4521-8C1F-87148DD61F52}"/>
              </a:ext>
            </a:extLst>
          </p:cNvPr>
          <p:cNvSpPr>
            <a:spLocks xmlns:a="http://schemas.openxmlformats.org/drawingml/2006/main" noGrp="1"/>
          </p:cNvSpPr>
          <p:nvPr/>
        </p:nvSpPr>
        <p:spPr>
          <a:xfrm xmlns:a="http://schemas.openxmlformats.org/drawingml/2006/main">
            <a:off x="609600" y="1800225"/>
            <a:ext cx="3048000" cy="1066800"/>
          </a:xfrm>
          <a:prstGeom xmlns:a="http://schemas.openxmlformats.org/drawingml/2006/main" prst="rect">
            <a:avLst/>
          </a:prstGeom>
          <a:solidFill xmlns:a="http://schemas.openxmlformats.org/drawingml/2006/main">
            <a:srgbClr val="EDF1FF"/>
          </a:solidFill>
          <a:ln xmlns:a="http://schemas.openxmlformats.org/drawingml/2006/main" w="12383">
            <a:solidFill>
              <a:srgbClr val="315EF4"/>
            </a:solidFill>
          </a:ln>
        </p:spPr>
        <p:txBody>
          <a:bodyPr xmlns:a="http://schemas.openxmlformats.org/drawingml/2006/main" anchor="ctr">
            <a:noAutofit/>
          </a:bodyPr>
          <a:lstStyle xmlns:a="http://schemas.openxmlformats.org/drawingml/2006/main">
            <a:defPPr algn="ctr">
              <a:defRPr sz="1875" b="1">
                <a:solidFill>
                  <a:srgbClr val="18253E"/>
                </a:solidFill>
                <a:latin typeface="Segoe UI"/>
                <a:ea typeface="Segoe UI"/>
                <a:cs typeface="Segoe UI"/>
              </a:defRPr>
            </a:defPPr>
          </a:lstStyle>
          <a:p xmlns:a="http://schemas.openxmlformats.org/drawingml/2006/main">
            <a:pPr algn="ctr">
              <a:defRPr sz="1875" b="1">
                <a:solidFill>
                  <a:srgbClr val="18253E"/>
                </a:solidFill>
                <a:latin typeface="Segoe UI"/>
                <a:ea typeface="Segoe UI"/>
                <a:cs typeface="Segoe UI"/>
              </a:defRPr>
            </a:pPr>
            <a:r>
              <a:rPr sz="1875" b="1">
                <a:solidFill>
                  <a:srgbClr val="18253E"/>
                </a:solidFill>
                <a:latin typeface="Segoe UI"/>
                <a:ea typeface="Segoe UI"/>
                <a:cs typeface="Segoe UI"/>
              </a:rPr>
              <a:t>Browser interface</a:t>
            </a:r>
          </a:p>
          <a:p xmlns:a="http://schemas.openxmlformats.org/drawingml/2006/main">
            <a:pPr algn="ctr">
              <a:defRPr sz="1875" b="1">
                <a:solidFill>
                  <a:srgbClr val="18253E"/>
                </a:solidFill>
                <a:latin typeface="Segoe UI"/>
                <a:ea typeface="Segoe UI"/>
                <a:cs typeface="Segoe UI"/>
              </a:defRPr>
            </a:pPr>
            <a:r>
              <a:rPr sz="1875" b="1">
                <a:solidFill>
                  <a:srgbClr val="18253E"/>
                </a:solidFill>
                <a:latin typeface="Segoe UI"/>
                <a:ea typeface="Segoe UI"/>
                <a:cs typeface="Segoe UI"/>
              </a:rPr>
              <a:t>React + CodeMirror</a:t>
            </a:r>
          </a:p>
        </p:txBody>
      </p:sp>
      <p:sp>
        <p:nvSpPr>
          <p:cNvPr id="4" name="">
            <a:extLst xmlns:a="http://schemas.openxmlformats.org/drawingml/2006/main">
              <a:ext uri="{FF2B5EF4-FFF2-40B4-BE49-F238E27FC236}">
                <a16:creationId xmlns:a16="http://schemas.microsoft.com/office/drawing/2014/main" id="{42B4F968-7EA2-4CFA-BD87-9622A1A185C6}"/>
              </a:ext>
            </a:extLst>
          </p:cNvPr>
          <p:cNvSpPr>
            <a:spLocks xmlns:a="http://schemas.openxmlformats.org/drawingml/2006/main" noGrp="1"/>
          </p:cNvSpPr>
          <p:nvPr/>
        </p:nvSpPr>
        <p:spPr>
          <a:xfrm xmlns:a="http://schemas.openxmlformats.org/drawingml/2006/main">
            <a:off x="4562475" y="1800225"/>
            <a:ext cx="3048000" cy="1066800"/>
          </a:xfrm>
          <a:prstGeom xmlns:a="http://schemas.openxmlformats.org/drawingml/2006/main" prst="rect">
            <a:avLst/>
          </a:prstGeom>
          <a:solidFill xmlns:a="http://schemas.openxmlformats.org/drawingml/2006/main">
            <a:srgbClr val="315EF4"/>
          </a:solidFill>
          <a:ln xmlns:a="http://schemas.openxmlformats.org/drawingml/2006/main" w="12383">
            <a:solidFill>
              <a:srgbClr val="315EF4"/>
            </a:solidFill>
          </a:ln>
        </p:spPr>
        <p:txBody>
          <a:bodyPr xmlns:a="http://schemas.openxmlformats.org/drawingml/2006/main" anchor="ctr">
            <a:noAutofit/>
          </a:bodyPr>
          <a:lstStyle xmlns:a="http://schemas.openxmlformats.org/drawingml/2006/main">
            <a:defPPr algn="ctr">
              <a:defRPr sz="1875" b="1">
                <a:solidFill>
                  <a:srgbClr val="FFFFFF"/>
                </a:solidFill>
                <a:latin typeface="Segoe UI"/>
                <a:ea typeface="Segoe UI"/>
                <a:cs typeface="Segoe UI"/>
              </a:defRPr>
            </a:defPPr>
          </a:lstStyle>
          <a:p xmlns:a="http://schemas.openxmlformats.org/drawingml/2006/main">
            <a:pPr algn="ctr">
              <a:defRPr sz="1875" b="1">
                <a:solidFill>
                  <a:srgbClr val="FFFFFF"/>
                </a:solidFill>
                <a:latin typeface="Segoe UI"/>
                <a:ea typeface="Segoe UI"/>
                <a:cs typeface="Segoe UI"/>
              </a:defRPr>
            </a:pPr>
            <a:r>
              <a:rPr sz="1875" b="1">
                <a:solidFill>
                  <a:srgbClr val="FFFFFF"/>
                </a:solidFill>
                <a:latin typeface="Segoe UI"/>
                <a:ea typeface="Segoe UI"/>
                <a:cs typeface="Segoe UI"/>
              </a:rPr>
              <a:t>Backend API</a:t>
            </a:r>
          </a:p>
          <a:p xmlns:a="http://schemas.openxmlformats.org/drawingml/2006/main">
            <a:pPr algn="ctr">
              <a:defRPr sz="1875" b="1">
                <a:solidFill>
                  <a:srgbClr val="FFFFFF"/>
                </a:solidFill>
                <a:latin typeface="Segoe UI"/>
                <a:ea typeface="Segoe UI"/>
                <a:cs typeface="Segoe UI"/>
              </a:defRPr>
            </a:pPr>
            <a:r>
              <a:rPr sz="1875" b="1">
                <a:solidFill>
                  <a:srgbClr val="FFFFFF"/>
                </a:solidFill>
                <a:latin typeface="Segoe UI"/>
                <a:ea typeface="Segoe UI"/>
                <a:cs typeface="Segoe UI"/>
              </a:rPr>
              <a:t>Node.js + Express</a:t>
            </a:r>
          </a:p>
        </p:txBody>
      </p:sp>
      <p:sp>
        <p:nvSpPr>
          <p:cNvPr id="5" name="">
            <a:extLst xmlns:a="http://schemas.openxmlformats.org/drawingml/2006/main">
              <a:ext uri="{FF2B5EF4-FFF2-40B4-BE49-F238E27FC236}">
                <a16:creationId xmlns:a16="http://schemas.microsoft.com/office/drawing/2014/main" id="{24FA9D12-0766-412E-B546-271B85A8AF1F}"/>
              </a:ext>
            </a:extLst>
          </p:cNvPr>
          <p:cNvSpPr>
            <a:spLocks xmlns:a="http://schemas.openxmlformats.org/drawingml/2006/main" noGrp="1"/>
          </p:cNvSpPr>
          <p:nvPr/>
        </p:nvSpPr>
        <p:spPr>
          <a:xfrm xmlns:a="http://schemas.openxmlformats.org/drawingml/2006/main">
            <a:off x="8515350" y="1800225"/>
            <a:ext cx="3048000" cy="1066800"/>
          </a:xfrm>
          <a:prstGeom xmlns:a="http://schemas.openxmlformats.org/drawingml/2006/main" prst="rect">
            <a:avLst/>
          </a:prstGeom>
          <a:solidFill xmlns:a="http://schemas.openxmlformats.org/drawingml/2006/main">
            <a:srgbClr val="EDF1FF"/>
          </a:solidFill>
          <a:ln xmlns:a="http://schemas.openxmlformats.org/drawingml/2006/main" w="12383">
            <a:solidFill>
              <a:srgbClr val="315EF4"/>
            </a:solidFill>
          </a:ln>
        </p:spPr>
        <p:txBody>
          <a:bodyPr xmlns:a="http://schemas.openxmlformats.org/drawingml/2006/main" anchor="ctr">
            <a:noAutofit/>
          </a:bodyPr>
          <a:lstStyle xmlns:a="http://schemas.openxmlformats.org/drawingml/2006/main">
            <a:defPPr algn="ctr">
              <a:defRPr sz="1875" b="1">
                <a:solidFill>
                  <a:srgbClr val="18253E"/>
                </a:solidFill>
                <a:latin typeface="Segoe UI"/>
                <a:ea typeface="Segoe UI"/>
                <a:cs typeface="Segoe UI"/>
              </a:defRPr>
            </a:defPPr>
          </a:lstStyle>
          <a:p xmlns:a="http://schemas.openxmlformats.org/drawingml/2006/main">
            <a:pPr algn="ctr">
              <a:defRPr sz="1875" b="1">
                <a:solidFill>
                  <a:srgbClr val="18253E"/>
                </a:solidFill>
                <a:latin typeface="Segoe UI"/>
                <a:ea typeface="Segoe UI"/>
                <a:cs typeface="Segoe UI"/>
              </a:defRPr>
            </a:pPr>
            <a:r>
              <a:rPr sz="1875" b="1">
                <a:solidFill>
                  <a:srgbClr val="18253E"/>
                </a:solidFill>
                <a:latin typeface="Segoe UI"/>
                <a:ea typeface="Segoe UI"/>
                <a:cs typeface="Segoe UI"/>
              </a:rPr>
              <a:t>Native tools</a:t>
            </a:r>
          </a:p>
          <a:p xmlns:a="http://schemas.openxmlformats.org/drawingml/2006/main">
            <a:pPr algn="ctr">
              <a:defRPr sz="1875" b="1">
                <a:solidFill>
                  <a:srgbClr val="18253E"/>
                </a:solidFill>
                <a:latin typeface="Segoe UI"/>
                <a:ea typeface="Segoe UI"/>
                <a:cs typeface="Segoe UI"/>
              </a:defRPr>
            </a:pPr>
            <a:r>
              <a:rPr sz="1875" b="1">
                <a:solidFill>
                  <a:srgbClr val="18253E"/>
                </a:solidFill>
                <a:latin typeface="Segoe UI"/>
                <a:ea typeface="Segoe UI"/>
                <a:cs typeface="Segoe UI"/>
              </a:rPr>
              <a:t>Flex + Bison + GCC</a:t>
            </a:r>
          </a:p>
        </p:txBody>
      </p:sp>
      <p:sp>
        <p:nvSpPr>
          <p:cNvPr id="8" name="">
            <a:extLst xmlns:a="http://schemas.openxmlformats.org/drawingml/2006/main">
              <a:ext uri="{FF2B5EF4-FFF2-40B4-BE49-F238E27FC236}">
                <a16:creationId xmlns:a16="http://schemas.microsoft.com/office/drawing/2014/main" id="{43790EC5-FDA5-422B-B695-7A7B3BA45C4E}"/>
              </a:ext>
            </a:extLst>
          </p:cNvPr>
          <p:cNvSpPr>
            <a:spLocks xmlns:a="http://schemas.openxmlformats.org/drawingml/2006/main" noGrp="1"/>
          </p:cNvSpPr>
          <p:nvPr/>
        </p:nvSpPr>
        <p:spPr>
          <a:xfrm xmlns:a="http://schemas.openxmlformats.org/drawingml/2006/main">
            <a:off x="3705225" y="1571625"/>
            <a:ext cx="20193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0">
                <a:solidFill>
                  <a:srgbClr val="59667C"/>
                </a:solidFill>
                <a:latin typeface="Segoe UI"/>
                <a:ea typeface="Segoe UI"/>
                <a:cs typeface="Segoe UI"/>
              </a:defRPr>
            </a:defPPr>
          </a:lstStyle>
          <a:p xmlns:a="http://schemas.openxmlformats.org/drawingml/2006/main">
            <a:pPr>
              <a:defRPr sz="1575" b="0">
                <a:solidFill>
                  <a:srgbClr val="59667C"/>
                </a:solidFill>
                <a:latin typeface="Segoe UI"/>
                <a:ea typeface="Segoe UI"/>
                <a:cs typeface="Segoe UI"/>
              </a:defRPr>
            </a:pPr>
            <a:r>
              <a:rPr sz="1575" b="0">
                <a:solidFill>
                  <a:srgbClr val="59667C"/>
                </a:solidFill>
                <a:latin typeface="Segoe UI"/>
                <a:ea typeface="Segoe UI"/>
                <a:cs typeface="Segoe UI"/>
              </a:rPr>
              <a:t>HTTP / JSON</a:t>
            </a:r>
          </a:p>
        </p:txBody>
      </p:sp>
      <p:sp>
        <p:nvSpPr>
          <p:cNvPr id="9" name="">
            <a:extLst xmlns:a="http://schemas.openxmlformats.org/drawingml/2006/main">
              <a:ext uri="{FF2B5EF4-FFF2-40B4-BE49-F238E27FC236}">
                <a16:creationId xmlns:a16="http://schemas.microsoft.com/office/drawing/2014/main" id="{1CF2FCBE-7609-424F-BE65-0569A343ED46}"/>
              </a:ext>
            </a:extLst>
          </p:cNvPr>
          <p:cNvSpPr>
            <a:spLocks xmlns:a="http://schemas.openxmlformats.org/drawingml/2006/main" noGrp="1"/>
          </p:cNvSpPr>
          <p:nvPr/>
        </p:nvSpPr>
        <p:spPr>
          <a:xfrm xmlns:a="http://schemas.openxmlformats.org/drawingml/2006/main">
            <a:off x="609600" y="4105275"/>
            <a:ext cx="3048000" cy="990600"/>
          </a:xfrm>
          <a:prstGeom xmlns:a="http://schemas.openxmlformats.org/drawingml/2006/main" prst="rect">
            <a:avLst/>
          </a:prstGeom>
          <a:solidFill xmlns:a="http://schemas.openxmlformats.org/drawingml/2006/main">
            <a:srgbClr val="FFFFFF"/>
          </a:solidFill>
          <a:ln xmlns:a="http://schemas.openxmlformats.org/drawingml/2006/main" w="12383">
            <a:solidFill>
              <a:srgbClr val="DAE1EF"/>
            </a:solidFill>
          </a:ln>
        </p:spPr>
        <p:txBody>
          <a:bodyPr xmlns:a="http://schemas.openxmlformats.org/drawingml/2006/main" anchor="ctr">
            <a:noAutofit/>
          </a:bodyPr>
          <a:lstStyle xmlns:a="http://schemas.openxmlformats.org/drawingml/2006/main">
            <a:defPPr algn="ctr">
              <a:defRPr sz="1875" b="1">
                <a:solidFill>
                  <a:srgbClr val="18253E"/>
                </a:solidFill>
                <a:latin typeface="Segoe UI"/>
                <a:ea typeface="Segoe UI"/>
                <a:cs typeface="Segoe UI"/>
              </a:defRPr>
            </a:defPPr>
          </a:lstStyle>
          <a:p xmlns:a="http://schemas.openxmlformats.org/drawingml/2006/main">
            <a:pPr algn="ctr">
              <a:defRPr sz="1875" b="1">
                <a:solidFill>
                  <a:srgbClr val="18253E"/>
                </a:solidFill>
                <a:latin typeface="Segoe UI"/>
                <a:ea typeface="Segoe UI"/>
                <a:cs typeface="Segoe UI"/>
              </a:defRPr>
            </a:pPr>
            <a:r>
              <a:rPr sz="1875" b="1">
                <a:solidFill>
                  <a:srgbClr val="18253E"/>
                </a:solidFill>
                <a:latin typeface="Segoe UI"/>
                <a:ea typeface="Segoe UI"/>
                <a:cs typeface="Segoe UI"/>
              </a:rPr>
              <a:t>Browser localStorage</a:t>
            </a:r>
          </a:p>
          <a:p xmlns:a="http://schemas.openxmlformats.org/drawingml/2006/main">
            <a:pPr algn="ctr">
              <a:defRPr sz="1875" b="1">
                <a:solidFill>
                  <a:srgbClr val="18253E"/>
                </a:solidFill>
                <a:latin typeface="Segoe UI"/>
                <a:ea typeface="Segoe UI"/>
                <a:cs typeface="Segoe UI"/>
              </a:defRPr>
            </a:pPr>
            <a:r>
              <a:rPr sz="1875" b="1">
                <a:solidFill>
                  <a:srgbClr val="18253E"/>
                </a:solidFill>
                <a:latin typeface="Segoe UI"/>
                <a:ea typeface="Segoe UI"/>
                <a:cs typeface="Segoe UI"/>
              </a:rPr>
              <a:t>Workspace drafts</a:t>
            </a:r>
          </a:p>
        </p:txBody>
      </p:sp>
      <p:sp>
        <p:nvSpPr>
          <p:cNvPr id="10" name="">
            <a:extLst xmlns:a="http://schemas.openxmlformats.org/drawingml/2006/main">
              <a:ext uri="{FF2B5EF4-FFF2-40B4-BE49-F238E27FC236}">
                <a16:creationId xmlns:a16="http://schemas.microsoft.com/office/drawing/2014/main" id="{8F50F57F-BFF2-4A93-AF51-69A21A1DC6B9}"/>
              </a:ext>
            </a:extLst>
          </p:cNvPr>
          <p:cNvSpPr>
            <a:spLocks xmlns:a="http://schemas.openxmlformats.org/drawingml/2006/main" noGrp="1"/>
          </p:cNvSpPr>
          <p:nvPr/>
        </p:nvSpPr>
        <p:spPr>
          <a:xfrm xmlns:a="http://schemas.openxmlformats.org/drawingml/2006/main">
            <a:off x="4562475" y="4105275"/>
            <a:ext cx="3048000" cy="990600"/>
          </a:xfrm>
          <a:prstGeom xmlns:a="http://schemas.openxmlformats.org/drawingml/2006/main" prst="rect">
            <a:avLst/>
          </a:prstGeom>
          <a:solidFill xmlns:a="http://schemas.openxmlformats.org/drawingml/2006/main">
            <a:srgbClr val="FFFFFF"/>
          </a:solidFill>
          <a:ln xmlns:a="http://schemas.openxmlformats.org/drawingml/2006/main" w="12383">
            <a:solidFill>
              <a:srgbClr val="DAE1EF"/>
            </a:solidFill>
          </a:ln>
        </p:spPr>
        <p:txBody>
          <a:bodyPr xmlns:a="http://schemas.openxmlformats.org/drawingml/2006/main" anchor="ctr">
            <a:noAutofit/>
          </a:bodyPr>
          <a:lstStyle xmlns:a="http://schemas.openxmlformats.org/drawingml/2006/main">
            <a:defPPr algn="ctr">
              <a:defRPr sz="1875" b="1">
                <a:solidFill>
                  <a:srgbClr val="18253E"/>
                </a:solidFill>
                <a:latin typeface="Segoe UI"/>
                <a:ea typeface="Segoe UI"/>
                <a:cs typeface="Segoe UI"/>
              </a:defRPr>
            </a:defPPr>
          </a:lstStyle>
          <a:p xmlns:a="http://schemas.openxmlformats.org/drawingml/2006/main">
            <a:pPr algn="ctr">
              <a:defRPr sz="1875" b="1">
                <a:solidFill>
                  <a:srgbClr val="18253E"/>
                </a:solidFill>
                <a:latin typeface="Segoe UI"/>
                <a:ea typeface="Segoe UI"/>
                <a:cs typeface="Segoe UI"/>
              </a:defRPr>
            </a:pPr>
            <a:r>
              <a:rPr sz="1875" b="1">
                <a:solidFill>
                  <a:srgbClr val="18253E"/>
                </a:solidFill>
                <a:latin typeface="Segoe UI"/>
                <a:ea typeface="Segoe UI"/>
                <a:cs typeface="Segoe UI"/>
              </a:rPr>
              <a:t>JavaScript analyzer</a:t>
            </a:r>
          </a:p>
          <a:p xmlns:a="http://schemas.openxmlformats.org/drawingml/2006/main">
            <a:pPr algn="ctr">
              <a:defRPr sz="1875" b="1">
                <a:solidFill>
                  <a:srgbClr val="18253E"/>
                </a:solidFill>
                <a:latin typeface="Segoe UI"/>
                <a:ea typeface="Segoe UI"/>
                <a:cs typeface="Segoe UI"/>
              </a:defRPr>
            </a:pPr>
            <a:r>
              <a:rPr sz="1875" b="1">
                <a:solidFill>
                  <a:srgbClr val="18253E"/>
                </a:solidFill>
                <a:latin typeface="Segoe UI"/>
                <a:ea typeface="Segoe UI"/>
                <a:cs typeface="Segoe UI"/>
              </a:rPr>
              <a:t>AST, symbols, and TAC</a:t>
            </a:r>
          </a:p>
        </p:txBody>
      </p:sp>
      <p:sp>
        <p:nvSpPr>
          <p:cNvPr id="11" name="">
            <a:extLst xmlns:a="http://schemas.openxmlformats.org/drawingml/2006/main">
              <a:ext uri="{FF2B5EF4-FFF2-40B4-BE49-F238E27FC236}">
                <a16:creationId xmlns:a16="http://schemas.microsoft.com/office/drawing/2014/main" id="{A911604A-0E10-46DF-8331-F6D424BBD4E1}"/>
              </a:ext>
            </a:extLst>
          </p:cNvPr>
          <p:cNvSpPr>
            <a:spLocks xmlns:a="http://schemas.openxmlformats.org/drawingml/2006/main" noGrp="1"/>
          </p:cNvSpPr>
          <p:nvPr/>
        </p:nvSpPr>
        <p:spPr>
          <a:xfrm xmlns:a="http://schemas.openxmlformats.org/drawingml/2006/main">
            <a:off x="8515350" y="4105275"/>
            <a:ext cx="3048000" cy="990600"/>
          </a:xfrm>
          <a:prstGeom xmlns:a="http://schemas.openxmlformats.org/drawingml/2006/main" prst="rect">
            <a:avLst/>
          </a:prstGeom>
          <a:solidFill xmlns:a="http://schemas.openxmlformats.org/drawingml/2006/main">
            <a:srgbClr val="FFFFFF"/>
          </a:solidFill>
          <a:ln xmlns:a="http://schemas.openxmlformats.org/drawingml/2006/main" w="12383">
            <a:solidFill>
              <a:srgbClr val="DAE1EF"/>
            </a:solidFill>
          </a:ln>
        </p:spPr>
        <p:txBody>
          <a:bodyPr xmlns:a="http://schemas.openxmlformats.org/drawingml/2006/main" anchor="ctr">
            <a:noAutofit/>
          </a:bodyPr>
          <a:lstStyle xmlns:a="http://schemas.openxmlformats.org/drawingml/2006/main">
            <a:defPPr algn="ctr">
              <a:defRPr sz="1875" b="1">
                <a:solidFill>
                  <a:srgbClr val="18253E"/>
                </a:solidFill>
                <a:latin typeface="Segoe UI"/>
                <a:ea typeface="Segoe UI"/>
                <a:cs typeface="Segoe UI"/>
              </a:defRPr>
            </a:defPPr>
          </a:lstStyle>
          <a:p xmlns:a="http://schemas.openxmlformats.org/drawingml/2006/main">
            <a:pPr algn="ctr">
              <a:defRPr sz="1875" b="1">
                <a:solidFill>
                  <a:srgbClr val="18253E"/>
                </a:solidFill>
                <a:latin typeface="Segoe UI"/>
                <a:ea typeface="Segoe UI"/>
                <a:cs typeface="Segoe UI"/>
              </a:defRPr>
            </a:pPr>
            <a:r>
              <a:rPr sz="1875" b="1">
                <a:solidFill>
                  <a:srgbClr val="18253E"/>
                </a:solidFill>
                <a:latin typeface="Segoe UI"/>
                <a:ea typeface="Segoe UI"/>
                <a:cs typeface="Segoe UI"/>
              </a:rPr>
              <a:t>Temporary job directory</a:t>
            </a:r>
          </a:p>
          <a:p xmlns:a="http://schemas.openxmlformats.org/drawingml/2006/main">
            <a:pPr algn="ctr">
              <a:defRPr sz="1875" b="1">
                <a:solidFill>
                  <a:srgbClr val="18253E"/>
                </a:solidFill>
                <a:latin typeface="Segoe UI"/>
                <a:ea typeface="Segoe UI"/>
                <a:cs typeface="Segoe UI"/>
              </a:defRPr>
            </a:pPr>
            <a:r>
              <a:rPr sz="1875" b="1">
                <a:solidFill>
                  <a:srgbClr val="18253E"/>
                </a:solidFill>
                <a:latin typeface="Segoe UI"/>
                <a:ea typeface="Segoe UI"/>
                <a:cs typeface="Segoe UI"/>
              </a:rPr>
              <a:t>Sources and executable</a:t>
            </a:r>
          </a:p>
        </p:txBody>
      </p:sp>
      <p:sp>
        <p:nvSpPr>
          <p:cNvPr id="15" name="">
            <a:extLst xmlns:a="http://schemas.openxmlformats.org/drawingml/2006/main">
              <a:ext uri="{FF2B5EF4-FFF2-40B4-BE49-F238E27FC236}">
                <a16:creationId xmlns:a16="http://schemas.microsoft.com/office/drawing/2014/main" id="{482B3A6A-65D7-4051-9832-F3C66850A49F}"/>
              </a:ext>
            </a:extLst>
          </p:cNvPr>
          <p:cNvSpPr>
            <a:spLocks xmlns:a="http://schemas.openxmlformats.org/drawingml/2006/main" noGrp="1"/>
          </p:cNvSpPr>
          <p:nvPr/>
        </p:nvSpPr>
        <p:spPr>
          <a:xfrm xmlns:a="http://schemas.openxmlformats.org/drawingml/2006/main">
            <a:off x="609600" y="5553075"/>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59667C"/>
                </a:solidFill>
                <a:latin typeface="Segoe UI"/>
                <a:ea typeface="Segoe UI"/>
                <a:cs typeface="Segoe UI"/>
              </a:defRPr>
            </a:defPPr>
          </a:lstStyle>
          <a:p xmlns:a="http://schemas.openxmlformats.org/drawingml/2006/main">
            <a:pPr>
              <a:defRPr sz="2100" b="0">
                <a:solidFill>
                  <a:srgbClr val="59667C"/>
                </a:solidFill>
                <a:latin typeface="Segoe UI"/>
                <a:ea typeface="Segoe UI"/>
                <a:cs typeface="Segoe UI"/>
              </a:defRPr>
            </a:pPr>
            <a:r>
              <a:rPr sz="2100" b="0">
                <a:solidFill>
                  <a:srgbClr val="59667C"/>
                </a:solidFill>
                <a:latin typeface="Segoe UI"/>
                <a:ea typeface="Segoe UI"/>
                <a:cs typeface="Segoe UI"/>
              </a:rPr>
              <a:t>The browser manages editing. The backend performs input analysis and native compilation.</a:t>
            </a:r>
          </a:p>
        </p:txBody>
      </p:sp>
    </p:spTree>
    <p:extLst>
      <p:ext uri="{BB962C8B-B14F-4D97-AF65-F5344CB8AC3E}">
        <p14:creationId xmlns:p14="http://schemas.microsoft.com/office/powerpoint/2010/main" val="177695724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6" name="">
            <a:extLst xmlns:a="http://schemas.openxmlformats.org/drawingml/2006/main">
              <a:ext uri="{FF2B5EF4-FFF2-40B4-BE49-F238E27FC236}">
                <a16:creationId xmlns:a16="http://schemas.microsoft.com/office/drawing/2014/main" id="{A084886A-3FD9-425F-8505-4CC9E23617B0}"/>
              </a:ext>
            </a:extLst>
          </p:cNvPr>
          <p:cNvCxnSpPr>
            <a:stCxn xmlns:a="http://schemas.openxmlformats.org/drawingml/2006/main" id="5" idx="3"/>
            <a:endCxn xmlns:a="http://schemas.openxmlformats.org/drawingml/2006/main" id="15" idx="1"/>
          </p:cNvCxnSpPr>
          <p:nvPr/>
        </p:nvCxnSpPr>
        <p:spPr>
          <a:xfrm xmlns:a="http://schemas.openxmlformats.org/drawingml/2006/main">
            <a:off x="4086225" y="4152900"/>
            <a:ext cx="628650" cy="0"/>
          </a:xfrm>
          <a:prstGeom xmlns:a="http://schemas.openxmlformats.org/drawingml/2006/main" prst="straightConnector1">
            <a:avLst/>
          </a:prstGeom>
          <a:ln xmlns:a="http://schemas.openxmlformats.org/drawingml/2006/main" w="22860">
            <a:solidFill>
              <a:srgbClr val="315EF4"/>
            </a:solidFill>
            <a:tailEnd type="triangle" w="med" len="med"/>
          </a:ln>
        </p:spPr>
      </p:cxnSp>
      <p:cxnSp>
        <p:nvCxnSpPr>
          <p:cNvPr id="14" name="">
            <a:extLst xmlns:a="http://schemas.openxmlformats.org/drawingml/2006/main">
              <a:ext uri="{FF2B5EF4-FFF2-40B4-BE49-F238E27FC236}">
                <a16:creationId xmlns:a16="http://schemas.microsoft.com/office/drawing/2014/main" id="{D4062249-E3D2-4FA6-9057-F941ECBD1AF4}"/>
              </a:ext>
            </a:extLst>
          </p:cNvPr>
          <p:cNvCxnSpPr>
            <a:stCxn xmlns:a="http://schemas.openxmlformats.org/drawingml/2006/main" id="11" idx="0"/>
            <a:endCxn xmlns:a="http://schemas.openxmlformats.org/drawingml/2006/main" id="13" idx="2"/>
          </p:cNvCxnSpPr>
          <p:nvPr/>
        </p:nvCxnSpPr>
        <p:spPr>
          <a:xfrm xmlns:a="http://schemas.openxmlformats.org/drawingml/2006/main" flipV="1">
            <a:off x="9991725" y="3676650"/>
            <a:ext cx="0" cy="1238250"/>
          </a:xfrm>
          <a:prstGeom xmlns:a="http://schemas.openxmlformats.org/drawingml/2006/main" prst="straightConnector1">
            <a:avLst/>
          </a:prstGeom>
          <a:ln xmlns:a="http://schemas.openxmlformats.org/drawingml/2006/main" w="22860">
            <a:solidFill>
              <a:srgbClr val="315EF4"/>
            </a:solidFill>
            <a:tailEnd type="triangle" w="med" len="med"/>
          </a:ln>
        </p:spPr>
      </p:cxnSp>
      <p:cxnSp>
        <p:nvCxnSpPr>
          <p:cNvPr id="12" name="">
            <a:extLst xmlns:a="http://schemas.openxmlformats.org/drawingml/2006/main">
              <a:ext uri="{FF2B5EF4-FFF2-40B4-BE49-F238E27FC236}">
                <a16:creationId xmlns:a16="http://schemas.microsoft.com/office/drawing/2014/main" id="{04BD8882-DFD0-42F2-83F8-58AFDF82E8E0}"/>
              </a:ext>
            </a:extLst>
          </p:cNvPr>
          <p:cNvCxnSpPr>
            <a:stCxn xmlns:a="http://schemas.openxmlformats.org/drawingml/2006/main" id="6" idx="3"/>
            <a:endCxn xmlns:a="http://schemas.openxmlformats.org/drawingml/2006/main" id="11" idx="1"/>
          </p:cNvCxnSpPr>
          <p:nvPr/>
        </p:nvCxnSpPr>
        <p:spPr>
          <a:xfrm xmlns:a="http://schemas.openxmlformats.org/drawingml/2006/main">
            <a:off x="4086225" y="5248275"/>
            <a:ext cx="4333875" cy="0"/>
          </a:xfrm>
          <a:prstGeom xmlns:a="http://schemas.openxmlformats.org/drawingml/2006/main" prst="straightConnector1">
            <a:avLst/>
          </a:prstGeom>
          <a:ln xmlns:a="http://schemas.openxmlformats.org/drawingml/2006/main" w="22860">
            <a:solidFill>
              <a:srgbClr val="315EF4"/>
            </a:solidFill>
            <a:tailEnd type="triangle" w="med" len="med"/>
          </a:ln>
        </p:spPr>
      </p:cxnSp>
      <p:cxnSp>
        <p:nvCxnSpPr>
          <p:cNvPr id="9" name="">
            <a:extLst xmlns:a="http://schemas.openxmlformats.org/drawingml/2006/main">
              <a:ext uri="{FF2B5EF4-FFF2-40B4-BE49-F238E27FC236}">
                <a16:creationId xmlns:a16="http://schemas.microsoft.com/office/drawing/2014/main" id="{6CE77703-9EF5-48CD-A369-FE18E0338B89}"/>
              </a:ext>
            </a:extLst>
          </p:cNvPr>
          <p:cNvCxnSpPr>
            <a:stCxn xmlns:a="http://schemas.openxmlformats.org/drawingml/2006/main" id="5" idx="2"/>
            <a:endCxn xmlns:a="http://schemas.openxmlformats.org/drawingml/2006/main" id="6" idx="0"/>
          </p:cNvCxnSpPr>
          <p:nvPr/>
        </p:nvCxnSpPr>
        <p:spPr>
          <a:xfrm xmlns:a="http://schemas.openxmlformats.org/drawingml/2006/main">
            <a:off x="2347913" y="4572000"/>
            <a:ext cx="0" cy="342900"/>
          </a:xfrm>
          <a:prstGeom xmlns:a="http://schemas.openxmlformats.org/drawingml/2006/main" prst="straightConnector1">
            <a:avLst/>
          </a:prstGeom>
          <a:ln xmlns:a="http://schemas.openxmlformats.org/drawingml/2006/main" w="22860">
            <a:solidFill>
              <a:srgbClr val="315EF4"/>
            </a:solidFill>
            <a:tailEnd type="triangle" w="med" len="med"/>
          </a:ln>
        </p:spPr>
      </p:cxnSp>
      <p:cxnSp>
        <p:nvCxnSpPr>
          <p:cNvPr id="8" name="">
            <a:extLst xmlns:a="http://schemas.openxmlformats.org/drawingml/2006/main">
              <a:ext uri="{FF2B5EF4-FFF2-40B4-BE49-F238E27FC236}">
                <a16:creationId xmlns:a16="http://schemas.microsoft.com/office/drawing/2014/main" id="{69B8790F-9437-432D-BF7D-622E45C4B5F3}"/>
              </a:ext>
            </a:extLst>
          </p:cNvPr>
          <p:cNvCxnSpPr>
            <a:stCxn xmlns:a="http://schemas.openxmlformats.org/drawingml/2006/main" id="4" idx="2"/>
            <a:endCxn xmlns:a="http://schemas.openxmlformats.org/drawingml/2006/main" id="5" idx="0"/>
          </p:cNvCxnSpPr>
          <p:nvPr/>
        </p:nvCxnSpPr>
        <p:spPr>
          <a:xfrm xmlns:a="http://schemas.openxmlformats.org/drawingml/2006/main">
            <a:off x="2347913" y="3390900"/>
            <a:ext cx="0" cy="342900"/>
          </a:xfrm>
          <a:prstGeom xmlns:a="http://schemas.openxmlformats.org/drawingml/2006/main" prst="straightConnector1">
            <a:avLst/>
          </a:prstGeom>
          <a:ln xmlns:a="http://schemas.openxmlformats.org/drawingml/2006/main" w="22860">
            <a:solidFill>
              <a:srgbClr val="315EF4"/>
            </a:solidFill>
            <a:tailEnd type="triangle" w="med" len="med"/>
          </a:ln>
        </p:spPr>
      </p:cxnSp>
      <p:cxnSp>
        <p:nvCxnSpPr>
          <p:cNvPr id="7" name="">
            <a:extLst xmlns:a="http://schemas.openxmlformats.org/drawingml/2006/main">
              <a:ext uri="{FF2B5EF4-FFF2-40B4-BE49-F238E27FC236}">
                <a16:creationId xmlns:a16="http://schemas.microsoft.com/office/drawing/2014/main" id="{1FD13EFC-336D-4312-B403-5335A3FEBB04}"/>
              </a:ext>
            </a:extLst>
          </p:cNvPr>
          <p:cNvCxnSpPr>
            <a:stCxn xmlns:a="http://schemas.openxmlformats.org/drawingml/2006/main" id="3" idx="2"/>
            <a:endCxn xmlns:a="http://schemas.openxmlformats.org/drawingml/2006/main" id="4" idx="0"/>
          </p:cNvCxnSpPr>
          <p:nvPr/>
        </p:nvCxnSpPr>
        <p:spPr>
          <a:xfrm xmlns:a="http://schemas.openxmlformats.org/drawingml/2006/main">
            <a:off x="2347913" y="2381250"/>
            <a:ext cx="0" cy="342900"/>
          </a:xfrm>
          <a:prstGeom xmlns:a="http://schemas.openxmlformats.org/drawingml/2006/main" prst="straightConnector1">
            <a:avLst/>
          </a:prstGeom>
          <a:ln xmlns:a="http://schemas.openxmlformats.org/drawingml/2006/main" w="22860">
            <a:solidFill>
              <a:srgbClr val="315EF4"/>
            </a:solidFill>
            <a:tailEnd type="triangle" w="med" len="med"/>
          </a:ln>
        </p:spPr>
      </p:cxnSp>
      <p:sp>
        <p:nvSpPr>
          <p:cNvPr id="19" name="">
            <a:extLst xmlns:a="http://schemas.openxmlformats.org/drawingml/2006/main">
              <a:ext uri="{FF2B5EF4-FFF2-40B4-BE49-F238E27FC236}">
                <a16:creationId xmlns:a16="http://schemas.microsoft.com/office/drawing/2014/main" id="{789E0629-C467-4718-AA64-1AC63B91759F}"/>
              </a:ext>
            </a:extLst>
          </p:cNvPr>
          <p:cNvSpPr>
            <a:spLocks xmlns:a="http://schemas.openxmlformats.org/drawingml/2006/main" noGrp="1"/>
          </p:cNvSpPr>
          <p:nvPr/>
        </p:nvSpPr>
        <p:spPr>
          <a:xfrm xmlns:a="http://schemas.openxmlformats.org/drawingml/2006/main">
            <a:off x="609600" y="4572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450" b="1">
                <a:solidFill>
                  <a:srgbClr val="18253E"/>
                </a:solidFill>
                <a:latin typeface="Segoe UI"/>
                <a:ea typeface="Segoe UI"/>
                <a:cs typeface="Segoe UI"/>
              </a:defRPr>
            </a:defPPr>
          </a:lstStyle>
          <a:p xmlns:a="http://schemas.openxmlformats.org/drawingml/2006/main">
            <a:pPr>
              <a:defRPr sz="3450" b="1">
                <a:solidFill>
                  <a:srgbClr val="18253E"/>
                </a:solidFill>
                <a:latin typeface="Segoe UI"/>
                <a:ea typeface="Segoe UI"/>
                <a:cs typeface="Segoe UI"/>
              </a:defRPr>
            </a:pPr>
            <a:r>
              <a:rPr sz="3450" b="1">
                <a:solidFill>
                  <a:srgbClr val="18253E"/>
                </a:solidFill>
                <a:latin typeface="Segoe UI"/>
                <a:ea typeface="Segoe UI"/>
                <a:cs typeface="Segoe UI"/>
              </a:rPr>
              <a:t>Working flowchart</a:t>
            </a:r>
          </a:p>
        </p:txBody>
      </p:sp>
      <p:sp>
        <p:nvSpPr>
          <p:cNvPr id="2" name="">
            <a:extLst xmlns:a="http://schemas.openxmlformats.org/drawingml/2006/main">
              <a:ext uri="{FF2B5EF4-FFF2-40B4-BE49-F238E27FC236}">
                <a16:creationId xmlns:a16="http://schemas.microsoft.com/office/drawing/2014/main" id="{24417531-6EF7-4762-A75B-55E496CE84CB}"/>
              </a:ext>
            </a:extLst>
          </p:cNvPr>
          <p:cNvSpPr>
            <a:spLocks xmlns:a="http://schemas.openxmlformats.org/drawingml/2006/main" noGrp="1"/>
          </p:cNvSpPr>
          <p:nvPr/>
        </p:nvSpPr>
        <p:spPr>
          <a:xfrm xmlns:a="http://schemas.openxmlformats.org/drawingml/2006/main">
            <a:off x="11049000" y="6391275"/>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59667C"/>
                </a:solidFill>
                <a:latin typeface="Segoe UI"/>
                <a:ea typeface="Segoe UI"/>
                <a:cs typeface="Segoe UI"/>
              </a:defRPr>
            </a:defPPr>
          </a:lstStyle>
          <a:p xmlns:a="http://schemas.openxmlformats.org/drawingml/2006/main">
            <a:pPr>
              <a:defRPr sz="1200" b="0">
                <a:solidFill>
                  <a:srgbClr val="59667C"/>
                </a:solidFill>
                <a:latin typeface="Segoe UI"/>
                <a:ea typeface="Segoe UI"/>
                <a:cs typeface="Segoe UI"/>
              </a:defRPr>
            </a:pPr>
            <a:r>
              <a:rPr sz="1200" b="0">
                <a:solidFill>
                  <a:srgbClr val="59667C"/>
                </a:solidFill>
                <a:latin typeface="Segoe UI"/>
                <a:ea typeface="Segoe UI"/>
                <a:cs typeface="Segoe UI"/>
              </a:rPr>
              <a:t>09</a:t>
            </a:r>
          </a:p>
        </p:txBody>
      </p:sp>
      <p:sp>
        <p:nvSpPr>
          <p:cNvPr id="3" name="">
            <a:extLst xmlns:a="http://schemas.openxmlformats.org/drawingml/2006/main">
              <a:ext uri="{FF2B5EF4-FFF2-40B4-BE49-F238E27FC236}">
                <a16:creationId xmlns:a16="http://schemas.microsoft.com/office/drawing/2014/main" id="{B9E023A8-FF76-457A-9337-51CD93F765FC}"/>
              </a:ext>
            </a:extLst>
          </p:cNvPr>
          <p:cNvSpPr>
            <a:spLocks xmlns:a="http://schemas.openxmlformats.org/drawingml/2006/main" noGrp="1"/>
          </p:cNvSpPr>
          <p:nvPr/>
        </p:nvSpPr>
        <p:spPr>
          <a:xfrm xmlns:a="http://schemas.openxmlformats.org/drawingml/2006/main">
            <a:off x="609600" y="1714500"/>
            <a:ext cx="3476625" cy="666750"/>
          </a:xfrm>
          <a:prstGeom xmlns:a="http://schemas.openxmlformats.org/drawingml/2006/main" prst="rect">
            <a:avLst/>
          </a:prstGeom>
          <a:solidFill xmlns:a="http://schemas.openxmlformats.org/drawingml/2006/main">
            <a:srgbClr val="EDF1FF"/>
          </a:solidFill>
          <a:ln xmlns:a="http://schemas.openxmlformats.org/drawingml/2006/main" w="12383">
            <a:solidFill>
              <a:srgbClr val="315EF4"/>
            </a:solidFill>
          </a:ln>
        </p:spPr>
        <p:txBody>
          <a:bodyPr xmlns:a="http://schemas.openxmlformats.org/drawingml/2006/main" anchor="ctr">
            <a:noAutofit/>
          </a:bodyPr>
          <a:lstStyle xmlns:a="http://schemas.openxmlformats.org/drawingml/2006/main">
            <a:defPPr algn="ctr">
              <a:defRPr sz="1875" b="1">
                <a:solidFill>
                  <a:srgbClr val="18253E"/>
                </a:solidFill>
                <a:latin typeface="Segoe UI"/>
                <a:ea typeface="Segoe UI"/>
                <a:cs typeface="Segoe UI"/>
              </a:defRPr>
            </a:defPPr>
          </a:lstStyle>
          <a:p xmlns:a="http://schemas.openxmlformats.org/drawingml/2006/main">
            <a:pPr algn="ctr">
              <a:defRPr sz="1875" b="1">
                <a:solidFill>
                  <a:srgbClr val="18253E"/>
                </a:solidFill>
                <a:latin typeface="Segoe UI"/>
                <a:ea typeface="Segoe UI"/>
                <a:cs typeface="Segoe UI"/>
              </a:defRPr>
            </a:pPr>
            <a:r>
              <a:rPr sz="1875" b="1">
                <a:solidFill>
                  <a:srgbClr val="18253E"/>
                </a:solidFill>
                <a:latin typeface="Segoe UI"/>
                <a:ea typeface="Segoe UI"/>
                <a:cs typeface="Segoe UI"/>
              </a:rPr>
              <a:t>Edit files and program input</a:t>
            </a:r>
          </a:p>
        </p:txBody>
      </p:sp>
      <p:sp>
        <p:nvSpPr>
          <p:cNvPr id="4" name="">
            <a:extLst xmlns:a="http://schemas.openxmlformats.org/drawingml/2006/main">
              <a:ext uri="{FF2B5EF4-FFF2-40B4-BE49-F238E27FC236}">
                <a16:creationId xmlns:a16="http://schemas.microsoft.com/office/drawing/2014/main" id="{5EBC383F-C018-471D-ACEE-310989BE9174}"/>
              </a:ext>
            </a:extLst>
          </p:cNvPr>
          <p:cNvSpPr>
            <a:spLocks xmlns:a="http://schemas.openxmlformats.org/drawingml/2006/main" noGrp="1"/>
          </p:cNvSpPr>
          <p:nvPr/>
        </p:nvSpPr>
        <p:spPr>
          <a:xfrm xmlns:a="http://schemas.openxmlformats.org/drawingml/2006/main">
            <a:off x="609600" y="2724150"/>
            <a:ext cx="3476625" cy="666750"/>
          </a:xfrm>
          <a:prstGeom xmlns:a="http://schemas.openxmlformats.org/drawingml/2006/main" prst="rect">
            <a:avLst/>
          </a:prstGeom>
          <a:solidFill xmlns:a="http://schemas.openxmlformats.org/drawingml/2006/main">
            <a:srgbClr val="EDF1FF"/>
          </a:solidFill>
          <a:ln xmlns:a="http://schemas.openxmlformats.org/drawingml/2006/main" w="12383">
            <a:solidFill>
              <a:srgbClr val="315EF4"/>
            </a:solidFill>
          </a:ln>
        </p:spPr>
        <p:txBody>
          <a:bodyPr xmlns:a="http://schemas.openxmlformats.org/drawingml/2006/main" anchor="ctr">
            <a:noAutofit/>
          </a:bodyPr>
          <a:lstStyle xmlns:a="http://schemas.openxmlformats.org/drawingml/2006/main">
            <a:defPPr algn="ctr">
              <a:defRPr sz="1875" b="1">
                <a:solidFill>
                  <a:srgbClr val="18253E"/>
                </a:solidFill>
                <a:latin typeface="Segoe UI"/>
                <a:ea typeface="Segoe UI"/>
                <a:cs typeface="Segoe UI"/>
              </a:defRPr>
            </a:defPPr>
          </a:lstStyle>
          <a:p xmlns:a="http://schemas.openxmlformats.org/drawingml/2006/main">
            <a:pPr algn="ctr">
              <a:defRPr sz="1875" b="1">
                <a:solidFill>
                  <a:srgbClr val="18253E"/>
                </a:solidFill>
                <a:latin typeface="Segoe UI"/>
                <a:ea typeface="Segoe UI"/>
                <a:cs typeface="Segoe UI"/>
              </a:defRPr>
            </a:pPr>
            <a:r>
              <a:rPr sz="1875" b="1">
                <a:solidFill>
                  <a:srgbClr val="18253E"/>
                </a:solidFill>
                <a:latin typeface="Segoe UI"/>
                <a:ea typeface="Segoe UI"/>
                <a:cs typeface="Segoe UI"/>
              </a:rPr>
              <a:t>Submit compilation request</a:t>
            </a:r>
          </a:p>
        </p:txBody>
      </p:sp>
      <p:sp>
        <p:nvSpPr>
          <p:cNvPr id="5" name="">
            <a:extLst xmlns:a="http://schemas.openxmlformats.org/drawingml/2006/main">
              <a:ext uri="{FF2B5EF4-FFF2-40B4-BE49-F238E27FC236}">
                <a16:creationId xmlns:a16="http://schemas.microsoft.com/office/drawing/2014/main" id="{076E819F-D379-4921-84ED-BB3D2C2A1446}"/>
              </a:ext>
            </a:extLst>
          </p:cNvPr>
          <p:cNvSpPr>
            <a:spLocks xmlns:a="http://schemas.openxmlformats.org/drawingml/2006/main" noGrp="1"/>
          </p:cNvSpPr>
          <p:nvPr/>
        </p:nvSpPr>
        <p:spPr>
          <a:xfrm xmlns:a="http://schemas.openxmlformats.org/drawingml/2006/main">
            <a:off x="609600" y="3733800"/>
            <a:ext cx="3476625" cy="838200"/>
          </a:xfrm>
          <a:prstGeom xmlns:a="http://schemas.openxmlformats.org/drawingml/2006/main" prst="diamond">
            <a:avLst/>
          </a:prstGeom>
          <a:solidFill xmlns:a="http://schemas.openxmlformats.org/drawingml/2006/main">
            <a:srgbClr val="EDF1FF"/>
          </a:solidFill>
          <a:ln xmlns:a="http://schemas.openxmlformats.org/drawingml/2006/main" w="12383">
            <a:solidFill>
              <a:srgbClr val="315EF4"/>
            </a:solidFill>
          </a:ln>
        </p:spPr>
        <p:txBody>
          <a:bodyPr xmlns:a="http://schemas.openxmlformats.org/drawingml/2006/main" anchor="ctr">
            <a:noAutofit/>
          </a:bodyPr>
          <a:lstStyle xmlns:a="http://schemas.openxmlformats.org/drawingml/2006/main">
            <a:defPPr algn="ctr">
              <a:defRPr sz="1800" b="1">
                <a:solidFill>
                  <a:srgbClr val="18253E"/>
                </a:solidFill>
                <a:latin typeface="Segoe UI"/>
                <a:ea typeface="Segoe UI"/>
                <a:cs typeface="Segoe UI"/>
              </a:defRPr>
            </a:defPPr>
          </a:lstStyle>
          <a:p xmlns:a="http://schemas.openxmlformats.org/drawingml/2006/main">
            <a:pPr algn="ctr">
              <a:defRPr sz="1800" b="1">
                <a:solidFill>
                  <a:srgbClr val="18253E"/>
                </a:solidFill>
                <a:latin typeface="Segoe UI"/>
                <a:ea typeface="Segoe UI"/>
                <a:cs typeface="Segoe UI"/>
              </a:defRPr>
            </a:pPr>
            <a:r>
              <a:rPr sz="1800" b="1">
                <a:solidFill>
                  <a:srgbClr val="18253E"/>
                </a:solidFill>
                <a:latin typeface="Segoe UI"/>
                <a:ea typeface="Segoe UI"/>
                <a:cs typeface="Segoe UI"/>
              </a:rPr>
              <a:t>Validate request</a:t>
            </a:r>
          </a:p>
        </p:txBody>
      </p:sp>
      <p:sp>
        <p:nvSpPr>
          <p:cNvPr id="6" name="">
            <a:extLst xmlns:a="http://schemas.openxmlformats.org/drawingml/2006/main">
              <a:ext uri="{FF2B5EF4-FFF2-40B4-BE49-F238E27FC236}">
                <a16:creationId xmlns:a16="http://schemas.microsoft.com/office/drawing/2014/main" id="{0C9CB2C9-3D1B-460B-97B3-DF31295D7265}"/>
              </a:ext>
            </a:extLst>
          </p:cNvPr>
          <p:cNvSpPr>
            <a:spLocks xmlns:a="http://schemas.openxmlformats.org/drawingml/2006/main" noGrp="1"/>
          </p:cNvSpPr>
          <p:nvPr/>
        </p:nvSpPr>
        <p:spPr>
          <a:xfrm xmlns:a="http://schemas.openxmlformats.org/drawingml/2006/main">
            <a:off x="609600" y="4914900"/>
            <a:ext cx="3476625" cy="666750"/>
          </a:xfrm>
          <a:prstGeom xmlns:a="http://schemas.openxmlformats.org/drawingml/2006/main" prst="rect">
            <a:avLst/>
          </a:prstGeom>
          <a:solidFill xmlns:a="http://schemas.openxmlformats.org/drawingml/2006/main">
            <a:srgbClr val="EDF1FF"/>
          </a:solidFill>
          <a:ln xmlns:a="http://schemas.openxmlformats.org/drawingml/2006/main" w="12383">
            <a:solidFill>
              <a:srgbClr val="315EF4"/>
            </a:solidFill>
          </a:ln>
        </p:spPr>
        <p:txBody>
          <a:bodyPr xmlns:a="http://schemas.openxmlformats.org/drawingml/2006/main" anchor="ctr">
            <a:noAutofit/>
          </a:bodyPr>
          <a:lstStyle xmlns:a="http://schemas.openxmlformats.org/drawingml/2006/main">
            <a:defPPr algn="ctr">
              <a:defRPr sz="1875" b="1">
                <a:solidFill>
                  <a:srgbClr val="18253E"/>
                </a:solidFill>
                <a:latin typeface="Segoe UI"/>
                <a:ea typeface="Segoe UI"/>
                <a:cs typeface="Segoe UI"/>
              </a:defRPr>
            </a:defPPr>
          </a:lstStyle>
          <a:p xmlns:a="http://schemas.openxmlformats.org/drawingml/2006/main">
            <a:pPr algn="ctr">
              <a:defRPr sz="1875" b="1">
                <a:solidFill>
                  <a:srgbClr val="18253E"/>
                </a:solidFill>
                <a:latin typeface="Segoe UI"/>
                <a:ea typeface="Segoe UI"/>
                <a:cs typeface="Segoe UI"/>
              </a:defRPr>
            </a:pPr>
            <a:r>
              <a:rPr sz="1875" b="1">
                <a:solidFill>
                  <a:srgbClr val="18253E"/>
                </a:solidFill>
                <a:latin typeface="Segoe UI"/>
                <a:ea typeface="Segoe UI"/>
                <a:cs typeface="Segoe UI"/>
              </a:rPr>
              <a:t>Analyze input and create job files</a:t>
            </a:r>
          </a:p>
        </p:txBody>
      </p:sp>
      <p:sp>
        <p:nvSpPr>
          <p:cNvPr id="10" name="">
            <a:extLst xmlns:a="http://schemas.openxmlformats.org/drawingml/2006/main">
              <a:ext uri="{FF2B5EF4-FFF2-40B4-BE49-F238E27FC236}">
                <a16:creationId xmlns:a16="http://schemas.microsoft.com/office/drawing/2014/main" id="{4BB65C7E-FD12-4248-9344-8CC79CA67E67}"/>
              </a:ext>
            </a:extLst>
          </p:cNvPr>
          <p:cNvSpPr>
            <a:spLocks xmlns:a="http://schemas.openxmlformats.org/drawingml/2006/main" noGrp="1"/>
          </p:cNvSpPr>
          <p:nvPr/>
        </p:nvSpPr>
        <p:spPr>
          <a:xfrm xmlns:a="http://schemas.openxmlformats.org/drawingml/2006/main">
            <a:off x="2514600" y="4581525"/>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315EF4"/>
                </a:solidFill>
                <a:latin typeface="Segoe UI"/>
                <a:ea typeface="Segoe UI"/>
                <a:cs typeface="Segoe UI"/>
              </a:defRPr>
            </a:defPPr>
          </a:lstStyle>
          <a:p xmlns:a="http://schemas.openxmlformats.org/drawingml/2006/main">
            <a:pPr>
              <a:defRPr sz="1500" b="1">
                <a:solidFill>
                  <a:srgbClr val="315EF4"/>
                </a:solidFill>
                <a:latin typeface="Segoe UI"/>
                <a:ea typeface="Segoe UI"/>
                <a:cs typeface="Segoe UI"/>
              </a:defRPr>
            </a:pPr>
            <a:r>
              <a:rPr sz="1500" b="1">
                <a:solidFill>
                  <a:srgbClr val="315EF4"/>
                </a:solidFill>
                <a:latin typeface="Segoe UI"/>
                <a:ea typeface="Segoe UI"/>
                <a:cs typeface="Segoe UI"/>
              </a:rPr>
              <a:t>Valid</a:t>
            </a:r>
          </a:p>
        </p:txBody>
      </p:sp>
      <p:sp>
        <p:nvSpPr>
          <p:cNvPr id="11" name="">
            <a:extLst xmlns:a="http://schemas.openxmlformats.org/drawingml/2006/main">
              <a:ext uri="{FF2B5EF4-FFF2-40B4-BE49-F238E27FC236}">
                <a16:creationId xmlns:a16="http://schemas.microsoft.com/office/drawing/2014/main" id="{AFA69B6B-A192-43CF-8A81-D9885F95E2BF}"/>
              </a:ext>
            </a:extLst>
          </p:cNvPr>
          <p:cNvSpPr>
            <a:spLocks xmlns:a="http://schemas.openxmlformats.org/drawingml/2006/main" noGrp="1"/>
          </p:cNvSpPr>
          <p:nvPr/>
        </p:nvSpPr>
        <p:spPr>
          <a:xfrm xmlns:a="http://schemas.openxmlformats.org/drawingml/2006/main">
            <a:off x="8420100" y="4914900"/>
            <a:ext cx="3143250" cy="666750"/>
          </a:xfrm>
          <a:prstGeom xmlns:a="http://schemas.openxmlformats.org/drawingml/2006/main" prst="rect">
            <a:avLst/>
          </a:prstGeom>
          <a:solidFill xmlns:a="http://schemas.openxmlformats.org/drawingml/2006/main">
            <a:srgbClr val="315EF4"/>
          </a:solidFill>
          <a:ln xmlns:a="http://schemas.openxmlformats.org/drawingml/2006/main" w="12383">
            <a:solidFill>
              <a:srgbClr val="315EF4"/>
            </a:solidFill>
          </a:ln>
        </p:spPr>
        <p:txBody>
          <a:bodyPr xmlns:a="http://schemas.openxmlformats.org/drawingml/2006/main" anchor="ctr">
            <a:noAutofit/>
          </a:bodyPr>
          <a:lstStyle xmlns:a="http://schemas.openxmlformats.org/drawingml/2006/main">
            <a:defPPr algn="ctr">
              <a:defRPr sz="1875" b="1">
                <a:solidFill>
                  <a:srgbClr val="FFFFFF"/>
                </a:solidFill>
                <a:latin typeface="Segoe UI"/>
                <a:ea typeface="Segoe UI"/>
                <a:cs typeface="Segoe UI"/>
              </a:defRPr>
            </a:defPPr>
          </a:lstStyle>
          <a:p xmlns:a="http://schemas.openxmlformats.org/drawingml/2006/main">
            <a:pPr algn="ctr">
              <a:defRPr sz="1875" b="1">
                <a:solidFill>
                  <a:srgbClr val="FFFFFF"/>
                </a:solidFill>
                <a:latin typeface="Segoe UI"/>
                <a:ea typeface="Segoe UI"/>
                <a:cs typeface="Segoe UI"/>
              </a:defRPr>
            </a:pPr>
            <a:r>
              <a:rPr sz="1875" b="1">
                <a:solidFill>
                  <a:srgbClr val="FFFFFF"/>
                </a:solidFill>
                <a:latin typeface="Segoe UI"/>
                <a:ea typeface="Segoe UI"/>
                <a:cs typeface="Segoe UI"/>
              </a:rPr>
              <a:t>Generate C, compile, and run</a:t>
            </a:r>
          </a:p>
        </p:txBody>
      </p:sp>
      <p:sp>
        <p:nvSpPr>
          <p:cNvPr id="13" name="">
            <a:extLst xmlns:a="http://schemas.openxmlformats.org/drawingml/2006/main">
              <a:ext uri="{FF2B5EF4-FFF2-40B4-BE49-F238E27FC236}">
                <a16:creationId xmlns:a16="http://schemas.microsoft.com/office/drawing/2014/main" id="{2369C320-400F-490A-9379-BA04298D11D8}"/>
              </a:ext>
            </a:extLst>
          </p:cNvPr>
          <p:cNvSpPr>
            <a:spLocks xmlns:a="http://schemas.openxmlformats.org/drawingml/2006/main" noGrp="1"/>
          </p:cNvSpPr>
          <p:nvPr/>
        </p:nvSpPr>
        <p:spPr>
          <a:xfrm xmlns:a="http://schemas.openxmlformats.org/drawingml/2006/main">
            <a:off x="8420100" y="2724150"/>
            <a:ext cx="3143250" cy="952500"/>
          </a:xfrm>
          <a:prstGeom xmlns:a="http://schemas.openxmlformats.org/drawingml/2006/main" prst="rect">
            <a:avLst/>
          </a:prstGeom>
          <a:solidFill xmlns:a="http://schemas.openxmlformats.org/drawingml/2006/main">
            <a:srgbClr val="EDF1FF"/>
          </a:solidFill>
          <a:ln xmlns:a="http://schemas.openxmlformats.org/drawingml/2006/main" w="12383">
            <a:solidFill>
              <a:srgbClr val="315EF4"/>
            </a:solidFill>
          </a:ln>
        </p:spPr>
        <p:txBody>
          <a:bodyPr xmlns:a="http://schemas.openxmlformats.org/drawingml/2006/main" anchor="ctr">
            <a:noAutofit/>
          </a:bodyPr>
          <a:lstStyle xmlns:a="http://schemas.openxmlformats.org/drawingml/2006/main">
            <a:defPPr algn="ctr">
              <a:defRPr sz="1875" b="1">
                <a:solidFill>
                  <a:srgbClr val="18253E"/>
                </a:solidFill>
                <a:latin typeface="Segoe UI"/>
                <a:ea typeface="Segoe UI"/>
                <a:cs typeface="Segoe UI"/>
              </a:defRPr>
            </a:defPPr>
          </a:lstStyle>
          <a:p xmlns:a="http://schemas.openxmlformats.org/drawingml/2006/main">
            <a:pPr algn="ctr">
              <a:defRPr sz="1875" b="1">
                <a:solidFill>
                  <a:srgbClr val="18253E"/>
                </a:solidFill>
                <a:latin typeface="Segoe UI"/>
                <a:ea typeface="Segoe UI"/>
                <a:cs typeface="Segoe UI"/>
              </a:defRPr>
            </a:pPr>
            <a:r>
              <a:rPr sz="1875" b="1">
                <a:solidFill>
                  <a:srgbClr val="18253E"/>
                </a:solidFill>
                <a:latin typeface="Segoe UI"/>
                <a:ea typeface="Segoe UI"/>
                <a:cs typeface="Segoe UI"/>
              </a:rPr>
              <a:t>Return results and clean job files</a:t>
            </a:r>
          </a:p>
        </p:txBody>
      </p:sp>
      <p:sp>
        <p:nvSpPr>
          <p:cNvPr id="15" name="">
            <a:extLst xmlns:a="http://schemas.openxmlformats.org/drawingml/2006/main">
              <a:ext uri="{FF2B5EF4-FFF2-40B4-BE49-F238E27FC236}">
                <a16:creationId xmlns:a16="http://schemas.microsoft.com/office/drawing/2014/main" id="{AA28E38D-02F3-401E-BC92-169A6FBA0EDF}"/>
              </a:ext>
            </a:extLst>
          </p:cNvPr>
          <p:cNvSpPr>
            <a:spLocks xmlns:a="http://schemas.openxmlformats.org/drawingml/2006/main" noGrp="1"/>
          </p:cNvSpPr>
          <p:nvPr/>
        </p:nvSpPr>
        <p:spPr>
          <a:xfrm xmlns:a="http://schemas.openxmlformats.org/drawingml/2006/main">
            <a:off x="4714875" y="3733800"/>
            <a:ext cx="2857500" cy="838200"/>
          </a:xfrm>
          <a:prstGeom xmlns:a="http://schemas.openxmlformats.org/drawingml/2006/main" prst="rect">
            <a:avLst/>
          </a:prstGeom>
          <a:solidFill xmlns:a="http://schemas.openxmlformats.org/drawingml/2006/main">
            <a:srgbClr val="FFFFFF"/>
          </a:solidFill>
          <a:ln xmlns:a="http://schemas.openxmlformats.org/drawingml/2006/main" w="12383">
            <a:solidFill>
              <a:srgbClr val="DAE1EF"/>
            </a:solidFill>
          </a:ln>
        </p:spPr>
        <p:txBody>
          <a:bodyPr xmlns:a="http://schemas.openxmlformats.org/drawingml/2006/main" anchor="ctr">
            <a:noAutofit/>
          </a:bodyPr>
          <a:lstStyle xmlns:a="http://schemas.openxmlformats.org/drawingml/2006/main">
            <a:defPPr algn="ctr">
              <a:defRPr sz="1875" b="1">
                <a:solidFill>
                  <a:srgbClr val="18253E"/>
                </a:solidFill>
                <a:latin typeface="Segoe UI"/>
                <a:ea typeface="Segoe UI"/>
                <a:cs typeface="Segoe UI"/>
              </a:defRPr>
            </a:defPPr>
          </a:lstStyle>
          <a:p xmlns:a="http://schemas.openxmlformats.org/drawingml/2006/main">
            <a:pPr algn="ctr">
              <a:defRPr sz="1875" b="1">
                <a:solidFill>
                  <a:srgbClr val="18253E"/>
                </a:solidFill>
                <a:latin typeface="Segoe UI"/>
                <a:ea typeface="Segoe UI"/>
                <a:cs typeface="Segoe UI"/>
              </a:defRPr>
            </a:pPr>
            <a:r>
              <a:rPr sz="1875" b="1">
                <a:solidFill>
                  <a:srgbClr val="18253E"/>
                </a:solidFill>
                <a:latin typeface="Segoe UI"/>
                <a:ea typeface="Segoe UI"/>
                <a:cs typeface="Segoe UI"/>
              </a:rPr>
              <a:t>Return a validation error</a:t>
            </a:r>
          </a:p>
        </p:txBody>
      </p:sp>
      <p:sp>
        <p:nvSpPr>
          <p:cNvPr id="17" name="">
            <a:extLst xmlns:a="http://schemas.openxmlformats.org/drawingml/2006/main">
              <a:ext uri="{FF2B5EF4-FFF2-40B4-BE49-F238E27FC236}">
                <a16:creationId xmlns:a16="http://schemas.microsoft.com/office/drawing/2014/main" id="{73630CF8-B1E1-4F2B-A366-6A084F950539}"/>
              </a:ext>
            </a:extLst>
          </p:cNvPr>
          <p:cNvSpPr>
            <a:spLocks xmlns:a="http://schemas.openxmlformats.org/drawingml/2006/main" noGrp="1"/>
          </p:cNvSpPr>
          <p:nvPr/>
        </p:nvSpPr>
        <p:spPr>
          <a:xfrm xmlns:a="http://schemas.openxmlformats.org/drawingml/2006/main">
            <a:off x="4429125" y="3381375"/>
            <a:ext cx="1619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59667C"/>
                </a:solidFill>
                <a:latin typeface="Segoe UI"/>
                <a:ea typeface="Segoe UI"/>
                <a:cs typeface="Segoe UI"/>
              </a:defRPr>
            </a:defPPr>
          </a:lstStyle>
          <a:p xmlns:a="http://schemas.openxmlformats.org/drawingml/2006/main">
            <a:pPr>
              <a:defRPr sz="1500" b="0">
                <a:solidFill>
                  <a:srgbClr val="59667C"/>
                </a:solidFill>
                <a:latin typeface="Segoe UI"/>
                <a:ea typeface="Segoe UI"/>
                <a:cs typeface="Segoe UI"/>
              </a:defRPr>
            </a:pPr>
            <a:r>
              <a:rPr sz="1500" b="0">
                <a:solidFill>
                  <a:srgbClr val="59667C"/>
                </a:solidFill>
                <a:latin typeface="Segoe UI"/>
                <a:ea typeface="Segoe UI"/>
                <a:cs typeface="Segoe UI"/>
              </a:rPr>
              <a:t>Invalid</a:t>
            </a:r>
          </a:p>
        </p:txBody>
      </p:sp>
      <p:sp>
        <p:nvSpPr>
          <p:cNvPr id="18" name="">
            <a:extLst xmlns:a="http://schemas.openxmlformats.org/drawingml/2006/main">
              <a:ext uri="{FF2B5EF4-FFF2-40B4-BE49-F238E27FC236}">
                <a16:creationId xmlns:a16="http://schemas.microsoft.com/office/drawing/2014/main" id="{3A189384-22ED-42C6-83CC-A79323C84556}"/>
              </a:ext>
            </a:extLst>
          </p:cNvPr>
          <p:cNvSpPr>
            <a:spLocks xmlns:a="http://schemas.openxmlformats.org/drawingml/2006/main" noGrp="1"/>
          </p:cNvSpPr>
          <p:nvPr/>
        </p:nvSpPr>
        <p:spPr>
          <a:xfrm xmlns:a="http://schemas.openxmlformats.org/drawingml/2006/main">
            <a:off x="8420100" y="1695450"/>
            <a:ext cx="314325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59667C"/>
                </a:solidFill>
                <a:latin typeface="Segoe UI"/>
                <a:ea typeface="Segoe UI"/>
                <a:cs typeface="Segoe UI"/>
              </a:defRPr>
            </a:defPPr>
          </a:lstStyle>
          <a:p xmlns:a="http://schemas.openxmlformats.org/drawingml/2006/main">
            <a:pPr>
              <a:defRPr sz="1875" b="0">
                <a:solidFill>
                  <a:srgbClr val="59667C"/>
                </a:solidFill>
                <a:latin typeface="Segoe UI"/>
                <a:ea typeface="Segoe UI"/>
                <a:cs typeface="Segoe UI"/>
              </a:defRPr>
            </a:pPr>
            <a:r>
              <a:rPr sz="1875" b="0">
                <a:solidFill>
                  <a:srgbClr val="59667C"/>
                </a:solidFill>
                <a:latin typeface="Segoe UI"/>
                <a:ea typeface="Segoe UI"/>
                <a:cs typeface="Segoe UI"/>
              </a:rPr>
              <a:t>Failures identify the failing phase and preserve available results.</a:t>
            </a:r>
          </a:p>
        </p:txBody>
      </p:sp>
    </p:spTree>
    <p:extLst>
      <p:ext uri="{BB962C8B-B14F-4D97-AF65-F5344CB8AC3E}">
        <p14:creationId xmlns:p14="http://schemas.microsoft.com/office/powerpoint/2010/main" val="238358848"/>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85BBA48-7A06-4A8E-8088-FAFEBDED08B4}"/>
              </a:ext>
            </a:extLst>
          </p:cNvPr>
          <p:cNvSpPr>
            <a:spLocks xmlns:a="http://schemas.openxmlformats.org/drawingml/2006/main" noGrp="1"/>
          </p:cNvSpPr>
          <p:nvPr/>
        </p:nvSpPr>
        <p:spPr>
          <a:xfrm xmlns:a="http://schemas.openxmlformats.org/drawingml/2006/main">
            <a:off x="609600" y="4572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450" b="1">
                <a:solidFill>
                  <a:srgbClr val="18253E"/>
                </a:solidFill>
                <a:latin typeface="Segoe UI"/>
                <a:ea typeface="Segoe UI"/>
                <a:cs typeface="Segoe UI"/>
              </a:defRPr>
            </a:defPPr>
          </a:lstStyle>
          <a:p xmlns:a="http://schemas.openxmlformats.org/drawingml/2006/main">
            <a:pPr>
              <a:defRPr sz="3450" b="1">
                <a:solidFill>
                  <a:srgbClr val="18253E"/>
                </a:solidFill>
                <a:latin typeface="Segoe UI"/>
                <a:ea typeface="Segoe UI"/>
                <a:cs typeface="Segoe UI"/>
              </a:defRPr>
            </a:pPr>
            <a:r>
              <a:rPr sz="3450" b="1">
                <a:solidFill>
                  <a:srgbClr val="18253E"/>
                </a:solidFill>
                <a:latin typeface="Segoe UI"/>
                <a:ea typeface="Segoe UI"/>
                <a:cs typeface="Segoe UI"/>
              </a:rPr>
              <a:t>Data storage and lifecycle</a:t>
            </a:r>
          </a:p>
        </p:txBody>
      </p:sp>
      <p:sp>
        <p:nvSpPr>
          <p:cNvPr id="2" name="">
            <a:extLst xmlns:a="http://schemas.openxmlformats.org/drawingml/2006/main">
              <a:ext uri="{FF2B5EF4-FFF2-40B4-BE49-F238E27FC236}">
                <a16:creationId xmlns:a16="http://schemas.microsoft.com/office/drawing/2014/main" id="{93DB8839-38A1-4157-8464-E0D3F40165BE}"/>
              </a:ext>
            </a:extLst>
          </p:cNvPr>
          <p:cNvSpPr>
            <a:spLocks xmlns:a="http://schemas.openxmlformats.org/drawingml/2006/main" noGrp="1"/>
          </p:cNvSpPr>
          <p:nvPr/>
        </p:nvSpPr>
        <p:spPr>
          <a:xfrm xmlns:a="http://schemas.openxmlformats.org/drawingml/2006/main">
            <a:off x="11049000" y="6391275"/>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59667C"/>
                </a:solidFill>
                <a:latin typeface="Segoe UI"/>
                <a:ea typeface="Segoe UI"/>
                <a:cs typeface="Segoe UI"/>
              </a:defRPr>
            </a:defPPr>
          </a:lstStyle>
          <a:p xmlns:a="http://schemas.openxmlformats.org/drawingml/2006/main">
            <a:pPr>
              <a:defRPr sz="1200" b="0">
                <a:solidFill>
                  <a:srgbClr val="59667C"/>
                </a:solidFill>
                <a:latin typeface="Segoe UI"/>
                <a:ea typeface="Segoe UI"/>
                <a:cs typeface="Segoe UI"/>
              </a:defRPr>
            </a:pPr>
            <a:r>
              <a:rPr sz="1200" b="0">
                <a:solidFill>
                  <a:srgbClr val="59667C"/>
                </a:solidFill>
                <a:latin typeface="Segoe UI"/>
                <a:ea typeface="Segoe UI"/>
                <a:cs typeface="Segoe UI"/>
              </a:rPr>
              <a:t>10</a:t>
            </a:r>
          </a:p>
        </p:txBody>
      </p:sp>
      <p:graphicFrame>
        <p:nvGraphicFramePr>
          <p:cNvPr id="3" name="">
            <a:extLst xmlns:a="http://schemas.openxmlformats.org/drawingml/2006/main">
              <a:ext uri="{FF2B5EF4-FFF2-40B4-BE49-F238E27FC236}">
                <a16:creationId xmlns:a16="http://schemas.microsoft.com/office/drawing/2014/main" id="{4CDB42DE-7CE7-451D-93DF-FFCC33BDEC37}"/>
              </a:ext>
            </a:extLst>
          </p:cNvPr>
          <p:cNvGraphicFramePr/>
          <p:nvPr/>
        </p:nvGraphicFramePr>
        <p:xfrm>
          <a:off xmlns:a="http://schemas.openxmlformats.org/drawingml/2006/main" x="609600" y="1628775"/>
          <a:ext xmlns:a="http://schemas.openxmlformats.org/drawingml/2006/main" cx="10972800" cy="4095750"/>
        </p:xfrm>
        <a:graphic xmlns:a="http://schemas.openxmlformats.org/drawingml/2006/main">
          <a:graphicData uri="http://schemas.openxmlformats.org/drawingml/2006/table">
            <a:tbl>
              <a:tblPr/>
              <a:tblGrid>
                <a:gridCol w="3095625"/>
                <a:gridCol w="4543425"/>
                <a:gridCol w="3333750"/>
              </a:tblGrid>
              <a:tr h="609600">
                <a:tc>
                  <a:txBody>
                    <a:bodyPr/>
                    <a:lstStyle/>
                    <a:p>
                      <a:r>
                        <a:rPr sz="1800" b="1">
                          <a:solidFill>
                            <a:srgbClr val="FFFFFF"/>
                          </a:solidFill>
                          <a:latin typeface="Segoe UI"/>
                          <a:ea typeface="Segoe UI"/>
                          <a:cs typeface="Segoe UI"/>
                        </a:rPr>
                        <a:t>Data</a:t>
                      </a:r>
                    </a:p>
                  </a:txBody>
                  <a:tcPr marL="91440" marR="91440" marT="45720" marB="45720">
                    <a:solidFill>
                      <a:srgbClr val="111B31"/>
                    </a:solidFill>
                  </a:tcPr>
                </a:tc>
                <a:tc>
                  <a:txBody>
                    <a:bodyPr/>
                    <a:lstStyle/>
                    <a:p>
                      <a:r>
                        <a:rPr sz="1800" b="1">
                          <a:solidFill>
                            <a:srgbClr val="FFFFFF"/>
                          </a:solidFill>
                          <a:latin typeface="Segoe UI"/>
                          <a:ea typeface="Segoe UI"/>
                          <a:cs typeface="Segoe UI"/>
                        </a:rPr>
                        <a:t>Storage location</a:t>
                      </a:r>
                    </a:p>
                  </a:txBody>
                  <a:tcPr marL="91440" marR="91440" marT="45720" marB="45720">
                    <a:solidFill>
                      <a:srgbClr val="111B31"/>
                    </a:solidFill>
                  </a:tcPr>
                </a:tc>
                <a:tc>
                  <a:txBody>
                    <a:bodyPr/>
                    <a:lstStyle/>
                    <a:p>
                      <a:r>
                        <a:rPr sz="1800" b="1">
                          <a:solidFill>
                            <a:srgbClr val="FFFFFF"/>
                          </a:solidFill>
                          <a:latin typeface="Segoe UI"/>
                          <a:ea typeface="Segoe UI"/>
                          <a:cs typeface="Segoe UI"/>
                        </a:rPr>
                        <a:t>Lifetime</a:t>
                      </a:r>
                    </a:p>
                  </a:txBody>
                  <a:tcPr marL="91440" marR="91440" marT="45720" marB="45720">
                    <a:solidFill>
                      <a:srgbClr val="111B31"/>
                    </a:solidFill>
                  </a:tcPr>
                </a:tc>
              </a:tr>
              <a:tr h="871538">
                <a:tc>
                  <a:txBody>
                    <a:bodyPr/>
                    <a:lstStyle/>
                    <a:p>
                      <a:r>
                        <a:rPr sz="1800" b="0">
                          <a:solidFill>
                            <a:srgbClr val="18253E"/>
                          </a:solidFill>
                          <a:latin typeface="Segoe UI"/>
                          <a:ea typeface="Segoe UI"/>
                          <a:cs typeface="Segoe UI"/>
                        </a:rPr>
                        <a:t>Workspace drafts and input</a:t>
                      </a:r>
                    </a:p>
                  </a:txBody>
                  <a:tcPr marL="91440" marR="91440" marT="45720" marB="45720">
                    <a:solidFill>
                      <a:srgbClr val="FFFFFF"/>
                    </a:solidFill>
                  </a:tcPr>
                </a:tc>
                <a:tc>
                  <a:txBody>
                    <a:bodyPr/>
                    <a:lstStyle/>
                    <a:p>
                      <a:r>
                        <a:rPr sz="1800" b="0">
                          <a:solidFill>
                            <a:srgbClr val="18253E"/>
                          </a:solidFill>
                          <a:latin typeface="Segoe UI"/>
                          <a:ea typeface="Segoe UI"/>
                          <a:cs typeface="Segoe UI"/>
                        </a:rPr>
                        <a:t>Browser localStorage</a:t>
                      </a:r>
                    </a:p>
                    <a:p>
                      <a:r>
                        <a:rPr sz="1800" b="0">
                          <a:solidFill>
                            <a:srgbClr val="18253E"/>
                          </a:solidFill>
                          <a:latin typeface="Segoe UI"/>
                          <a:ea typeface="Segoe UI"/>
                          <a:cs typeface="Segoe UI"/>
                        </a:rPr>
                        <a:t>lexora.workspace.v2</a:t>
                      </a:r>
                    </a:p>
                  </a:txBody>
                  <a:tcPr marL="91440" marR="91440" marT="45720" marB="45720">
                    <a:solidFill>
                      <a:srgbClr val="FFFFFF"/>
                    </a:solidFill>
                  </a:tcPr>
                </a:tc>
                <a:tc>
                  <a:txBody>
                    <a:bodyPr/>
                    <a:lstStyle/>
                    <a:p>
                      <a:r>
                        <a:rPr sz="1800" b="0">
                          <a:solidFill>
                            <a:srgbClr val="18253E"/>
                          </a:solidFill>
                          <a:latin typeface="Segoe UI"/>
                          <a:ea typeface="Segoe UI"/>
                          <a:cs typeface="Segoe UI"/>
                        </a:rPr>
                        <a:t>Persists across reloads until cleared.</a:t>
                      </a:r>
                    </a:p>
                  </a:txBody>
                  <a:tcPr marL="91440" marR="91440" marT="45720" marB="45720">
                    <a:solidFill>
                      <a:srgbClr val="FFFFFF"/>
                    </a:solidFill>
                  </a:tcPr>
                </a:tc>
              </a:tr>
              <a:tr h="871538">
                <a:tc>
                  <a:txBody>
                    <a:bodyPr/>
                    <a:lstStyle/>
                    <a:p>
                      <a:r>
                        <a:rPr sz="1800" b="0">
                          <a:solidFill>
                            <a:srgbClr val="18253E"/>
                          </a:solidFill>
                          <a:latin typeface="Segoe UI"/>
                          <a:ea typeface="Segoe UI"/>
                          <a:cs typeface="Segoe UI"/>
                        </a:rPr>
                        <a:t>Job files and executable</a:t>
                      </a:r>
                    </a:p>
                  </a:txBody>
                  <a:tcPr marL="91440" marR="91440" marT="45720" marB="45720">
                    <a:solidFill>
                      <a:srgbClr val="FFFFFF"/>
                    </a:solidFill>
                  </a:tcPr>
                </a:tc>
                <a:tc>
                  <a:txBody>
                    <a:bodyPr/>
                    <a:lstStyle/>
                    <a:p>
                      <a:r>
                        <a:rPr sz="1800" b="0">
                          <a:solidFill>
                            <a:srgbClr val="18253E"/>
                          </a:solidFill>
                          <a:latin typeface="Segoe UI"/>
                          <a:ea typeface="Segoe UI"/>
                          <a:cs typeface="Segoe UI"/>
                        </a:rPr>
                        <a:t>Backend OS temporary directory</a:t>
                      </a:r>
                    </a:p>
                    <a:p>
                      <a:r>
                        <a:rPr sz="1800" b="0">
                          <a:solidFill>
                            <a:srgbClr val="18253E"/>
                          </a:solidFill>
                          <a:latin typeface="Segoe UI"/>
                          <a:ea typeface="Segoe UI"/>
                          <a:cs typeface="Segoe UI"/>
                        </a:rPr>
                        <a:t>lexora-&lt;UUID&gt;</a:t>
                      </a:r>
                    </a:p>
                  </a:txBody>
                  <a:tcPr marL="91440" marR="91440" marT="45720" marB="45720">
                    <a:solidFill>
                      <a:srgbClr val="FFFFFF"/>
                    </a:solidFill>
                  </a:tcPr>
                </a:tc>
                <a:tc>
                  <a:txBody>
                    <a:bodyPr/>
                    <a:lstStyle/>
                    <a:p>
                      <a:r>
                        <a:rPr sz="1800" b="0">
                          <a:solidFill>
                            <a:srgbClr val="18253E"/>
                          </a:solidFill>
                          <a:latin typeface="Segoe UI"/>
                          <a:ea typeface="Segoe UI"/>
                          <a:cs typeface="Segoe UI"/>
                        </a:rPr>
                        <a:t>One request, followed by cleanup.</a:t>
                      </a:r>
                    </a:p>
                  </a:txBody>
                  <a:tcPr marL="91440" marR="91440" marT="45720" marB="45720">
                    <a:solidFill>
                      <a:srgbClr val="FFFFFF"/>
                    </a:solidFill>
                  </a:tcPr>
                </a:tc>
              </a:tr>
              <a:tr h="871538">
                <a:tc>
                  <a:txBody>
                    <a:bodyPr/>
                    <a:lstStyle/>
                    <a:p>
                      <a:r>
                        <a:rPr sz="1800" b="0">
                          <a:solidFill>
                            <a:srgbClr val="18253E"/>
                          </a:solidFill>
                          <a:latin typeface="Segoe UI"/>
                          <a:ea typeface="Segoe UI"/>
                          <a:cs typeface="Segoe UI"/>
                        </a:rPr>
                        <a:t>Output and analysis results</a:t>
                      </a:r>
                    </a:p>
                  </a:txBody>
                  <a:tcPr marL="91440" marR="91440" marT="45720" marB="45720">
                    <a:solidFill>
                      <a:srgbClr val="FFFFFF"/>
                    </a:solidFill>
                  </a:tcPr>
                </a:tc>
                <a:tc>
                  <a:txBody>
                    <a:bodyPr/>
                    <a:lstStyle/>
                    <a:p>
                      <a:r>
                        <a:rPr sz="1800" b="0">
                          <a:solidFill>
                            <a:srgbClr val="18253E"/>
                          </a:solidFill>
                          <a:latin typeface="Segoe UI"/>
                          <a:ea typeface="Segoe UI"/>
                          <a:cs typeface="Segoe UI"/>
                        </a:rPr>
                        <a:t>Backend memory and browser React state</a:t>
                      </a:r>
                    </a:p>
                  </a:txBody>
                  <a:tcPr marL="91440" marR="91440" marT="45720" marB="45720">
                    <a:solidFill>
                      <a:srgbClr val="FFFFFF"/>
                    </a:solidFill>
                  </a:tcPr>
                </a:tc>
                <a:tc>
                  <a:txBody>
                    <a:bodyPr/>
                    <a:lstStyle/>
                    <a:p>
                      <a:r>
                        <a:rPr sz="1800" b="0">
                          <a:solidFill>
                            <a:srgbClr val="18253E"/>
                          </a:solidFill>
                          <a:latin typeface="Segoe UI"/>
                          <a:ea typeface="Segoe UI"/>
                          <a:cs typeface="Segoe UI"/>
                        </a:rPr>
                        <a:t>Available during the current run.</a:t>
                      </a:r>
                    </a:p>
                  </a:txBody>
                  <a:tcPr marL="91440" marR="91440" marT="45720" marB="45720">
                    <a:solidFill>
                      <a:srgbClr val="FFFFFF"/>
                    </a:solidFill>
                  </a:tcPr>
                </a:tc>
              </a:tr>
              <a:tr h="871538">
                <a:tc>
                  <a:txBody>
                    <a:bodyPr/>
                    <a:lstStyle/>
                    <a:p>
                      <a:r>
                        <a:rPr sz="1800" b="0">
                          <a:solidFill>
                            <a:srgbClr val="18253E"/>
                          </a:solidFill>
                          <a:latin typeface="Segoe UI"/>
                          <a:ea typeface="Segoe UI"/>
                          <a:cs typeface="Segoe UI"/>
                        </a:rPr>
                        <a:t>Downloaded source and input</a:t>
                      </a:r>
                    </a:p>
                  </a:txBody>
                  <a:tcPr marL="91440" marR="91440" marT="45720" marB="45720">
                    <a:solidFill>
                      <a:srgbClr val="FFFFFF"/>
                    </a:solidFill>
                  </a:tcPr>
                </a:tc>
                <a:tc>
                  <a:txBody>
                    <a:bodyPr/>
                    <a:lstStyle/>
                    <a:p>
                      <a:r>
                        <a:rPr sz="1800" b="0">
                          <a:solidFill>
                            <a:srgbClr val="18253E"/>
                          </a:solidFill>
                          <a:latin typeface="Segoe UI"/>
                          <a:ea typeface="Segoe UI"/>
                          <a:cs typeface="Segoe UI"/>
                        </a:rPr>
                        <a:t>The user’s download destination</a:t>
                      </a:r>
                    </a:p>
                  </a:txBody>
                  <a:tcPr marL="91440" marR="91440" marT="45720" marB="45720">
                    <a:solidFill>
                      <a:srgbClr val="FFFFFF"/>
                    </a:solidFill>
                  </a:tcPr>
                </a:tc>
                <a:tc>
                  <a:txBody>
                    <a:bodyPr/>
                    <a:lstStyle/>
                    <a:p>
                      <a:r>
                        <a:rPr sz="1800" b="0">
                          <a:solidFill>
                            <a:srgbClr val="18253E"/>
                          </a:solidFill>
                          <a:latin typeface="Segoe UI"/>
                          <a:ea typeface="Segoe UI"/>
                          <a:cs typeface="Segoe UI"/>
                        </a:rPr>
                        <a:t>Remains until the user removes it.</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637DA142-3DAF-40F6-992C-FE614059A9AE}"/>
              </a:ext>
            </a:extLst>
          </p:cNvPr>
          <p:cNvSpPr>
            <a:spLocks xmlns:a="http://schemas.openxmlformats.org/drawingml/2006/main" noGrp="1"/>
          </p:cNvSpPr>
          <p:nvPr/>
        </p:nvSpPr>
        <p:spPr>
          <a:xfrm xmlns:a="http://schemas.openxmlformats.org/drawingml/2006/main">
            <a:off x="609600" y="592455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59667C"/>
                </a:solidFill>
                <a:latin typeface="Segoe UI"/>
                <a:ea typeface="Segoe UI"/>
                <a:cs typeface="Segoe UI"/>
              </a:defRPr>
            </a:defPPr>
          </a:lstStyle>
          <a:p xmlns:a="http://schemas.openxmlformats.org/drawingml/2006/main">
            <a:pPr>
              <a:defRPr sz="1875" b="0">
                <a:solidFill>
                  <a:srgbClr val="59667C"/>
                </a:solidFill>
                <a:latin typeface="Segoe UI"/>
                <a:ea typeface="Segoe UI"/>
                <a:cs typeface="Segoe UI"/>
              </a:defRPr>
            </a:pPr>
            <a:r>
              <a:rPr sz="1875" b="0">
                <a:solidFill>
                  <a:srgbClr val="59667C"/>
                </a:solidFill>
                <a:latin typeface="Segoe UI"/>
                <a:ea typeface="Segoe UI"/>
                <a:cs typeface="Segoe UI"/>
              </a:rPr>
              <a:t>Lexora uses browser drafts and temporary job files without an application database.</a:t>
            </a:r>
          </a:p>
        </p:txBody>
      </p:sp>
    </p:spTree>
    <p:extLst>
      <p:ext uri="{BB962C8B-B14F-4D97-AF65-F5344CB8AC3E}">
        <p14:creationId xmlns:p14="http://schemas.microsoft.com/office/powerpoint/2010/main" val="1770850075"/>
      </p:ext>
    </p:extLst>
  </p:cSld>
</p:sld>
</file>

<file path=ppt/slides/slide11.xml><?xml version="1.0" encoding="utf-8"?>
<p:sld xmlns:p="http://schemas.openxmlformats.org/presentationml/2006/main">
  <p:cSld>
    <p:bg>
      <p:bgPr>
        <a:solidFill xmlns:a="http://schemas.openxmlformats.org/drawingml/2006/main">
          <a:srgbClr val="111B31"/>
        </a:solidFill>
      </p:bgPr>
    </p:bg>
    <p:spTree>
      <p:nvGrpSpPr>
        <p:cNvPr id="1" name=""/>
        <p:cNvGrpSpPr/>
        <p:nvPr/>
      </p:nvGrpSpPr>
      <p:grpSpPr>
        <a:xfrm xmlns:a="http://schemas.openxmlformats.org/drawingml/2006/main"/>
      </p:grpSpPr>
      <p:cxnSp>
        <p:nvCxnSpPr>
          <p:cNvPr id="9" name="">
            <a:extLst xmlns:a="http://schemas.openxmlformats.org/drawingml/2006/main">
              <a:ext uri="{FF2B5EF4-FFF2-40B4-BE49-F238E27FC236}">
                <a16:creationId xmlns:a16="http://schemas.microsoft.com/office/drawing/2014/main" id="{520AFBC0-5F7E-4083-B287-3CDE598911DC}"/>
              </a:ext>
            </a:extLst>
          </p:cNvPr>
          <p:cNvCxnSpPr>
            <a:stCxn xmlns:a="http://schemas.openxmlformats.org/drawingml/2006/main" id="5" idx="3"/>
            <a:endCxn xmlns:a="http://schemas.openxmlformats.org/drawingml/2006/main" id="6" idx="1"/>
          </p:cNvCxnSpPr>
          <p:nvPr/>
        </p:nvCxnSpPr>
        <p:spPr>
          <a:xfrm xmlns:a="http://schemas.openxmlformats.org/drawingml/2006/main">
            <a:off x="8667750" y="2305050"/>
            <a:ext cx="628650" cy="0"/>
          </a:xfrm>
          <a:prstGeom xmlns:a="http://schemas.openxmlformats.org/drawingml/2006/main" prst="straightConnector1">
            <a:avLst/>
          </a:prstGeom>
          <a:ln xmlns:a="http://schemas.openxmlformats.org/drawingml/2006/main" w="22860">
            <a:solidFill>
              <a:srgbClr val="315EF4"/>
            </a:solidFill>
            <a:tailEnd type="triangle" w="med" len="med"/>
          </a:ln>
        </p:spPr>
      </p:cxnSp>
      <p:cxnSp>
        <p:nvCxnSpPr>
          <p:cNvPr id="8" name="">
            <a:extLst xmlns:a="http://schemas.openxmlformats.org/drawingml/2006/main">
              <a:ext uri="{FF2B5EF4-FFF2-40B4-BE49-F238E27FC236}">
                <a16:creationId xmlns:a16="http://schemas.microsoft.com/office/drawing/2014/main" id="{B584BEA2-080C-4989-BCF4-73A865DF13D1}"/>
              </a:ext>
            </a:extLst>
          </p:cNvPr>
          <p:cNvCxnSpPr>
            <a:stCxn xmlns:a="http://schemas.openxmlformats.org/drawingml/2006/main" id="4" idx="3"/>
            <a:endCxn xmlns:a="http://schemas.openxmlformats.org/drawingml/2006/main" id="5" idx="1"/>
          </p:cNvCxnSpPr>
          <p:nvPr/>
        </p:nvCxnSpPr>
        <p:spPr>
          <a:xfrm xmlns:a="http://schemas.openxmlformats.org/drawingml/2006/main">
            <a:off x="5772150" y="2305050"/>
            <a:ext cx="628650" cy="0"/>
          </a:xfrm>
          <a:prstGeom xmlns:a="http://schemas.openxmlformats.org/drawingml/2006/main" prst="straightConnector1">
            <a:avLst/>
          </a:prstGeom>
          <a:ln xmlns:a="http://schemas.openxmlformats.org/drawingml/2006/main" w="22860">
            <a:solidFill>
              <a:srgbClr val="315EF4"/>
            </a:solidFill>
            <a:tailEnd type="triangle" w="med" len="med"/>
          </a:ln>
        </p:spPr>
      </p:cxnSp>
      <p:cxnSp>
        <p:nvCxnSpPr>
          <p:cNvPr id="7" name="">
            <a:extLst xmlns:a="http://schemas.openxmlformats.org/drawingml/2006/main">
              <a:ext uri="{FF2B5EF4-FFF2-40B4-BE49-F238E27FC236}">
                <a16:creationId xmlns:a16="http://schemas.microsoft.com/office/drawing/2014/main" id="{F86C2579-F6F2-480B-9BAD-0B326B65E188}"/>
              </a:ext>
            </a:extLst>
          </p:cNvPr>
          <p:cNvCxnSpPr>
            <a:stCxn xmlns:a="http://schemas.openxmlformats.org/drawingml/2006/main" id="3" idx="3"/>
            <a:endCxn xmlns:a="http://schemas.openxmlformats.org/drawingml/2006/main" id="4" idx="1"/>
          </p:cNvCxnSpPr>
          <p:nvPr/>
        </p:nvCxnSpPr>
        <p:spPr>
          <a:xfrm xmlns:a="http://schemas.openxmlformats.org/drawingml/2006/main">
            <a:off x="2876550" y="2305050"/>
            <a:ext cx="628650" cy="0"/>
          </a:xfrm>
          <a:prstGeom xmlns:a="http://schemas.openxmlformats.org/drawingml/2006/main" prst="straightConnector1">
            <a:avLst/>
          </a:prstGeom>
          <a:ln xmlns:a="http://schemas.openxmlformats.org/drawingml/2006/main" w="22860">
            <a:solidFill>
              <a:srgbClr val="315EF4"/>
            </a:solidFill>
            <a:tailEnd type="triangle" w="med" len="med"/>
          </a:ln>
        </p:spPr>
      </p:cxnSp>
      <p:sp>
        <p:nvSpPr>
          <p:cNvPr id="16" name="">
            <a:extLst xmlns:a="http://schemas.openxmlformats.org/drawingml/2006/main">
              <a:ext uri="{FF2B5EF4-FFF2-40B4-BE49-F238E27FC236}">
                <a16:creationId xmlns:a16="http://schemas.microsoft.com/office/drawing/2014/main" id="{29ABB8D2-6B33-4950-9218-1CE7BC8320F5}"/>
              </a:ext>
            </a:extLst>
          </p:cNvPr>
          <p:cNvSpPr>
            <a:spLocks xmlns:a="http://schemas.openxmlformats.org/drawingml/2006/main" noGrp="1"/>
          </p:cNvSpPr>
          <p:nvPr/>
        </p:nvSpPr>
        <p:spPr>
          <a:xfrm xmlns:a="http://schemas.openxmlformats.org/drawingml/2006/main">
            <a:off x="609600" y="4572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450" b="1">
                <a:solidFill>
                  <a:srgbClr val="FFFFFF"/>
                </a:solidFill>
                <a:latin typeface="Segoe UI"/>
                <a:ea typeface="Segoe UI"/>
                <a:cs typeface="Segoe UI"/>
              </a:defRPr>
            </a:defPPr>
          </a:lstStyle>
          <a:p xmlns:a="http://schemas.openxmlformats.org/drawingml/2006/main">
            <a:pPr>
              <a:defRPr sz="3450" b="1">
                <a:solidFill>
                  <a:srgbClr val="FFFFFF"/>
                </a:solidFill>
                <a:latin typeface="Segoe UI"/>
                <a:ea typeface="Segoe UI"/>
                <a:cs typeface="Segoe UI"/>
              </a:defRPr>
            </a:pPr>
            <a:r>
              <a:rPr sz="3450" b="1">
                <a:solidFill>
                  <a:srgbClr val="FFFFFF"/>
                </a:solidFill>
                <a:latin typeface="Segoe UI"/>
                <a:ea typeface="Segoe UI"/>
                <a:cs typeface="Segoe UI"/>
              </a:rPr>
              <a:t>Native compilation pipeline</a:t>
            </a:r>
          </a:p>
        </p:txBody>
      </p:sp>
      <p:sp>
        <p:nvSpPr>
          <p:cNvPr id="2" name="">
            <a:extLst xmlns:a="http://schemas.openxmlformats.org/drawingml/2006/main">
              <a:ext uri="{FF2B5EF4-FFF2-40B4-BE49-F238E27FC236}">
                <a16:creationId xmlns:a16="http://schemas.microsoft.com/office/drawing/2014/main" id="{0E153D51-BEE9-4507-96D4-1E299E91C6BD}"/>
              </a:ext>
            </a:extLst>
          </p:cNvPr>
          <p:cNvSpPr>
            <a:spLocks xmlns:a="http://schemas.openxmlformats.org/drawingml/2006/main" noGrp="1"/>
          </p:cNvSpPr>
          <p:nvPr/>
        </p:nvSpPr>
        <p:spPr>
          <a:xfrm xmlns:a="http://schemas.openxmlformats.org/drawingml/2006/main">
            <a:off x="11049000" y="6391275"/>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BCC9E4"/>
                </a:solidFill>
                <a:latin typeface="Segoe UI"/>
                <a:ea typeface="Segoe UI"/>
                <a:cs typeface="Segoe UI"/>
              </a:defRPr>
            </a:defPPr>
          </a:lstStyle>
          <a:p xmlns:a="http://schemas.openxmlformats.org/drawingml/2006/main">
            <a:pPr>
              <a:defRPr sz="1200" b="0">
                <a:solidFill>
                  <a:srgbClr val="BCC9E4"/>
                </a:solidFill>
                <a:latin typeface="Segoe UI"/>
                <a:ea typeface="Segoe UI"/>
                <a:cs typeface="Segoe UI"/>
              </a:defRPr>
            </a:pPr>
            <a:r>
              <a:rPr sz="1200" b="0">
                <a:solidFill>
                  <a:srgbClr val="BCC9E4"/>
                </a:solidFill>
                <a:latin typeface="Segoe UI"/>
                <a:ea typeface="Segoe UI"/>
                <a:cs typeface="Segoe UI"/>
              </a:rPr>
              <a:t>11</a:t>
            </a:r>
          </a:p>
        </p:txBody>
      </p:sp>
      <p:sp>
        <p:nvSpPr>
          <p:cNvPr id="3" name="">
            <a:extLst xmlns:a="http://schemas.openxmlformats.org/drawingml/2006/main">
              <a:ext uri="{FF2B5EF4-FFF2-40B4-BE49-F238E27FC236}">
                <a16:creationId xmlns:a16="http://schemas.microsoft.com/office/drawing/2014/main" id="{5E929A86-0431-4AC0-8125-1EAD61D5FE33}"/>
              </a:ext>
            </a:extLst>
          </p:cNvPr>
          <p:cNvSpPr>
            <a:spLocks xmlns:a="http://schemas.openxmlformats.org/drawingml/2006/main" noGrp="1"/>
          </p:cNvSpPr>
          <p:nvPr/>
        </p:nvSpPr>
        <p:spPr>
          <a:xfrm xmlns:a="http://schemas.openxmlformats.org/drawingml/2006/main">
            <a:off x="609600" y="1924050"/>
            <a:ext cx="2266950" cy="762000"/>
          </a:xfrm>
          <a:prstGeom xmlns:a="http://schemas.openxmlformats.org/drawingml/2006/main" prst="rect">
            <a:avLst/>
          </a:prstGeom>
          <a:solidFill xmlns:a="http://schemas.openxmlformats.org/drawingml/2006/main">
            <a:srgbClr val="FFFFFF"/>
          </a:solidFill>
          <a:ln xmlns:a="http://schemas.openxmlformats.org/drawingml/2006/main" w="12383">
            <a:solidFill>
              <a:srgbClr val="DAE1EF"/>
            </a:solidFill>
          </a:ln>
        </p:spPr>
        <p:txBody>
          <a:bodyPr xmlns:a="http://schemas.openxmlformats.org/drawingml/2006/main" anchor="ctr">
            <a:noAutofit/>
          </a:bodyPr>
          <a:lstStyle xmlns:a="http://schemas.openxmlformats.org/drawingml/2006/main">
            <a:defPPr algn="ctr">
              <a:defRPr sz="1875" b="1">
                <a:solidFill>
                  <a:srgbClr val="18253E"/>
                </a:solidFill>
                <a:latin typeface="Segoe UI"/>
                <a:ea typeface="Segoe UI"/>
                <a:cs typeface="Segoe UI"/>
              </a:defRPr>
            </a:defPPr>
          </a:lstStyle>
          <a:p xmlns:a="http://schemas.openxmlformats.org/drawingml/2006/main">
            <a:pPr algn="ctr">
              <a:defRPr sz="1875" b="1">
                <a:solidFill>
                  <a:srgbClr val="18253E"/>
                </a:solidFill>
                <a:latin typeface="Segoe UI"/>
                <a:ea typeface="Segoe UI"/>
                <a:cs typeface="Segoe UI"/>
              </a:defRPr>
            </a:pPr>
            <a:r>
              <a:rPr sz="1875" b="1">
                <a:solidFill>
                  <a:srgbClr val="18253E"/>
                </a:solidFill>
                <a:latin typeface="Segoe UI"/>
                <a:ea typeface="Segoe UI"/>
                <a:cs typeface="Segoe UI"/>
              </a:rPr>
              <a:t>Flex</a:t>
            </a:r>
          </a:p>
        </p:txBody>
      </p:sp>
      <p:sp>
        <p:nvSpPr>
          <p:cNvPr id="4" name="">
            <a:extLst xmlns:a="http://schemas.openxmlformats.org/drawingml/2006/main">
              <a:ext uri="{FF2B5EF4-FFF2-40B4-BE49-F238E27FC236}">
                <a16:creationId xmlns:a16="http://schemas.microsoft.com/office/drawing/2014/main" id="{C9C80334-DCDF-45A7-9B7E-7408633CC131}"/>
              </a:ext>
            </a:extLst>
          </p:cNvPr>
          <p:cNvSpPr>
            <a:spLocks xmlns:a="http://schemas.openxmlformats.org/drawingml/2006/main" noGrp="1"/>
          </p:cNvSpPr>
          <p:nvPr/>
        </p:nvSpPr>
        <p:spPr>
          <a:xfrm xmlns:a="http://schemas.openxmlformats.org/drawingml/2006/main">
            <a:off x="3505200" y="1924050"/>
            <a:ext cx="2266950" cy="762000"/>
          </a:xfrm>
          <a:prstGeom xmlns:a="http://schemas.openxmlformats.org/drawingml/2006/main" prst="rect">
            <a:avLst/>
          </a:prstGeom>
          <a:solidFill xmlns:a="http://schemas.openxmlformats.org/drawingml/2006/main">
            <a:srgbClr val="FFFFFF"/>
          </a:solidFill>
          <a:ln xmlns:a="http://schemas.openxmlformats.org/drawingml/2006/main" w="12383">
            <a:solidFill>
              <a:srgbClr val="DAE1EF"/>
            </a:solidFill>
          </a:ln>
        </p:spPr>
        <p:txBody>
          <a:bodyPr xmlns:a="http://schemas.openxmlformats.org/drawingml/2006/main" anchor="ctr">
            <a:noAutofit/>
          </a:bodyPr>
          <a:lstStyle xmlns:a="http://schemas.openxmlformats.org/drawingml/2006/main">
            <a:defPPr algn="ctr">
              <a:defRPr sz="1875" b="1">
                <a:solidFill>
                  <a:srgbClr val="18253E"/>
                </a:solidFill>
                <a:latin typeface="Segoe UI"/>
                <a:ea typeface="Segoe UI"/>
                <a:cs typeface="Segoe UI"/>
              </a:defRPr>
            </a:defPPr>
          </a:lstStyle>
          <a:p xmlns:a="http://schemas.openxmlformats.org/drawingml/2006/main">
            <a:pPr algn="ctr">
              <a:defRPr sz="1875" b="1">
                <a:solidFill>
                  <a:srgbClr val="18253E"/>
                </a:solidFill>
                <a:latin typeface="Segoe UI"/>
                <a:ea typeface="Segoe UI"/>
                <a:cs typeface="Segoe UI"/>
              </a:defRPr>
            </a:pPr>
            <a:r>
              <a:rPr sz="1875" b="1">
                <a:solidFill>
                  <a:srgbClr val="18253E"/>
                </a:solidFill>
                <a:latin typeface="Segoe UI"/>
                <a:ea typeface="Segoe UI"/>
                <a:cs typeface="Segoe UI"/>
              </a:rPr>
              <a:t>Bison</a:t>
            </a:r>
          </a:p>
        </p:txBody>
      </p:sp>
      <p:sp>
        <p:nvSpPr>
          <p:cNvPr id="5" name="">
            <a:extLst xmlns:a="http://schemas.openxmlformats.org/drawingml/2006/main">
              <a:ext uri="{FF2B5EF4-FFF2-40B4-BE49-F238E27FC236}">
                <a16:creationId xmlns:a16="http://schemas.microsoft.com/office/drawing/2014/main" id="{D16D6618-61E7-49F8-BE11-74DD9DEB0826}"/>
              </a:ext>
            </a:extLst>
          </p:cNvPr>
          <p:cNvSpPr>
            <a:spLocks xmlns:a="http://schemas.openxmlformats.org/drawingml/2006/main" noGrp="1"/>
          </p:cNvSpPr>
          <p:nvPr/>
        </p:nvSpPr>
        <p:spPr>
          <a:xfrm xmlns:a="http://schemas.openxmlformats.org/drawingml/2006/main">
            <a:off x="6400800" y="1924050"/>
            <a:ext cx="2266950" cy="762000"/>
          </a:xfrm>
          <a:prstGeom xmlns:a="http://schemas.openxmlformats.org/drawingml/2006/main" prst="rect">
            <a:avLst/>
          </a:prstGeom>
          <a:solidFill xmlns:a="http://schemas.openxmlformats.org/drawingml/2006/main">
            <a:srgbClr val="315EF4"/>
          </a:solidFill>
          <a:ln xmlns:a="http://schemas.openxmlformats.org/drawingml/2006/main" w="12383">
            <a:solidFill>
              <a:srgbClr val="315EF4"/>
            </a:solidFill>
          </a:ln>
        </p:spPr>
        <p:txBody>
          <a:bodyPr xmlns:a="http://schemas.openxmlformats.org/drawingml/2006/main" anchor="ctr">
            <a:noAutofit/>
          </a:bodyPr>
          <a:lstStyle xmlns:a="http://schemas.openxmlformats.org/drawingml/2006/main">
            <a:defPPr algn="ctr">
              <a:defRPr sz="1875" b="1">
                <a:solidFill>
                  <a:srgbClr val="FFFFFF"/>
                </a:solidFill>
                <a:latin typeface="Segoe UI"/>
                <a:ea typeface="Segoe UI"/>
                <a:cs typeface="Segoe UI"/>
              </a:defRPr>
            </a:defPPr>
          </a:lstStyle>
          <a:p xmlns:a="http://schemas.openxmlformats.org/drawingml/2006/main">
            <a:pPr algn="ctr">
              <a:defRPr sz="1875" b="1">
                <a:solidFill>
                  <a:srgbClr val="FFFFFF"/>
                </a:solidFill>
                <a:latin typeface="Segoe UI"/>
                <a:ea typeface="Segoe UI"/>
                <a:cs typeface="Segoe UI"/>
              </a:defRPr>
            </a:pPr>
            <a:r>
              <a:rPr sz="1875" b="1">
                <a:solidFill>
                  <a:srgbClr val="FFFFFF"/>
                </a:solidFill>
                <a:latin typeface="Segoe UI"/>
                <a:ea typeface="Segoe UI"/>
                <a:cs typeface="Segoe UI"/>
              </a:rPr>
              <a:t>GCC</a:t>
            </a:r>
          </a:p>
        </p:txBody>
      </p:sp>
      <p:sp>
        <p:nvSpPr>
          <p:cNvPr id="6" name="">
            <a:extLst xmlns:a="http://schemas.openxmlformats.org/drawingml/2006/main">
              <a:ext uri="{FF2B5EF4-FFF2-40B4-BE49-F238E27FC236}">
                <a16:creationId xmlns:a16="http://schemas.microsoft.com/office/drawing/2014/main" id="{B95B45A8-871C-4B87-84A4-2D70C61E61AA}"/>
              </a:ext>
            </a:extLst>
          </p:cNvPr>
          <p:cNvSpPr>
            <a:spLocks xmlns:a="http://schemas.openxmlformats.org/drawingml/2006/main" noGrp="1"/>
          </p:cNvSpPr>
          <p:nvPr/>
        </p:nvSpPr>
        <p:spPr>
          <a:xfrm xmlns:a="http://schemas.openxmlformats.org/drawingml/2006/main">
            <a:off x="9296400" y="1924050"/>
            <a:ext cx="2266950" cy="762000"/>
          </a:xfrm>
          <a:prstGeom xmlns:a="http://schemas.openxmlformats.org/drawingml/2006/main" prst="rect">
            <a:avLst/>
          </a:prstGeom>
          <a:solidFill xmlns:a="http://schemas.openxmlformats.org/drawingml/2006/main">
            <a:srgbClr val="FFFFFF"/>
          </a:solidFill>
          <a:ln xmlns:a="http://schemas.openxmlformats.org/drawingml/2006/main" w="12383">
            <a:solidFill>
              <a:srgbClr val="DAE1EF"/>
            </a:solidFill>
          </a:ln>
        </p:spPr>
        <p:txBody>
          <a:bodyPr xmlns:a="http://schemas.openxmlformats.org/drawingml/2006/main" anchor="ctr">
            <a:noAutofit/>
          </a:bodyPr>
          <a:lstStyle xmlns:a="http://schemas.openxmlformats.org/drawingml/2006/main">
            <a:defPPr algn="ctr">
              <a:defRPr sz="1875" b="1">
                <a:solidFill>
                  <a:srgbClr val="18253E"/>
                </a:solidFill>
                <a:latin typeface="Segoe UI"/>
                <a:ea typeface="Segoe UI"/>
                <a:cs typeface="Segoe UI"/>
              </a:defRPr>
            </a:defPPr>
          </a:lstStyle>
          <a:p xmlns:a="http://schemas.openxmlformats.org/drawingml/2006/main">
            <a:pPr algn="ctr">
              <a:defRPr sz="1875" b="1">
                <a:solidFill>
                  <a:srgbClr val="18253E"/>
                </a:solidFill>
                <a:latin typeface="Segoe UI"/>
                <a:ea typeface="Segoe UI"/>
                <a:cs typeface="Segoe UI"/>
              </a:defRPr>
            </a:pPr>
            <a:r>
              <a:rPr sz="1875" b="1">
                <a:solidFill>
                  <a:srgbClr val="18253E"/>
                </a:solidFill>
                <a:latin typeface="Segoe UI"/>
                <a:ea typeface="Segoe UI"/>
                <a:cs typeface="Segoe UI"/>
              </a:rPr>
              <a:t>Execution</a:t>
            </a:r>
          </a:p>
        </p:txBody>
      </p:sp>
      <p:sp>
        <p:nvSpPr>
          <p:cNvPr id="10" name="">
            <a:extLst xmlns:a="http://schemas.openxmlformats.org/drawingml/2006/main">
              <a:ext uri="{FF2B5EF4-FFF2-40B4-BE49-F238E27FC236}">
                <a16:creationId xmlns:a16="http://schemas.microsoft.com/office/drawing/2014/main" id="{2E1626FC-8F63-43C8-8AD3-75C4089A0554}"/>
              </a:ext>
            </a:extLst>
          </p:cNvPr>
          <p:cNvSpPr>
            <a:spLocks xmlns:a="http://schemas.openxmlformats.org/drawingml/2006/main" noGrp="1"/>
          </p:cNvSpPr>
          <p:nvPr/>
        </p:nvSpPr>
        <p:spPr>
          <a:xfrm xmlns:a="http://schemas.openxmlformats.org/drawingml/2006/main">
            <a:off x="609600" y="3000375"/>
            <a:ext cx="2266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BCC9E4"/>
                </a:solidFill>
                <a:latin typeface="Segoe UI"/>
                <a:ea typeface="Segoe UI"/>
                <a:cs typeface="Segoe UI"/>
              </a:defRPr>
            </a:defPPr>
          </a:lstStyle>
          <a:p xmlns:a="http://schemas.openxmlformats.org/drawingml/2006/main">
            <a:pPr>
              <a:defRPr sz="2025" b="0">
                <a:solidFill>
                  <a:srgbClr val="BCC9E4"/>
                </a:solidFill>
                <a:latin typeface="Segoe UI"/>
                <a:ea typeface="Segoe UI"/>
                <a:cs typeface="Segoe UI"/>
              </a:defRPr>
            </a:pPr>
            <a:r>
              <a:rPr sz="2025" b="0">
                <a:solidFill>
                  <a:srgbClr val="BCC9E4"/>
                </a:solidFill>
                <a:latin typeface="Segoe UI"/>
                <a:ea typeface="Segoe UI"/>
                <a:cs typeface="Segoe UI"/>
              </a:rPr>
              <a:t>lex.l produces</a:t>
            </a:r>
          </a:p>
          <a:p xmlns:a="http://schemas.openxmlformats.org/drawingml/2006/main">
            <a:pPr>
              <a:defRPr sz="2025" b="0">
                <a:solidFill>
                  <a:srgbClr val="BCC9E4"/>
                </a:solidFill>
                <a:latin typeface="Segoe UI"/>
                <a:ea typeface="Segoe UI"/>
                <a:cs typeface="Segoe UI"/>
              </a:defRPr>
            </a:pPr>
            <a:r>
              <a:rPr sz="2025" b="0">
                <a:solidFill>
                  <a:srgbClr val="BCC9E4"/>
                </a:solidFill>
                <a:latin typeface="Segoe UI"/>
                <a:ea typeface="Segoe UI"/>
                <a:cs typeface="Segoe UI"/>
              </a:rPr>
              <a:t>lex.yy.c.</a:t>
            </a:r>
          </a:p>
        </p:txBody>
      </p:sp>
      <p:sp>
        <p:nvSpPr>
          <p:cNvPr id="11" name="">
            <a:extLst xmlns:a="http://schemas.openxmlformats.org/drawingml/2006/main">
              <a:ext uri="{FF2B5EF4-FFF2-40B4-BE49-F238E27FC236}">
                <a16:creationId xmlns:a16="http://schemas.microsoft.com/office/drawing/2014/main" id="{4F702555-19FC-49CC-BE76-77B4DA254337}"/>
              </a:ext>
            </a:extLst>
          </p:cNvPr>
          <p:cNvSpPr>
            <a:spLocks xmlns:a="http://schemas.openxmlformats.org/drawingml/2006/main" noGrp="1"/>
          </p:cNvSpPr>
          <p:nvPr/>
        </p:nvSpPr>
        <p:spPr>
          <a:xfrm xmlns:a="http://schemas.openxmlformats.org/drawingml/2006/main">
            <a:off x="3505200" y="3000375"/>
            <a:ext cx="24765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BCC9E4"/>
                </a:solidFill>
                <a:latin typeface="Segoe UI"/>
                <a:ea typeface="Segoe UI"/>
                <a:cs typeface="Segoe UI"/>
              </a:defRPr>
            </a:defPPr>
          </a:lstStyle>
          <a:p xmlns:a="http://schemas.openxmlformats.org/drawingml/2006/main">
            <a:pPr>
              <a:defRPr sz="2025" b="0">
                <a:solidFill>
                  <a:srgbClr val="BCC9E4"/>
                </a:solidFill>
                <a:latin typeface="Segoe UI"/>
                <a:ea typeface="Segoe UI"/>
                <a:cs typeface="Segoe UI"/>
              </a:defRPr>
            </a:pPr>
            <a:r>
              <a:rPr sz="2025" b="0">
                <a:solidFill>
                  <a:srgbClr val="BCC9E4"/>
                </a:solidFill>
                <a:latin typeface="Segoe UI"/>
                <a:ea typeface="Segoe UI"/>
                <a:cs typeface="Segoe UI"/>
              </a:rPr>
              <a:t>parser.y produces</a:t>
            </a:r>
          </a:p>
          <a:p xmlns:a="http://schemas.openxmlformats.org/drawingml/2006/main">
            <a:pPr>
              <a:defRPr sz="2025" b="0">
                <a:solidFill>
                  <a:srgbClr val="BCC9E4"/>
                </a:solidFill>
                <a:latin typeface="Segoe UI"/>
                <a:ea typeface="Segoe UI"/>
                <a:cs typeface="Segoe UI"/>
              </a:defRPr>
            </a:pPr>
            <a:r>
              <a:rPr sz="2025" b="0">
                <a:solidFill>
                  <a:srgbClr val="BCC9E4"/>
                </a:solidFill>
                <a:latin typeface="Segoe UI"/>
                <a:ea typeface="Segoe UI"/>
                <a:cs typeface="Segoe UI"/>
              </a:rPr>
              <a:t>parser.tab.c and</a:t>
            </a:r>
          </a:p>
          <a:p xmlns:a="http://schemas.openxmlformats.org/drawingml/2006/main">
            <a:pPr>
              <a:defRPr sz="2025" b="0">
                <a:solidFill>
                  <a:srgbClr val="BCC9E4"/>
                </a:solidFill>
                <a:latin typeface="Segoe UI"/>
                <a:ea typeface="Segoe UI"/>
                <a:cs typeface="Segoe UI"/>
              </a:defRPr>
            </a:pPr>
            <a:r>
              <a:rPr sz="2025" b="0">
                <a:solidFill>
                  <a:srgbClr val="BCC9E4"/>
                </a:solidFill>
                <a:latin typeface="Segoe UI"/>
                <a:ea typeface="Segoe UI"/>
                <a:cs typeface="Segoe UI"/>
              </a:rPr>
              <a:t>parser.tab.h.</a:t>
            </a:r>
          </a:p>
        </p:txBody>
      </p:sp>
      <p:sp>
        <p:nvSpPr>
          <p:cNvPr id="12" name="">
            <a:extLst xmlns:a="http://schemas.openxmlformats.org/drawingml/2006/main">
              <a:ext uri="{FF2B5EF4-FFF2-40B4-BE49-F238E27FC236}">
                <a16:creationId xmlns:a16="http://schemas.microsoft.com/office/drawing/2014/main" id="{BD5A0E73-AD69-4ACA-87BE-30F183940741}"/>
              </a:ext>
            </a:extLst>
          </p:cNvPr>
          <p:cNvSpPr>
            <a:spLocks xmlns:a="http://schemas.openxmlformats.org/drawingml/2006/main" noGrp="1"/>
          </p:cNvSpPr>
          <p:nvPr/>
        </p:nvSpPr>
        <p:spPr>
          <a:xfrm xmlns:a="http://schemas.openxmlformats.org/drawingml/2006/main">
            <a:off x="6400800" y="3000375"/>
            <a:ext cx="24193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BCC9E4"/>
                </a:solidFill>
                <a:latin typeface="Segoe UI"/>
                <a:ea typeface="Segoe UI"/>
                <a:cs typeface="Segoe UI"/>
              </a:defRPr>
            </a:defPPr>
          </a:lstStyle>
          <a:p xmlns:a="http://schemas.openxmlformats.org/drawingml/2006/main">
            <a:pPr>
              <a:defRPr sz="2025" b="0">
                <a:solidFill>
                  <a:srgbClr val="BCC9E4"/>
                </a:solidFill>
                <a:latin typeface="Segoe UI"/>
                <a:ea typeface="Segoe UI"/>
                <a:cs typeface="Segoe UI"/>
              </a:defRPr>
            </a:pPr>
            <a:r>
              <a:rPr sz="2025" b="0">
                <a:solidFill>
                  <a:srgbClr val="BCC9E4"/>
                </a:solidFill>
                <a:latin typeface="Segoe UI"/>
                <a:ea typeface="Segoe UI"/>
                <a:cs typeface="Segoe UI"/>
              </a:rPr>
              <a:t>Generated C files</a:t>
            </a:r>
          </a:p>
          <a:p xmlns:a="http://schemas.openxmlformats.org/drawingml/2006/main">
            <a:pPr>
              <a:defRPr sz="2025" b="0">
                <a:solidFill>
                  <a:srgbClr val="BCC9E4"/>
                </a:solidFill>
                <a:latin typeface="Segoe UI"/>
                <a:ea typeface="Segoe UI"/>
                <a:cs typeface="Segoe UI"/>
              </a:defRPr>
            </a:pPr>
            <a:r>
              <a:rPr sz="2025" b="0">
                <a:solidFill>
                  <a:srgbClr val="BCC9E4"/>
                </a:solidFill>
                <a:latin typeface="Segoe UI"/>
                <a:ea typeface="Segoe UI"/>
                <a:cs typeface="Segoe UI"/>
              </a:rPr>
              <a:t>produce an executable</a:t>
            </a:r>
          </a:p>
          <a:p xmlns:a="http://schemas.openxmlformats.org/drawingml/2006/main">
            <a:pPr>
              <a:defRPr sz="2025" b="0">
                <a:solidFill>
                  <a:srgbClr val="BCC9E4"/>
                </a:solidFill>
                <a:latin typeface="Segoe UI"/>
                <a:ea typeface="Segoe UI"/>
                <a:cs typeface="Segoe UI"/>
              </a:defRPr>
            </a:pPr>
            <a:r>
              <a:rPr sz="2025" b="0">
                <a:solidFill>
                  <a:srgbClr val="BCC9E4"/>
                </a:solidFill>
                <a:latin typeface="Segoe UI"/>
                <a:ea typeface="Segoe UI"/>
                <a:cs typeface="Segoe UI"/>
              </a:rPr>
              <a:t>named compiler.</a:t>
            </a:r>
          </a:p>
        </p:txBody>
      </p:sp>
      <p:sp>
        <p:nvSpPr>
          <p:cNvPr id="13" name="">
            <a:extLst xmlns:a="http://schemas.openxmlformats.org/drawingml/2006/main">
              <a:ext uri="{FF2B5EF4-FFF2-40B4-BE49-F238E27FC236}">
                <a16:creationId xmlns:a16="http://schemas.microsoft.com/office/drawing/2014/main" id="{90ABEF49-A6D2-47F1-A138-8AC40F604F65}"/>
              </a:ext>
            </a:extLst>
          </p:cNvPr>
          <p:cNvSpPr>
            <a:spLocks xmlns:a="http://schemas.openxmlformats.org/drawingml/2006/main" noGrp="1"/>
          </p:cNvSpPr>
          <p:nvPr/>
        </p:nvSpPr>
        <p:spPr>
          <a:xfrm xmlns:a="http://schemas.openxmlformats.org/drawingml/2006/main">
            <a:off x="9296400" y="3000375"/>
            <a:ext cx="23050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BCC9E4"/>
                </a:solidFill>
                <a:latin typeface="Segoe UI"/>
                <a:ea typeface="Segoe UI"/>
                <a:cs typeface="Segoe UI"/>
              </a:defRPr>
            </a:defPPr>
          </a:lstStyle>
          <a:p xmlns:a="http://schemas.openxmlformats.org/drawingml/2006/main">
            <a:pPr>
              <a:defRPr sz="2025" b="0">
                <a:solidFill>
                  <a:srgbClr val="BCC9E4"/>
                </a:solidFill>
                <a:latin typeface="Segoe UI"/>
                <a:ea typeface="Segoe UI"/>
                <a:cs typeface="Segoe UI"/>
              </a:defRPr>
            </a:pPr>
            <a:r>
              <a:rPr sz="2025" b="0">
                <a:solidFill>
                  <a:srgbClr val="BCC9E4"/>
                </a:solidFill>
                <a:latin typeface="Segoe UI"/>
                <a:ea typeface="Segoe UI"/>
                <a:cs typeface="Segoe UI"/>
              </a:rPr>
              <a:t>The executable reads</a:t>
            </a:r>
          </a:p>
          <a:p xmlns:a="http://schemas.openxmlformats.org/drawingml/2006/main">
            <a:pPr>
              <a:defRPr sz="2025" b="0">
                <a:solidFill>
                  <a:srgbClr val="BCC9E4"/>
                </a:solidFill>
                <a:latin typeface="Segoe UI"/>
                <a:ea typeface="Segoe UI"/>
                <a:cs typeface="Segoe UI"/>
              </a:defRPr>
            </a:pPr>
            <a:r>
              <a:rPr sz="2025" b="0">
                <a:solidFill>
                  <a:srgbClr val="BCC9E4"/>
                </a:solidFill>
                <a:latin typeface="Segoe UI"/>
                <a:ea typeface="Segoe UI"/>
                <a:cs typeface="Segoe UI"/>
              </a:rPr>
              <a:t>input.txt and writes</a:t>
            </a:r>
          </a:p>
          <a:p xmlns:a="http://schemas.openxmlformats.org/drawingml/2006/main">
            <a:pPr>
              <a:defRPr sz="2025" b="0">
                <a:solidFill>
                  <a:srgbClr val="BCC9E4"/>
                </a:solidFill>
                <a:latin typeface="Segoe UI"/>
                <a:ea typeface="Segoe UI"/>
                <a:cs typeface="Segoe UI"/>
              </a:defRPr>
            </a:pPr>
            <a:r>
              <a:rPr sz="2025" b="0">
                <a:solidFill>
                  <a:srgbClr val="BCC9E4"/>
                </a:solidFill>
                <a:latin typeface="Segoe UI"/>
                <a:ea typeface="Segoe UI"/>
                <a:cs typeface="Segoe UI"/>
              </a:rPr>
              <a:t>standard output.</a:t>
            </a:r>
          </a:p>
        </p:txBody>
      </p:sp>
      <p:sp>
        <p:nvSpPr>
          <p:cNvPr id="14" name="">
            <a:extLst xmlns:a="http://schemas.openxmlformats.org/drawingml/2006/main">
              <a:ext uri="{FF2B5EF4-FFF2-40B4-BE49-F238E27FC236}">
                <a16:creationId xmlns:a16="http://schemas.microsoft.com/office/drawing/2014/main" id="{4F25D76E-DCFB-42CB-AB1D-526F3CCBAA8B}"/>
              </a:ext>
            </a:extLst>
          </p:cNvPr>
          <p:cNvSpPr>
            <a:spLocks xmlns:a="http://schemas.openxmlformats.org/drawingml/2006/main" noGrp="1"/>
          </p:cNvSpPr>
          <p:nvPr/>
        </p:nvSpPr>
        <p:spPr>
          <a:xfrm xmlns:a="http://schemas.openxmlformats.org/drawingml/2006/main">
            <a:off x="609600" y="4810125"/>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FFFFFF"/>
                </a:solidFill>
                <a:latin typeface="Segoe UI"/>
                <a:ea typeface="Segoe UI"/>
                <a:cs typeface="Segoe UI"/>
              </a:defRPr>
            </a:defPPr>
          </a:lstStyle>
          <a:p xmlns:a="http://schemas.openxmlformats.org/drawingml/2006/main">
            <a:pPr>
              <a:defRPr sz="2175" b="0">
                <a:solidFill>
                  <a:srgbClr val="FFFFFF"/>
                </a:solidFill>
                <a:latin typeface="Segoe UI"/>
                <a:ea typeface="Segoe UI"/>
                <a:cs typeface="Segoe UI"/>
              </a:defRPr>
            </a:pPr>
            <a:r>
              <a:rPr sz="2175" b="0">
                <a:solidFill>
                  <a:srgbClr val="FFFFFF"/>
                </a:solidFill>
                <a:latin typeface="Segoe UI"/>
                <a:ea typeface="Segoe UI"/>
                <a:cs typeface="Segoe UI"/>
              </a:rPr>
              <a:t>gcc -o compiler lex.yy.c parser.tab.c -lfl -lm</a:t>
            </a:r>
          </a:p>
        </p:txBody>
      </p:sp>
      <p:sp>
        <p:nvSpPr>
          <p:cNvPr id="15" name="">
            <a:extLst xmlns:a="http://schemas.openxmlformats.org/drawingml/2006/main">
              <a:ext uri="{FF2B5EF4-FFF2-40B4-BE49-F238E27FC236}">
                <a16:creationId xmlns:a16="http://schemas.microsoft.com/office/drawing/2014/main" id="{B993B930-E210-4A27-A4A1-93342997BDBC}"/>
              </a:ext>
            </a:extLst>
          </p:cNvPr>
          <p:cNvSpPr>
            <a:spLocks xmlns:a="http://schemas.openxmlformats.org/drawingml/2006/main" noGrp="1"/>
          </p:cNvSpPr>
          <p:nvPr/>
        </p:nvSpPr>
        <p:spPr>
          <a:xfrm xmlns:a="http://schemas.openxmlformats.org/drawingml/2006/main">
            <a:off x="609600" y="563880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BCC9E4"/>
                </a:solidFill>
                <a:latin typeface="Segoe UI"/>
                <a:ea typeface="Segoe UI"/>
                <a:cs typeface="Segoe UI"/>
              </a:defRPr>
            </a:defPPr>
          </a:lstStyle>
          <a:p xmlns:a="http://schemas.openxmlformats.org/drawingml/2006/main">
            <a:pPr>
              <a:defRPr sz="1875" b="0">
                <a:solidFill>
                  <a:srgbClr val="BCC9E4"/>
                </a:solidFill>
                <a:latin typeface="Segoe UI"/>
                <a:ea typeface="Segoe UI"/>
                <a:cs typeface="Segoe UI"/>
              </a:defRPr>
            </a:pPr>
            <a:r>
              <a:rPr sz="1875" b="0">
                <a:solidFill>
                  <a:srgbClr val="BCC9E4"/>
                </a:solidFill>
                <a:latin typeface="Segoe UI"/>
                <a:ea typeface="Segoe UI"/>
                <a:cs typeface="Segoe UI"/>
              </a:rPr>
              <a:t>The backend aligns parser-header references and regenerates the scanner before GCC runs.</a:t>
            </a:r>
          </a:p>
        </p:txBody>
      </p:sp>
    </p:spTree>
    <p:extLst>
      <p:ext uri="{BB962C8B-B14F-4D97-AF65-F5344CB8AC3E}">
        <p14:creationId xmlns:p14="http://schemas.microsoft.com/office/powerpoint/2010/main" val="75488373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CDAB1FD-7116-40D6-971B-C4F185AB892C}"/>
              </a:ext>
            </a:extLst>
          </p:cNvPr>
          <p:cNvSpPr>
            <a:spLocks xmlns:a="http://schemas.openxmlformats.org/drawingml/2006/main" noGrp="1"/>
          </p:cNvSpPr>
          <p:nvPr/>
        </p:nvSpPr>
        <p:spPr>
          <a:xfrm xmlns:a="http://schemas.openxmlformats.org/drawingml/2006/main">
            <a:off x="609600" y="4572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450" b="1">
                <a:solidFill>
                  <a:srgbClr val="18253E"/>
                </a:solidFill>
                <a:latin typeface="Segoe UI"/>
                <a:ea typeface="Segoe UI"/>
                <a:cs typeface="Segoe UI"/>
              </a:defRPr>
            </a:defPPr>
          </a:lstStyle>
          <a:p xmlns:a="http://schemas.openxmlformats.org/drawingml/2006/main">
            <a:pPr>
              <a:defRPr sz="3450" b="1">
                <a:solidFill>
                  <a:srgbClr val="18253E"/>
                </a:solidFill>
                <a:latin typeface="Segoe UI"/>
                <a:ea typeface="Segoe UI"/>
                <a:cs typeface="Segoe UI"/>
              </a:defRPr>
            </a:pPr>
            <a:r>
              <a:rPr sz="3450" b="1">
                <a:solidFill>
                  <a:srgbClr val="18253E"/>
                </a:solidFill>
                <a:latin typeface="Segoe UI"/>
                <a:ea typeface="Segoe UI"/>
                <a:cs typeface="Segoe UI"/>
              </a:rPr>
              <a:t>Educational analysis</a:t>
            </a:r>
          </a:p>
        </p:txBody>
      </p:sp>
      <p:sp>
        <p:nvSpPr>
          <p:cNvPr id="2" name="">
            <a:extLst xmlns:a="http://schemas.openxmlformats.org/drawingml/2006/main">
              <a:ext uri="{FF2B5EF4-FFF2-40B4-BE49-F238E27FC236}">
                <a16:creationId xmlns:a16="http://schemas.microsoft.com/office/drawing/2014/main" id="{90E94917-E442-4D72-983E-AEEE6B678838}"/>
              </a:ext>
            </a:extLst>
          </p:cNvPr>
          <p:cNvSpPr>
            <a:spLocks xmlns:a="http://schemas.openxmlformats.org/drawingml/2006/main" noGrp="1"/>
          </p:cNvSpPr>
          <p:nvPr/>
        </p:nvSpPr>
        <p:spPr>
          <a:xfrm xmlns:a="http://schemas.openxmlformats.org/drawingml/2006/main">
            <a:off x="11049000" y="6391275"/>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59667C"/>
                </a:solidFill>
                <a:latin typeface="Segoe UI"/>
                <a:ea typeface="Segoe UI"/>
                <a:cs typeface="Segoe UI"/>
              </a:defRPr>
            </a:defPPr>
          </a:lstStyle>
          <a:p xmlns:a="http://schemas.openxmlformats.org/drawingml/2006/main">
            <a:pPr>
              <a:defRPr sz="1200" b="0">
                <a:solidFill>
                  <a:srgbClr val="59667C"/>
                </a:solidFill>
                <a:latin typeface="Segoe UI"/>
                <a:ea typeface="Segoe UI"/>
                <a:cs typeface="Segoe UI"/>
              </a:defRPr>
            </a:pPr>
            <a:r>
              <a:rPr sz="1200" b="0">
                <a:solidFill>
                  <a:srgbClr val="59667C"/>
                </a:solidFill>
                <a:latin typeface="Segoe UI"/>
                <a:ea typeface="Segoe UI"/>
                <a:cs typeface="Segoe UI"/>
              </a:rPr>
              <a:t>12</a:t>
            </a:r>
          </a:p>
        </p:txBody>
      </p:sp>
      <p:sp>
        <p:nvSpPr>
          <p:cNvPr id="3" name="">
            <a:extLst xmlns:a="http://schemas.openxmlformats.org/drawingml/2006/main">
              <a:ext uri="{FF2B5EF4-FFF2-40B4-BE49-F238E27FC236}">
                <a16:creationId xmlns:a16="http://schemas.microsoft.com/office/drawing/2014/main" id="{4E27C607-17FA-458C-BA92-F9F34A67054A}"/>
              </a:ext>
            </a:extLst>
          </p:cNvPr>
          <p:cNvSpPr>
            <a:spLocks xmlns:a="http://schemas.openxmlformats.org/drawingml/2006/main" noGrp="1"/>
          </p:cNvSpPr>
          <p:nvPr/>
        </p:nvSpPr>
        <p:spPr>
          <a:xfrm xmlns:a="http://schemas.openxmlformats.org/drawingml/2006/main">
            <a:off x="609600" y="1657350"/>
            <a:ext cx="5810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625" b="1">
                <a:solidFill>
                  <a:srgbClr val="315EF4"/>
                </a:solidFill>
                <a:latin typeface="Segoe UI"/>
                <a:ea typeface="Segoe UI"/>
                <a:cs typeface="Segoe UI"/>
              </a:defRPr>
            </a:defPPr>
          </a:lstStyle>
          <a:p xmlns:a="http://schemas.openxmlformats.org/drawingml/2006/main">
            <a:pPr>
              <a:defRPr sz="2625" b="1">
                <a:solidFill>
                  <a:srgbClr val="315EF4"/>
                </a:solidFill>
                <a:latin typeface="Segoe UI"/>
                <a:ea typeface="Segoe UI"/>
                <a:cs typeface="Segoe UI"/>
              </a:defRPr>
            </a:pPr>
            <a:r>
              <a:rPr sz="2625" b="1">
                <a:solidFill>
                  <a:srgbClr val="315EF4"/>
                </a:solidFill>
                <a:latin typeface="Segoe UI"/>
                <a:ea typeface="Segoe UI"/>
                <a:cs typeface="Segoe UI"/>
              </a:rPr>
              <a:t>Input: 3 + 5 * 2</a:t>
            </a:r>
          </a:p>
        </p:txBody>
      </p:sp>
      <p:sp>
        <p:nvSpPr>
          <p:cNvPr id="4" name="">
            <a:extLst xmlns:a="http://schemas.openxmlformats.org/drawingml/2006/main">
              <a:ext uri="{FF2B5EF4-FFF2-40B4-BE49-F238E27FC236}">
                <a16:creationId xmlns:a16="http://schemas.microsoft.com/office/drawing/2014/main" id="{08AC6FB7-E723-4DC5-AF3E-284E5877C1AB}"/>
              </a:ext>
            </a:extLst>
          </p:cNvPr>
          <p:cNvSpPr>
            <a:spLocks xmlns:a="http://schemas.openxmlformats.org/drawingml/2006/main" noGrp="1"/>
          </p:cNvSpPr>
          <p:nvPr/>
        </p:nvSpPr>
        <p:spPr>
          <a:xfrm xmlns:a="http://schemas.openxmlformats.org/drawingml/2006/main">
            <a:off x="609600" y="2390775"/>
            <a:ext cx="5829300" cy="131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59667C"/>
                </a:solidFill>
                <a:latin typeface="Segoe UI"/>
                <a:ea typeface="Segoe UI"/>
                <a:cs typeface="Segoe UI"/>
              </a:defRPr>
            </a:defPPr>
          </a:lstStyle>
          <a:p xmlns:a="http://schemas.openxmlformats.org/drawingml/2006/main">
            <a:pPr>
              <a:defRPr sz="2400" b="0">
                <a:solidFill>
                  <a:srgbClr val="59667C"/>
                </a:solidFill>
                <a:latin typeface="Segoe UI"/>
                <a:ea typeface="Segoe UI"/>
                <a:cs typeface="Segoe UI"/>
              </a:defRPr>
            </a:pPr>
            <a:r>
              <a:rPr sz="2400" b="0">
                <a:solidFill>
                  <a:srgbClr val="59667C"/>
                </a:solidFill>
                <a:latin typeface="Segoe UI"/>
                <a:ea typeface="Segoe UI"/>
                <a:cs typeface="Segoe UI"/>
              </a:rPr>
              <a:t>The built-in parser groups multiplication before addition and constructs an abstract syntax tree.</a:t>
            </a:r>
          </a:p>
        </p:txBody>
      </p:sp>
      <p:sp>
        <p:nvSpPr>
          <p:cNvPr id="5" name="">
            <a:extLst xmlns:a="http://schemas.openxmlformats.org/drawingml/2006/main">
              <a:ext uri="{FF2B5EF4-FFF2-40B4-BE49-F238E27FC236}">
                <a16:creationId xmlns:a16="http://schemas.microsoft.com/office/drawing/2014/main" id="{32EBD3B1-AE72-4EB9-9BAF-855C1C59CD6D}"/>
              </a:ext>
            </a:extLst>
          </p:cNvPr>
          <p:cNvSpPr>
            <a:spLocks xmlns:a="http://schemas.openxmlformats.org/drawingml/2006/main" noGrp="1"/>
          </p:cNvSpPr>
          <p:nvPr/>
        </p:nvSpPr>
        <p:spPr>
          <a:xfrm xmlns:a="http://schemas.openxmlformats.org/drawingml/2006/main">
            <a:off x="609600" y="4133850"/>
            <a:ext cx="5829300" cy="1343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18253E"/>
                </a:solidFill>
                <a:latin typeface="Segoe UI"/>
                <a:ea typeface="Segoe UI"/>
                <a:cs typeface="Segoe UI"/>
              </a:defRPr>
            </a:defPPr>
          </a:lstStyle>
          <a:p xmlns:a="http://schemas.openxmlformats.org/drawingml/2006/main">
            <a:pPr>
              <a:defRPr sz="2175" b="0">
                <a:solidFill>
                  <a:srgbClr val="18253E"/>
                </a:solidFill>
                <a:latin typeface="Segoe UI"/>
                <a:ea typeface="Segoe UI"/>
                <a:cs typeface="Segoe UI"/>
              </a:defRPr>
            </a:pPr>
            <a:r>
              <a:rPr sz="2175" b="0">
                <a:solidFill>
                  <a:srgbClr val="18253E"/>
                </a:solidFill>
                <a:latin typeface="Segoe UI"/>
                <a:ea typeface="Segoe UI"/>
                <a:cs typeface="Segoe UI"/>
              </a:rPr>
              <a:t>The analyzer also derives scoped symbols, three-address code, optimization results, and basic blocks.</a:t>
            </a:r>
          </a:p>
        </p:txBody>
      </p:sp>
      <p:pic>
        <p:nvPicPr>
          <p:cNvPr id="6" name="">
            <a:extLst xmlns:a="http://schemas.openxmlformats.org/drawingml/2006/main">
              <a:ext uri="{FF2B5EF4-FFF2-40B4-BE49-F238E27FC236}">
                <a16:creationId xmlns:a16="http://schemas.microsoft.com/office/drawing/2014/main" id="{9981F115-EE26-4B9B-A5D6-77F9AB24550E}"/>
              </a:ext>
            </a:extLst>
          </p:cNvPr>
          <p:cNvPicPr>
            <a:picLocks xmlns:a="http://schemas.openxmlformats.org/drawingml/2006/main" noChangeAspect="1"/>
          </p:cNvPicPr>
          <p:nvPr/>
        </p:nvPicPr>
        <p:blipFill>
          <a:blip xmlns:r="http://schemas.openxmlformats.org/officeDocument/2006/relationships" xmlns:a="http://schemas.openxmlformats.org/drawingml/2006/main" r:embed="R0c67a04ea0984e68"/>
          <a:stretch xmlns:a="http://schemas.openxmlformats.org/drawingml/2006/main"/>
        </p:blipFill>
        <p:spPr>
          <a:xfrm xmlns:a="http://schemas.openxmlformats.org/drawingml/2006/main">
            <a:off x="7107267" y="1657350"/>
            <a:ext cx="4454465" cy="38862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353BB8E1-65B0-472D-B48C-A6EA5BFB0F0B}"/>
              </a:ext>
            </a:extLst>
          </p:cNvPr>
          <p:cNvSpPr>
            <a:spLocks xmlns:a="http://schemas.openxmlformats.org/drawingml/2006/main" noGrp="1"/>
          </p:cNvSpPr>
          <p:nvPr/>
        </p:nvSpPr>
        <p:spPr>
          <a:xfrm xmlns:a="http://schemas.openxmlformats.org/drawingml/2006/main">
            <a:off x="609600" y="59245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59667C"/>
                </a:solidFill>
                <a:latin typeface="Segoe UI"/>
                <a:ea typeface="Segoe UI"/>
                <a:cs typeface="Segoe UI"/>
              </a:defRPr>
            </a:defPPr>
          </a:lstStyle>
          <a:p xmlns:a="http://schemas.openxmlformats.org/drawingml/2006/main">
            <a:pPr>
              <a:defRPr sz="1800" b="0">
                <a:solidFill>
                  <a:srgbClr val="59667C"/>
                </a:solidFill>
                <a:latin typeface="Segoe UI"/>
                <a:ea typeface="Segoe UI"/>
                <a:cs typeface="Segoe UI"/>
              </a:defRPr>
            </a:pPr>
            <a:r>
              <a:rPr sz="1800" b="0">
                <a:solidFill>
                  <a:srgbClr val="59667C"/>
                </a:solidFill>
                <a:latin typeface="Segoe UI"/>
                <a:ea typeface="Segoe UI"/>
                <a:cs typeface="Segoe UI"/>
              </a:rPr>
              <a:t>Educational analysis uses Lexora’s supported C subset. Native execution follows the submitted specifications.</a:t>
            </a:r>
          </a:p>
        </p:txBody>
      </p:sp>
    </p:spTree>
    <p:extLst>
      <p:ext uri="{BB962C8B-B14F-4D97-AF65-F5344CB8AC3E}">
        <p14:creationId xmlns:p14="http://schemas.microsoft.com/office/powerpoint/2010/main" val="1209634586"/>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4" name="">
            <a:extLst xmlns:a="http://schemas.openxmlformats.org/drawingml/2006/main">
              <a:ext uri="{FF2B5EF4-FFF2-40B4-BE49-F238E27FC236}">
                <a16:creationId xmlns:a16="http://schemas.microsoft.com/office/drawing/2014/main" id="{F1D3FE87-EAE9-4141-B69A-64E2C5ED7FE7}"/>
              </a:ext>
            </a:extLst>
          </p:cNvPr>
          <p:cNvCxnSpPr>
            <a:stCxn xmlns:a="http://schemas.openxmlformats.org/drawingml/2006/main" id="7" idx="2"/>
            <a:endCxn xmlns:a="http://schemas.openxmlformats.org/drawingml/2006/main" id="9" idx="0"/>
          </p:cNvCxnSpPr>
          <p:nvPr/>
        </p:nvCxnSpPr>
        <p:spPr>
          <a:xfrm xmlns:a="http://schemas.openxmlformats.org/drawingml/2006/main">
            <a:off x="3829050" y="5181600"/>
            <a:ext cx="790575" cy="438150"/>
          </a:xfrm>
          <a:prstGeom xmlns:a="http://schemas.openxmlformats.org/drawingml/2006/main" prst="straightConnector1">
            <a:avLst/>
          </a:prstGeom>
          <a:ln xmlns:a="http://schemas.openxmlformats.org/drawingml/2006/main" w="22860">
            <a:solidFill>
              <a:srgbClr val="315EF4"/>
            </a:solidFill>
            <a:tailEnd type="triangle" w="med" len="med"/>
          </a:ln>
        </p:spPr>
      </p:cxnSp>
      <p:cxnSp>
        <p:nvCxnSpPr>
          <p:cNvPr id="13" name="">
            <a:extLst xmlns:a="http://schemas.openxmlformats.org/drawingml/2006/main">
              <a:ext uri="{FF2B5EF4-FFF2-40B4-BE49-F238E27FC236}">
                <a16:creationId xmlns:a16="http://schemas.microsoft.com/office/drawing/2014/main" id="{16A82B4E-C8E2-46A3-8562-C026E4BA444E}"/>
              </a:ext>
            </a:extLst>
          </p:cNvPr>
          <p:cNvCxnSpPr>
            <a:stCxn xmlns:a="http://schemas.openxmlformats.org/drawingml/2006/main" id="7" idx="2"/>
            <a:endCxn xmlns:a="http://schemas.openxmlformats.org/drawingml/2006/main" id="8" idx="0"/>
          </p:cNvCxnSpPr>
          <p:nvPr/>
        </p:nvCxnSpPr>
        <p:spPr>
          <a:xfrm xmlns:a="http://schemas.openxmlformats.org/drawingml/2006/main" flipH="1">
            <a:off x="3114675" y="5181600"/>
            <a:ext cx="714375" cy="438150"/>
          </a:xfrm>
          <a:prstGeom xmlns:a="http://schemas.openxmlformats.org/drawingml/2006/main" prst="straightConnector1">
            <a:avLst/>
          </a:prstGeom>
          <a:ln xmlns:a="http://schemas.openxmlformats.org/drawingml/2006/main" w="22860">
            <a:solidFill>
              <a:srgbClr val="315EF4"/>
            </a:solidFill>
            <a:tailEnd type="triangle" w="med" len="med"/>
          </a:ln>
        </p:spPr>
      </p:cxnSp>
      <p:cxnSp>
        <p:nvCxnSpPr>
          <p:cNvPr id="12" name="">
            <a:extLst xmlns:a="http://schemas.openxmlformats.org/drawingml/2006/main">
              <a:ext uri="{FF2B5EF4-FFF2-40B4-BE49-F238E27FC236}">
                <a16:creationId xmlns:a16="http://schemas.microsoft.com/office/drawing/2014/main" id="{371DEB77-0B76-49D0-B291-3125D298DE1E}"/>
              </a:ext>
            </a:extLst>
          </p:cNvPr>
          <p:cNvCxnSpPr>
            <a:stCxn xmlns:a="http://schemas.openxmlformats.org/drawingml/2006/main" id="5" idx="2"/>
            <a:endCxn xmlns:a="http://schemas.openxmlformats.org/drawingml/2006/main" id="7" idx="0"/>
          </p:cNvCxnSpPr>
          <p:nvPr/>
        </p:nvCxnSpPr>
        <p:spPr>
          <a:xfrm xmlns:a="http://schemas.openxmlformats.org/drawingml/2006/main">
            <a:off x="2447925" y="4143375"/>
            <a:ext cx="1381125" cy="514350"/>
          </a:xfrm>
          <a:prstGeom xmlns:a="http://schemas.openxmlformats.org/drawingml/2006/main" prst="straightConnector1">
            <a:avLst/>
          </a:prstGeom>
          <a:ln xmlns:a="http://schemas.openxmlformats.org/drawingml/2006/main" w="22860">
            <a:solidFill>
              <a:srgbClr val="315EF4"/>
            </a:solidFill>
            <a:tailEnd type="triangle" w="med" len="med"/>
          </a:ln>
        </p:spPr>
      </p:cxnSp>
      <p:cxnSp>
        <p:nvCxnSpPr>
          <p:cNvPr id="11" name="">
            <a:extLst xmlns:a="http://schemas.openxmlformats.org/drawingml/2006/main">
              <a:ext uri="{FF2B5EF4-FFF2-40B4-BE49-F238E27FC236}">
                <a16:creationId xmlns:a16="http://schemas.microsoft.com/office/drawing/2014/main" id="{E5FA0D21-408F-491E-9419-137558EA4095}"/>
              </a:ext>
            </a:extLst>
          </p:cNvPr>
          <p:cNvCxnSpPr>
            <a:stCxn xmlns:a="http://schemas.openxmlformats.org/drawingml/2006/main" id="5" idx="2"/>
            <a:endCxn xmlns:a="http://schemas.openxmlformats.org/drawingml/2006/main" id="6" idx="0"/>
          </p:cNvCxnSpPr>
          <p:nvPr/>
        </p:nvCxnSpPr>
        <p:spPr>
          <a:xfrm xmlns:a="http://schemas.openxmlformats.org/drawingml/2006/main" flipH="1">
            <a:off x="1152525" y="4143375"/>
            <a:ext cx="1295400" cy="514350"/>
          </a:xfrm>
          <a:prstGeom xmlns:a="http://schemas.openxmlformats.org/drawingml/2006/main" prst="straightConnector1">
            <a:avLst/>
          </a:prstGeom>
          <a:ln xmlns:a="http://schemas.openxmlformats.org/drawingml/2006/main" w="22860">
            <a:solidFill>
              <a:srgbClr val="315EF4"/>
            </a:solidFill>
            <a:tailEnd type="triangle" w="med" len="med"/>
          </a:ln>
        </p:spPr>
      </p:cxnSp>
      <p:cxnSp>
        <p:nvCxnSpPr>
          <p:cNvPr id="10" name="">
            <a:extLst xmlns:a="http://schemas.openxmlformats.org/drawingml/2006/main">
              <a:ext uri="{FF2B5EF4-FFF2-40B4-BE49-F238E27FC236}">
                <a16:creationId xmlns:a16="http://schemas.microsoft.com/office/drawing/2014/main" id="{46281649-137D-48C9-8225-746F32A44999}"/>
              </a:ext>
            </a:extLst>
          </p:cNvPr>
          <p:cNvCxnSpPr>
            <a:stCxn xmlns:a="http://schemas.openxmlformats.org/drawingml/2006/main" id="4" idx="2"/>
            <a:endCxn xmlns:a="http://schemas.openxmlformats.org/drawingml/2006/main" id="5" idx="0"/>
          </p:cNvCxnSpPr>
          <p:nvPr/>
        </p:nvCxnSpPr>
        <p:spPr>
          <a:xfrm xmlns:a="http://schemas.openxmlformats.org/drawingml/2006/main">
            <a:off x="2447925" y="3152775"/>
            <a:ext cx="0" cy="419100"/>
          </a:xfrm>
          <a:prstGeom xmlns:a="http://schemas.openxmlformats.org/drawingml/2006/main" prst="straightConnector1">
            <a:avLst/>
          </a:prstGeom>
          <a:ln xmlns:a="http://schemas.openxmlformats.org/drawingml/2006/main" w="22860">
            <a:solidFill>
              <a:srgbClr val="315EF4"/>
            </a:solidFill>
            <a:tailEnd type="triangle" w="med" len="med"/>
          </a:ln>
        </p:spPr>
      </p:cxnSp>
      <p:sp>
        <p:nvSpPr>
          <p:cNvPr id="20" name="">
            <a:extLst xmlns:a="http://schemas.openxmlformats.org/drawingml/2006/main">
              <a:ext uri="{FF2B5EF4-FFF2-40B4-BE49-F238E27FC236}">
                <a16:creationId xmlns:a16="http://schemas.microsoft.com/office/drawing/2014/main" id="{BCD6EEEA-F81F-44BF-ABA1-DBD8BA1424D8}"/>
              </a:ext>
            </a:extLst>
          </p:cNvPr>
          <p:cNvSpPr>
            <a:spLocks xmlns:a="http://schemas.openxmlformats.org/drawingml/2006/main" noGrp="1"/>
          </p:cNvSpPr>
          <p:nvPr/>
        </p:nvSpPr>
        <p:spPr>
          <a:xfrm xmlns:a="http://schemas.openxmlformats.org/drawingml/2006/main">
            <a:off x="609600" y="4572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450" b="1">
                <a:solidFill>
                  <a:srgbClr val="18253E"/>
                </a:solidFill>
                <a:latin typeface="Segoe UI"/>
                <a:ea typeface="Segoe UI"/>
                <a:cs typeface="Segoe UI"/>
              </a:defRPr>
            </a:defPPr>
          </a:lstStyle>
          <a:p xmlns:a="http://schemas.openxmlformats.org/drawingml/2006/main">
            <a:pPr>
              <a:defRPr sz="3450" b="1">
                <a:solidFill>
                  <a:srgbClr val="18253E"/>
                </a:solidFill>
                <a:latin typeface="Segoe UI"/>
                <a:ea typeface="Segoe UI"/>
                <a:cs typeface="Segoe UI"/>
              </a:defRPr>
            </a:pPr>
            <a:r>
              <a:rPr sz="3450" b="1">
                <a:solidFill>
                  <a:srgbClr val="18253E"/>
                </a:solidFill>
                <a:latin typeface="Segoe UI"/>
                <a:ea typeface="Segoe UI"/>
                <a:cs typeface="Segoe UI"/>
              </a:rPr>
              <a:t>Worked example: intermediate code</a:t>
            </a:r>
          </a:p>
        </p:txBody>
      </p:sp>
      <p:sp>
        <p:nvSpPr>
          <p:cNvPr id="2" name="">
            <a:extLst xmlns:a="http://schemas.openxmlformats.org/drawingml/2006/main">
              <a:ext uri="{FF2B5EF4-FFF2-40B4-BE49-F238E27FC236}">
                <a16:creationId xmlns:a16="http://schemas.microsoft.com/office/drawing/2014/main" id="{EA041F86-9892-4A72-A7E2-449305FBD828}"/>
              </a:ext>
            </a:extLst>
          </p:cNvPr>
          <p:cNvSpPr>
            <a:spLocks xmlns:a="http://schemas.openxmlformats.org/drawingml/2006/main" noGrp="1"/>
          </p:cNvSpPr>
          <p:nvPr/>
        </p:nvSpPr>
        <p:spPr>
          <a:xfrm xmlns:a="http://schemas.openxmlformats.org/drawingml/2006/main">
            <a:off x="11049000" y="6391275"/>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59667C"/>
                </a:solidFill>
                <a:latin typeface="Segoe UI"/>
                <a:ea typeface="Segoe UI"/>
                <a:cs typeface="Segoe UI"/>
              </a:defRPr>
            </a:defPPr>
          </a:lstStyle>
          <a:p xmlns:a="http://schemas.openxmlformats.org/drawingml/2006/main">
            <a:pPr>
              <a:defRPr sz="1200" b="0">
                <a:solidFill>
                  <a:srgbClr val="59667C"/>
                </a:solidFill>
                <a:latin typeface="Segoe UI"/>
                <a:ea typeface="Segoe UI"/>
                <a:cs typeface="Segoe UI"/>
              </a:defRPr>
            </a:pPr>
            <a:r>
              <a:rPr sz="1200" b="0">
                <a:solidFill>
                  <a:srgbClr val="59667C"/>
                </a:solidFill>
                <a:latin typeface="Segoe UI"/>
                <a:ea typeface="Segoe UI"/>
                <a:cs typeface="Segoe UI"/>
              </a:rPr>
              <a:t>13</a:t>
            </a:r>
          </a:p>
        </p:txBody>
      </p:sp>
      <p:sp>
        <p:nvSpPr>
          <p:cNvPr id="3" name="">
            <a:extLst xmlns:a="http://schemas.openxmlformats.org/drawingml/2006/main">
              <a:ext uri="{FF2B5EF4-FFF2-40B4-BE49-F238E27FC236}">
                <a16:creationId xmlns:a16="http://schemas.microsoft.com/office/drawing/2014/main" id="{FF506A91-99DC-46A4-8E69-AB092E5A50DE}"/>
              </a:ext>
            </a:extLst>
          </p:cNvPr>
          <p:cNvSpPr>
            <a:spLocks xmlns:a="http://schemas.openxmlformats.org/drawingml/2006/main" noGrp="1"/>
          </p:cNvSpPr>
          <p:nvPr/>
        </p:nvSpPr>
        <p:spPr>
          <a:xfrm xmlns:a="http://schemas.openxmlformats.org/drawingml/2006/main">
            <a:off x="609600" y="147637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315EF4"/>
                </a:solidFill>
                <a:latin typeface="Segoe UI"/>
                <a:ea typeface="Segoe UI"/>
                <a:cs typeface="Segoe UI"/>
              </a:defRPr>
            </a:defPPr>
          </a:lstStyle>
          <a:p xmlns:a="http://schemas.openxmlformats.org/drawingml/2006/main">
            <a:pPr>
              <a:defRPr sz="2700" b="1">
                <a:solidFill>
                  <a:srgbClr val="315EF4"/>
                </a:solidFill>
                <a:latin typeface="Segoe UI"/>
                <a:ea typeface="Segoe UI"/>
                <a:cs typeface="Segoe UI"/>
              </a:defRPr>
            </a:pPr>
            <a:r>
              <a:rPr sz="2700" b="1">
                <a:solidFill>
                  <a:srgbClr val="315EF4"/>
                </a:solidFill>
                <a:latin typeface="Segoe UI"/>
                <a:ea typeface="Segoe UI"/>
                <a:cs typeface="Segoe UI"/>
              </a:rPr>
              <a:t>int x = 2 + 3 * 4;</a:t>
            </a:r>
          </a:p>
        </p:txBody>
      </p:sp>
      <p:sp>
        <p:nvSpPr>
          <p:cNvPr id="4" name="">
            <a:extLst xmlns:a="http://schemas.openxmlformats.org/drawingml/2006/main">
              <a:ext uri="{FF2B5EF4-FFF2-40B4-BE49-F238E27FC236}">
                <a16:creationId xmlns:a16="http://schemas.microsoft.com/office/drawing/2014/main" id="{CF92F725-E8A1-49ED-8675-0966B1755FE0}"/>
              </a:ext>
            </a:extLst>
          </p:cNvPr>
          <p:cNvSpPr>
            <a:spLocks xmlns:a="http://schemas.openxmlformats.org/drawingml/2006/main" noGrp="1"/>
          </p:cNvSpPr>
          <p:nvPr/>
        </p:nvSpPr>
        <p:spPr>
          <a:xfrm xmlns:a="http://schemas.openxmlformats.org/drawingml/2006/main">
            <a:off x="1114425" y="2524125"/>
            <a:ext cx="2667000" cy="628650"/>
          </a:xfrm>
          <a:prstGeom xmlns:a="http://schemas.openxmlformats.org/drawingml/2006/main" prst="rect">
            <a:avLst/>
          </a:prstGeom>
          <a:solidFill xmlns:a="http://schemas.openxmlformats.org/drawingml/2006/main">
            <a:srgbClr val="315EF4"/>
          </a:solidFill>
          <a:ln xmlns:a="http://schemas.openxmlformats.org/drawingml/2006/main" w="12383">
            <a:solidFill>
              <a:srgbClr val="315EF4"/>
            </a:solidFill>
          </a:ln>
        </p:spPr>
        <p:txBody>
          <a:bodyPr xmlns:a="http://schemas.openxmlformats.org/drawingml/2006/main" anchor="ctr">
            <a:noAutofit/>
          </a:bodyPr>
          <a:lstStyle xmlns:a="http://schemas.openxmlformats.org/drawingml/2006/main">
            <a:defPPr algn="ctr">
              <a:defRPr sz="1875" b="1">
                <a:solidFill>
                  <a:srgbClr val="FFFFFF"/>
                </a:solidFill>
                <a:latin typeface="Segoe UI"/>
                <a:ea typeface="Segoe UI"/>
                <a:cs typeface="Segoe UI"/>
              </a:defRPr>
            </a:defPPr>
          </a:lstStyle>
          <a:p xmlns:a="http://schemas.openxmlformats.org/drawingml/2006/main">
            <a:pPr algn="ctr">
              <a:defRPr sz="1875" b="1">
                <a:solidFill>
                  <a:srgbClr val="FFFFFF"/>
                </a:solidFill>
                <a:latin typeface="Segoe UI"/>
                <a:ea typeface="Segoe UI"/>
                <a:cs typeface="Segoe UI"/>
              </a:defRPr>
            </a:pPr>
            <a:r>
              <a:rPr sz="1875" b="1">
                <a:solidFill>
                  <a:srgbClr val="FFFFFF"/>
                </a:solidFill>
                <a:latin typeface="Segoe UI"/>
                <a:ea typeface="Segoe UI"/>
                <a:cs typeface="Segoe UI"/>
              </a:rPr>
              <a:t>Declare x : int</a:t>
            </a:r>
          </a:p>
        </p:txBody>
      </p:sp>
      <p:sp>
        <p:nvSpPr>
          <p:cNvPr id="5" name="">
            <a:extLst xmlns:a="http://schemas.openxmlformats.org/drawingml/2006/main">
              <a:ext uri="{FF2B5EF4-FFF2-40B4-BE49-F238E27FC236}">
                <a16:creationId xmlns:a16="http://schemas.microsoft.com/office/drawing/2014/main" id="{77D92ED2-8A86-41B6-A43C-B8F715E1D9C0}"/>
              </a:ext>
            </a:extLst>
          </p:cNvPr>
          <p:cNvSpPr>
            <a:spLocks xmlns:a="http://schemas.openxmlformats.org/drawingml/2006/main" noGrp="1"/>
          </p:cNvSpPr>
          <p:nvPr/>
        </p:nvSpPr>
        <p:spPr>
          <a:xfrm xmlns:a="http://schemas.openxmlformats.org/drawingml/2006/main">
            <a:off x="1876425" y="3571875"/>
            <a:ext cx="1143000" cy="571500"/>
          </a:xfrm>
          <a:prstGeom xmlns:a="http://schemas.openxmlformats.org/drawingml/2006/main" prst="rect">
            <a:avLst/>
          </a:prstGeom>
          <a:solidFill xmlns:a="http://schemas.openxmlformats.org/drawingml/2006/main">
            <a:srgbClr val="EDF1FF"/>
          </a:solidFill>
          <a:ln xmlns:a="http://schemas.openxmlformats.org/drawingml/2006/main" w="12383">
            <a:solidFill>
              <a:srgbClr val="315EF4"/>
            </a:solidFill>
          </a:ln>
        </p:spPr>
        <p:txBody>
          <a:bodyPr xmlns:a="http://schemas.openxmlformats.org/drawingml/2006/main" anchor="ctr">
            <a:noAutofit/>
          </a:bodyPr>
          <a:lstStyle xmlns:a="http://schemas.openxmlformats.org/drawingml/2006/main">
            <a:defPPr algn="ctr">
              <a:defRPr sz="1875" b="1">
                <a:solidFill>
                  <a:srgbClr val="18253E"/>
                </a:solidFill>
                <a:latin typeface="Segoe UI"/>
                <a:ea typeface="Segoe UI"/>
                <a:cs typeface="Segoe UI"/>
              </a:defRPr>
            </a:defPPr>
          </a:lstStyle>
          <a:p xmlns:a="http://schemas.openxmlformats.org/drawingml/2006/main">
            <a:pPr algn="ctr">
              <a:defRPr sz="1875" b="1">
                <a:solidFill>
                  <a:srgbClr val="18253E"/>
                </a:solidFill>
                <a:latin typeface="Segoe UI"/>
                <a:ea typeface="Segoe UI"/>
                <a:cs typeface="Segoe UI"/>
              </a:defRPr>
            </a:pPr>
            <a:r>
              <a:rPr sz="1875" b="1">
                <a:solidFill>
                  <a:srgbClr val="18253E"/>
                </a:solidFill>
                <a:latin typeface="Segoe UI"/>
                <a:ea typeface="Segoe UI"/>
                <a:cs typeface="Segoe UI"/>
              </a:rPr>
              <a:t>+</a:t>
            </a:r>
          </a:p>
        </p:txBody>
      </p:sp>
      <p:sp>
        <p:nvSpPr>
          <p:cNvPr id="6" name="">
            <a:extLst xmlns:a="http://schemas.openxmlformats.org/drawingml/2006/main">
              <a:ext uri="{FF2B5EF4-FFF2-40B4-BE49-F238E27FC236}">
                <a16:creationId xmlns:a16="http://schemas.microsoft.com/office/drawing/2014/main" id="{45C5BC9F-9B56-4F45-9811-414D591A6C6B}"/>
              </a:ext>
            </a:extLst>
          </p:cNvPr>
          <p:cNvSpPr>
            <a:spLocks xmlns:a="http://schemas.openxmlformats.org/drawingml/2006/main" noGrp="1"/>
          </p:cNvSpPr>
          <p:nvPr/>
        </p:nvSpPr>
        <p:spPr>
          <a:xfrm xmlns:a="http://schemas.openxmlformats.org/drawingml/2006/main">
            <a:off x="723900" y="4657725"/>
            <a:ext cx="857250" cy="523875"/>
          </a:xfrm>
          <a:prstGeom xmlns:a="http://schemas.openxmlformats.org/drawingml/2006/main" prst="rect">
            <a:avLst/>
          </a:prstGeom>
          <a:solidFill xmlns:a="http://schemas.openxmlformats.org/drawingml/2006/main">
            <a:srgbClr val="EDF1FF"/>
          </a:solidFill>
          <a:ln xmlns:a="http://schemas.openxmlformats.org/drawingml/2006/main" w="12383">
            <a:solidFill>
              <a:srgbClr val="315EF4"/>
            </a:solidFill>
          </a:ln>
        </p:spPr>
        <p:txBody>
          <a:bodyPr xmlns:a="http://schemas.openxmlformats.org/drawingml/2006/main" anchor="ctr">
            <a:noAutofit/>
          </a:bodyPr>
          <a:lstStyle xmlns:a="http://schemas.openxmlformats.org/drawingml/2006/main">
            <a:defPPr algn="ctr">
              <a:defRPr sz="1875" b="1">
                <a:solidFill>
                  <a:srgbClr val="18253E"/>
                </a:solidFill>
                <a:latin typeface="Segoe UI"/>
                <a:ea typeface="Segoe UI"/>
                <a:cs typeface="Segoe UI"/>
              </a:defRPr>
            </a:defPPr>
          </a:lstStyle>
          <a:p xmlns:a="http://schemas.openxmlformats.org/drawingml/2006/main">
            <a:pPr algn="ctr">
              <a:defRPr sz="1875" b="1">
                <a:solidFill>
                  <a:srgbClr val="18253E"/>
                </a:solidFill>
                <a:latin typeface="Segoe UI"/>
                <a:ea typeface="Segoe UI"/>
                <a:cs typeface="Segoe UI"/>
              </a:defRPr>
            </a:pPr>
            <a:r>
              <a:rPr sz="1875" b="1">
                <a:solidFill>
                  <a:srgbClr val="18253E"/>
                </a:solidFill>
                <a:latin typeface="Segoe UI"/>
                <a:ea typeface="Segoe UI"/>
                <a:cs typeface="Segoe UI"/>
              </a:rPr>
              <a:t>2</a:t>
            </a:r>
          </a:p>
        </p:txBody>
      </p:sp>
      <p:sp>
        <p:nvSpPr>
          <p:cNvPr id="7" name="">
            <a:extLst xmlns:a="http://schemas.openxmlformats.org/drawingml/2006/main">
              <a:ext uri="{FF2B5EF4-FFF2-40B4-BE49-F238E27FC236}">
                <a16:creationId xmlns:a16="http://schemas.microsoft.com/office/drawing/2014/main" id="{D22AEFB6-66A1-403B-8FAD-99C0C8090627}"/>
              </a:ext>
            </a:extLst>
          </p:cNvPr>
          <p:cNvSpPr>
            <a:spLocks xmlns:a="http://schemas.openxmlformats.org/drawingml/2006/main" noGrp="1"/>
          </p:cNvSpPr>
          <p:nvPr/>
        </p:nvSpPr>
        <p:spPr>
          <a:xfrm xmlns:a="http://schemas.openxmlformats.org/drawingml/2006/main">
            <a:off x="3400425" y="4657725"/>
            <a:ext cx="857250" cy="523875"/>
          </a:xfrm>
          <a:prstGeom xmlns:a="http://schemas.openxmlformats.org/drawingml/2006/main" prst="rect">
            <a:avLst/>
          </a:prstGeom>
          <a:solidFill xmlns:a="http://schemas.openxmlformats.org/drawingml/2006/main">
            <a:srgbClr val="EDF1FF"/>
          </a:solidFill>
          <a:ln xmlns:a="http://schemas.openxmlformats.org/drawingml/2006/main" w="12383">
            <a:solidFill>
              <a:srgbClr val="315EF4"/>
            </a:solidFill>
          </a:ln>
        </p:spPr>
        <p:txBody>
          <a:bodyPr xmlns:a="http://schemas.openxmlformats.org/drawingml/2006/main" anchor="ctr">
            <a:noAutofit/>
          </a:bodyPr>
          <a:lstStyle xmlns:a="http://schemas.openxmlformats.org/drawingml/2006/main">
            <a:defPPr algn="ctr">
              <a:defRPr sz="1875" b="1">
                <a:solidFill>
                  <a:srgbClr val="18253E"/>
                </a:solidFill>
                <a:latin typeface="Segoe UI"/>
                <a:ea typeface="Segoe UI"/>
                <a:cs typeface="Segoe UI"/>
              </a:defRPr>
            </a:defPPr>
          </a:lstStyle>
          <a:p xmlns:a="http://schemas.openxmlformats.org/drawingml/2006/main">
            <a:pPr algn="ctr">
              <a:defRPr sz="1875" b="1">
                <a:solidFill>
                  <a:srgbClr val="18253E"/>
                </a:solidFill>
                <a:latin typeface="Segoe UI"/>
                <a:ea typeface="Segoe UI"/>
                <a:cs typeface="Segoe UI"/>
              </a:defRPr>
            </a:pPr>
            <a:r>
              <a:rPr sz="1875" b="1">
                <a:solidFill>
                  <a:srgbClr val="18253E"/>
                </a:solidFill>
                <a:latin typeface="Segoe UI"/>
                <a:ea typeface="Segoe UI"/>
                <a:cs typeface="Segoe UI"/>
              </a:rPr>
              <a:t>*</a:t>
            </a:r>
          </a:p>
        </p:txBody>
      </p:sp>
      <p:sp>
        <p:nvSpPr>
          <p:cNvPr id="8" name="">
            <a:extLst xmlns:a="http://schemas.openxmlformats.org/drawingml/2006/main">
              <a:ext uri="{FF2B5EF4-FFF2-40B4-BE49-F238E27FC236}">
                <a16:creationId xmlns:a16="http://schemas.microsoft.com/office/drawing/2014/main" id="{F2C13625-4059-4E0D-8A8A-31D6616083C3}"/>
              </a:ext>
            </a:extLst>
          </p:cNvPr>
          <p:cNvSpPr>
            <a:spLocks xmlns:a="http://schemas.openxmlformats.org/drawingml/2006/main" noGrp="1"/>
          </p:cNvSpPr>
          <p:nvPr/>
        </p:nvSpPr>
        <p:spPr>
          <a:xfrm xmlns:a="http://schemas.openxmlformats.org/drawingml/2006/main">
            <a:off x="2743200" y="5619750"/>
            <a:ext cx="742950" cy="438150"/>
          </a:xfrm>
          <a:prstGeom xmlns:a="http://schemas.openxmlformats.org/drawingml/2006/main" prst="rect">
            <a:avLst/>
          </a:prstGeom>
          <a:solidFill xmlns:a="http://schemas.openxmlformats.org/drawingml/2006/main">
            <a:srgbClr val="EDF1FF"/>
          </a:solidFill>
          <a:ln xmlns:a="http://schemas.openxmlformats.org/drawingml/2006/main" w="12383">
            <a:solidFill>
              <a:srgbClr val="315EF4"/>
            </a:solidFill>
          </a:ln>
        </p:spPr>
        <p:txBody>
          <a:bodyPr xmlns:a="http://schemas.openxmlformats.org/drawingml/2006/main" anchor="ctr">
            <a:noAutofit/>
          </a:bodyPr>
          <a:lstStyle xmlns:a="http://schemas.openxmlformats.org/drawingml/2006/main">
            <a:defPPr algn="ctr">
              <a:defRPr sz="1875" b="1">
                <a:solidFill>
                  <a:srgbClr val="18253E"/>
                </a:solidFill>
                <a:latin typeface="Segoe UI"/>
                <a:ea typeface="Segoe UI"/>
                <a:cs typeface="Segoe UI"/>
              </a:defRPr>
            </a:defPPr>
          </a:lstStyle>
          <a:p xmlns:a="http://schemas.openxmlformats.org/drawingml/2006/main">
            <a:pPr algn="ctr">
              <a:defRPr sz="1875" b="1">
                <a:solidFill>
                  <a:srgbClr val="18253E"/>
                </a:solidFill>
                <a:latin typeface="Segoe UI"/>
                <a:ea typeface="Segoe UI"/>
                <a:cs typeface="Segoe UI"/>
              </a:defRPr>
            </a:pPr>
            <a:r>
              <a:rPr sz="1875" b="1">
                <a:solidFill>
                  <a:srgbClr val="18253E"/>
                </a:solidFill>
                <a:latin typeface="Segoe UI"/>
                <a:ea typeface="Segoe UI"/>
                <a:cs typeface="Segoe UI"/>
              </a:rPr>
              <a:t>3</a:t>
            </a:r>
          </a:p>
        </p:txBody>
      </p:sp>
      <p:sp>
        <p:nvSpPr>
          <p:cNvPr id="9" name="">
            <a:extLst xmlns:a="http://schemas.openxmlformats.org/drawingml/2006/main">
              <a:ext uri="{FF2B5EF4-FFF2-40B4-BE49-F238E27FC236}">
                <a16:creationId xmlns:a16="http://schemas.microsoft.com/office/drawing/2014/main" id="{7E2DF44A-557A-47BD-9FA8-1F6FECB1AA81}"/>
              </a:ext>
            </a:extLst>
          </p:cNvPr>
          <p:cNvSpPr>
            <a:spLocks xmlns:a="http://schemas.openxmlformats.org/drawingml/2006/main" noGrp="1"/>
          </p:cNvSpPr>
          <p:nvPr/>
        </p:nvSpPr>
        <p:spPr>
          <a:xfrm xmlns:a="http://schemas.openxmlformats.org/drawingml/2006/main">
            <a:off x="4248150" y="5619750"/>
            <a:ext cx="742950" cy="438150"/>
          </a:xfrm>
          <a:prstGeom xmlns:a="http://schemas.openxmlformats.org/drawingml/2006/main" prst="rect">
            <a:avLst/>
          </a:prstGeom>
          <a:solidFill xmlns:a="http://schemas.openxmlformats.org/drawingml/2006/main">
            <a:srgbClr val="EDF1FF"/>
          </a:solidFill>
          <a:ln xmlns:a="http://schemas.openxmlformats.org/drawingml/2006/main" w="12383">
            <a:solidFill>
              <a:srgbClr val="315EF4"/>
            </a:solidFill>
          </a:ln>
        </p:spPr>
        <p:txBody>
          <a:bodyPr xmlns:a="http://schemas.openxmlformats.org/drawingml/2006/main" anchor="ctr">
            <a:noAutofit/>
          </a:bodyPr>
          <a:lstStyle xmlns:a="http://schemas.openxmlformats.org/drawingml/2006/main">
            <a:defPPr algn="ctr">
              <a:defRPr sz="1875" b="1">
                <a:solidFill>
                  <a:srgbClr val="18253E"/>
                </a:solidFill>
                <a:latin typeface="Segoe UI"/>
                <a:ea typeface="Segoe UI"/>
                <a:cs typeface="Segoe UI"/>
              </a:defRPr>
            </a:defPPr>
          </a:lstStyle>
          <a:p xmlns:a="http://schemas.openxmlformats.org/drawingml/2006/main">
            <a:pPr algn="ctr">
              <a:defRPr sz="1875" b="1">
                <a:solidFill>
                  <a:srgbClr val="18253E"/>
                </a:solidFill>
                <a:latin typeface="Segoe UI"/>
                <a:ea typeface="Segoe UI"/>
                <a:cs typeface="Segoe UI"/>
              </a:defRPr>
            </a:pPr>
            <a:r>
              <a:rPr sz="1875" b="1">
                <a:solidFill>
                  <a:srgbClr val="18253E"/>
                </a:solidFill>
                <a:latin typeface="Segoe UI"/>
                <a:ea typeface="Segoe UI"/>
                <a:cs typeface="Segoe UI"/>
              </a:rPr>
              <a:t>4</a:t>
            </a:r>
          </a:p>
        </p:txBody>
      </p:sp>
      <p:sp>
        <p:nvSpPr>
          <p:cNvPr id="15" name="">
            <a:extLst xmlns:a="http://schemas.openxmlformats.org/drawingml/2006/main">
              <a:ext uri="{FF2B5EF4-FFF2-40B4-BE49-F238E27FC236}">
                <a16:creationId xmlns:a16="http://schemas.microsoft.com/office/drawing/2014/main" id="{11923391-0016-44E7-914A-411938C1A837}"/>
              </a:ext>
            </a:extLst>
          </p:cNvPr>
          <p:cNvSpPr>
            <a:spLocks xmlns:a="http://schemas.openxmlformats.org/drawingml/2006/main" noGrp="1"/>
          </p:cNvSpPr>
          <p:nvPr/>
        </p:nvSpPr>
        <p:spPr>
          <a:xfrm xmlns:a="http://schemas.openxmlformats.org/drawingml/2006/main">
            <a:off x="6153150" y="2514600"/>
            <a:ext cx="266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315EF4"/>
                </a:solidFill>
                <a:latin typeface="Segoe UI"/>
                <a:ea typeface="Segoe UI"/>
                <a:cs typeface="Segoe UI"/>
              </a:defRPr>
            </a:defPPr>
          </a:lstStyle>
          <a:p xmlns:a="http://schemas.openxmlformats.org/drawingml/2006/main">
            <a:pPr>
              <a:defRPr sz="2250" b="1">
                <a:solidFill>
                  <a:srgbClr val="315EF4"/>
                </a:solidFill>
                <a:latin typeface="Segoe UI"/>
                <a:ea typeface="Segoe UI"/>
                <a:cs typeface="Segoe UI"/>
              </a:defRPr>
            </a:pPr>
            <a:r>
              <a:rPr sz="2250" b="1">
                <a:solidFill>
                  <a:srgbClr val="315EF4"/>
                </a:solidFill>
                <a:latin typeface="Segoe UI"/>
                <a:ea typeface="Segoe UI"/>
                <a:cs typeface="Segoe UI"/>
              </a:rPr>
              <a:t>Original TAC</a:t>
            </a:r>
          </a:p>
        </p:txBody>
      </p:sp>
      <p:sp>
        <p:nvSpPr>
          <p:cNvPr id="16" name="">
            <a:extLst xmlns:a="http://schemas.openxmlformats.org/drawingml/2006/main">
              <a:ext uri="{FF2B5EF4-FFF2-40B4-BE49-F238E27FC236}">
                <a16:creationId xmlns:a16="http://schemas.microsoft.com/office/drawing/2014/main" id="{8A9E492C-1AD9-4096-BCE8-17157A0B6E45}"/>
              </a:ext>
            </a:extLst>
          </p:cNvPr>
          <p:cNvSpPr>
            <a:spLocks xmlns:a="http://schemas.openxmlformats.org/drawingml/2006/main" noGrp="1"/>
          </p:cNvSpPr>
          <p:nvPr/>
        </p:nvSpPr>
        <p:spPr>
          <a:xfrm xmlns:a="http://schemas.openxmlformats.org/drawingml/2006/main">
            <a:off x="6153150" y="3124200"/>
            <a:ext cx="5048250" cy="1419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75" b="0">
                <a:solidFill>
                  <a:srgbClr val="18253E"/>
                </a:solidFill>
                <a:latin typeface="Segoe UI"/>
                <a:ea typeface="Segoe UI"/>
                <a:cs typeface="Segoe UI"/>
              </a:defRPr>
            </a:defPPr>
          </a:lstStyle>
          <a:p xmlns:a="http://schemas.openxmlformats.org/drawingml/2006/main">
            <a:pPr>
              <a:defRPr sz="2475" b="0">
                <a:solidFill>
                  <a:srgbClr val="18253E"/>
                </a:solidFill>
                <a:latin typeface="Segoe UI"/>
                <a:ea typeface="Segoe UI"/>
                <a:cs typeface="Segoe UI"/>
              </a:defRPr>
            </a:pPr>
            <a:r>
              <a:rPr sz="2475" b="0">
                <a:solidFill>
                  <a:srgbClr val="18253E"/>
                </a:solidFill>
                <a:latin typeface="Segoe UI"/>
                <a:ea typeface="Segoe UI"/>
                <a:cs typeface="Segoe UI"/>
              </a:rPr>
              <a:t>t1 = 3 * 4</a:t>
            </a:r>
          </a:p>
          <a:p xmlns:a="http://schemas.openxmlformats.org/drawingml/2006/main">
            <a:pPr>
              <a:defRPr sz="2475" b="0">
                <a:solidFill>
                  <a:srgbClr val="18253E"/>
                </a:solidFill>
                <a:latin typeface="Segoe UI"/>
                <a:ea typeface="Segoe UI"/>
                <a:cs typeface="Segoe UI"/>
              </a:defRPr>
            </a:pPr>
            <a:r>
              <a:rPr sz="2475" b="0">
                <a:solidFill>
                  <a:srgbClr val="18253E"/>
                </a:solidFill>
                <a:latin typeface="Segoe UI"/>
                <a:ea typeface="Segoe UI"/>
                <a:cs typeface="Segoe UI"/>
              </a:rPr>
              <a:t>t2 = 2 + t1</a:t>
            </a:r>
          </a:p>
          <a:p xmlns:a="http://schemas.openxmlformats.org/drawingml/2006/main">
            <a:pPr>
              <a:defRPr sz="2475" b="0">
                <a:solidFill>
                  <a:srgbClr val="18253E"/>
                </a:solidFill>
                <a:latin typeface="Segoe UI"/>
                <a:ea typeface="Segoe UI"/>
                <a:cs typeface="Segoe UI"/>
              </a:defRPr>
            </a:pPr>
            <a:r>
              <a:rPr sz="2475" b="0">
                <a:solidFill>
                  <a:srgbClr val="18253E"/>
                </a:solidFill>
                <a:latin typeface="Segoe UI"/>
                <a:ea typeface="Segoe UI"/>
                <a:cs typeface="Segoe UI"/>
              </a:rPr>
              <a:t>x = t2</a:t>
            </a:r>
          </a:p>
        </p:txBody>
      </p:sp>
      <p:sp>
        <p:nvSpPr>
          <p:cNvPr id="17" name="">
            <a:extLst xmlns:a="http://schemas.openxmlformats.org/drawingml/2006/main">
              <a:ext uri="{FF2B5EF4-FFF2-40B4-BE49-F238E27FC236}">
                <a16:creationId xmlns:a16="http://schemas.microsoft.com/office/drawing/2014/main" id="{31570826-0425-40E0-B11F-ECE50135B96E}"/>
              </a:ext>
            </a:extLst>
          </p:cNvPr>
          <p:cNvSpPr>
            <a:spLocks xmlns:a="http://schemas.openxmlformats.org/drawingml/2006/main" noGrp="1"/>
          </p:cNvSpPr>
          <p:nvPr/>
        </p:nvSpPr>
        <p:spPr>
          <a:xfrm xmlns:a="http://schemas.openxmlformats.org/drawingml/2006/main">
            <a:off x="9239250" y="2514600"/>
            <a:ext cx="2476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315EF4"/>
                </a:solidFill>
                <a:latin typeface="Segoe UI"/>
                <a:ea typeface="Segoe UI"/>
                <a:cs typeface="Segoe UI"/>
              </a:defRPr>
            </a:defPPr>
          </a:lstStyle>
          <a:p xmlns:a="http://schemas.openxmlformats.org/drawingml/2006/main">
            <a:pPr>
              <a:defRPr sz="2250" b="1">
                <a:solidFill>
                  <a:srgbClr val="315EF4"/>
                </a:solidFill>
                <a:latin typeface="Segoe UI"/>
                <a:ea typeface="Segoe UI"/>
                <a:cs typeface="Segoe UI"/>
              </a:defRPr>
            </a:pPr>
            <a:r>
              <a:rPr sz="2250" b="1">
                <a:solidFill>
                  <a:srgbClr val="315EF4"/>
                </a:solidFill>
                <a:latin typeface="Segoe UI"/>
                <a:ea typeface="Segoe UI"/>
                <a:cs typeface="Segoe UI"/>
              </a:rPr>
              <a:t>Optimized TAC</a:t>
            </a:r>
          </a:p>
        </p:txBody>
      </p:sp>
      <p:sp>
        <p:nvSpPr>
          <p:cNvPr id="18" name="">
            <a:extLst xmlns:a="http://schemas.openxmlformats.org/drawingml/2006/main">
              <a:ext uri="{FF2B5EF4-FFF2-40B4-BE49-F238E27FC236}">
                <a16:creationId xmlns:a16="http://schemas.microsoft.com/office/drawing/2014/main" id="{DE6729D1-C2AC-491A-A968-3DCEABECDF99}"/>
              </a:ext>
            </a:extLst>
          </p:cNvPr>
          <p:cNvSpPr>
            <a:spLocks xmlns:a="http://schemas.openxmlformats.org/drawingml/2006/main" noGrp="1"/>
          </p:cNvSpPr>
          <p:nvPr/>
        </p:nvSpPr>
        <p:spPr>
          <a:xfrm xmlns:a="http://schemas.openxmlformats.org/drawingml/2006/main">
            <a:off x="9239250" y="3124200"/>
            <a:ext cx="2333625" cy="1419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75" b="0">
                <a:solidFill>
                  <a:srgbClr val="18253E"/>
                </a:solidFill>
                <a:latin typeface="Segoe UI"/>
                <a:ea typeface="Segoe UI"/>
                <a:cs typeface="Segoe UI"/>
              </a:defRPr>
            </a:defPPr>
          </a:lstStyle>
          <a:p xmlns:a="http://schemas.openxmlformats.org/drawingml/2006/main">
            <a:pPr>
              <a:defRPr sz="2475" b="0">
                <a:solidFill>
                  <a:srgbClr val="18253E"/>
                </a:solidFill>
                <a:latin typeface="Segoe UI"/>
                <a:ea typeface="Segoe UI"/>
                <a:cs typeface="Segoe UI"/>
              </a:defRPr>
            </a:pPr>
            <a:r>
              <a:rPr sz="2475" b="0">
                <a:solidFill>
                  <a:srgbClr val="18253E"/>
                </a:solidFill>
                <a:latin typeface="Segoe UI"/>
                <a:ea typeface="Segoe UI"/>
                <a:cs typeface="Segoe UI"/>
              </a:rPr>
              <a:t>t1 = 12</a:t>
            </a:r>
          </a:p>
          <a:p xmlns:a="http://schemas.openxmlformats.org/drawingml/2006/main">
            <a:pPr>
              <a:defRPr sz="2475" b="0">
                <a:solidFill>
                  <a:srgbClr val="18253E"/>
                </a:solidFill>
                <a:latin typeface="Segoe UI"/>
                <a:ea typeface="Segoe UI"/>
                <a:cs typeface="Segoe UI"/>
              </a:defRPr>
            </a:pPr>
            <a:r>
              <a:rPr sz="2475" b="0">
                <a:solidFill>
                  <a:srgbClr val="18253E"/>
                </a:solidFill>
                <a:latin typeface="Segoe UI"/>
                <a:ea typeface="Segoe UI"/>
                <a:cs typeface="Segoe UI"/>
              </a:rPr>
              <a:t>t2 = 14</a:t>
            </a:r>
          </a:p>
          <a:p xmlns:a="http://schemas.openxmlformats.org/drawingml/2006/main">
            <a:pPr>
              <a:defRPr sz="2475" b="0">
                <a:solidFill>
                  <a:srgbClr val="18253E"/>
                </a:solidFill>
                <a:latin typeface="Segoe UI"/>
                <a:ea typeface="Segoe UI"/>
                <a:cs typeface="Segoe UI"/>
              </a:defRPr>
            </a:pPr>
            <a:r>
              <a:rPr sz="2475" b="0">
                <a:solidFill>
                  <a:srgbClr val="18253E"/>
                </a:solidFill>
                <a:latin typeface="Segoe UI"/>
                <a:ea typeface="Segoe UI"/>
                <a:cs typeface="Segoe UI"/>
              </a:rPr>
              <a:t>x = 14</a:t>
            </a:r>
          </a:p>
        </p:txBody>
      </p:sp>
      <p:sp>
        <p:nvSpPr>
          <p:cNvPr id="19" name="">
            <a:extLst xmlns:a="http://schemas.openxmlformats.org/drawingml/2006/main">
              <a:ext uri="{FF2B5EF4-FFF2-40B4-BE49-F238E27FC236}">
                <a16:creationId xmlns:a16="http://schemas.microsoft.com/office/drawing/2014/main" id="{68778796-8713-4A29-AE8C-CBE28BBB803F}"/>
              </a:ext>
            </a:extLst>
          </p:cNvPr>
          <p:cNvSpPr>
            <a:spLocks xmlns:a="http://schemas.openxmlformats.org/drawingml/2006/main" noGrp="1"/>
          </p:cNvSpPr>
          <p:nvPr/>
        </p:nvSpPr>
        <p:spPr>
          <a:xfrm xmlns:a="http://schemas.openxmlformats.org/drawingml/2006/main">
            <a:off x="6153150" y="4962525"/>
            <a:ext cx="54102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0">
                <a:solidFill>
                  <a:srgbClr val="59667C"/>
                </a:solidFill>
                <a:latin typeface="Segoe UI"/>
                <a:ea typeface="Segoe UI"/>
                <a:cs typeface="Segoe UI"/>
              </a:defRPr>
            </a:defPPr>
          </a:lstStyle>
          <a:p xmlns:a="http://schemas.openxmlformats.org/drawingml/2006/main">
            <a:pPr>
              <a:defRPr sz="1950" b="0">
                <a:solidFill>
                  <a:srgbClr val="59667C"/>
                </a:solidFill>
                <a:latin typeface="Segoe UI"/>
                <a:ea typeface="Segoe UI"/>
                <a:cs typeface="Segoe UI"/>
              </a:defRPr>
            </a:pPr>
            <a:r>
              <a:rPr sz="1950" b="0">
                <a:solidFill>
                  <a:srgbClr val="59667C"/>
                </a:solidFill>
                <a:latin typeface="Segoe UI"/>
                <a:ea typeface="Segoe UI"/>
                <a:cs typeface="Segoe UI"/>
              </a:rPr>
              <a:t>Constant folding evaluates arithmetic.</a:t>
            </a:r>
          </a:p>
          <a:p xmlns:a="http://schemas.openxmlformats.org/drawingml/2006/main">
            <a:pPr>
              <a:defRPr sz="1950" b="0">
                <a:solidFill>
                  <a:srgbClr val="59667C"/>
                </a:solidFill>
                <a:latin typeface="Segoe UI"/>
                <a:ea typeface="Segoe UI"/>
                <a:cs typeface="Segoe UI"/>
              </a:defRPr>
            </a:pPr>
            <a:r>
              <a:rPr sz="1950" b="0">
                <a:solidFill>
                  <a:srgbClr val="59667C"/>
                </a:solidFill>
                <a:latin typeface="Segoe UI"/>
                <a:ea typeface="Segoe UI"/>
                <a:cs typeface="Segoe UI"/>
              </a:rPr>
              <a:t>Constant propagation substitutes known values.</a:t>
            </a:r>
          </a:p>
        </p:txBody>
      </p:sp>
    </p:spTree>
    <p:extLst>
      <p:ext uri="{BB962C8B-B14F-4D97-AF65-F5344CB8AC3E}">
        <p14:creationId xmlns:p14="http://schemas.microsoft.com/office/powerpoint/2010/main" val="1293657171"/>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1" name="">
            <a:extLst xmlns:a="http://schemas.openxmlformats.org/drawingml/2006/main">
              <a:ext uri="{FF2B5EF4-FFF2-40B4-BE49-F238E27FC236}">
                <a16:creationId xmlns:a16="http://schemas.microsoft.com/office/drawing/2014/main" id="{38FB6A7F-8405-4316-82A3-FE3F852688A0}"/>
              </a:ext>
            </a:extLst>
          </p:cNvPr>
          <p:cNvCxnSpPr>
            <a:stCxn xmlns:a="http://schemas.openxmlformats.org/drawingml/2006/main" id="6" idx="3"/>
            <a:endCxn xmlns:a="http://schemas.openxmlformats.org/drawingml/2006/main" id="8" idx="3"/>
          </p:cNvCxnSpPr>
          <p:nvPr/>
        </p:nvCxnSpPr>
        <p:spPr>
          <a:xfrm xmlns:a="http://schemas.openxmlformats.org/drawingml/2006/main">
            <a:off x="10382250" y="2400300"/>
            <a:ext cx="1257300" cy="3524250"/>
          </a:xfrm>
          <a:prstGeom xmlns:a="http://schemas.openxmlformats.org/drawingml/2006/main" prst="bentConnector4">
            <a:avLst/>
          </a:prstGeom>
          <a:ln xmlns:a="http://schemas.openxmlformats.org/drawingml/2006/main" w="22860">
            <a:solidFill>
              <a:srgbClr val="315EF4"/>
            </a:solidFill>
            <a:tailEnd type="triangle" w="med" len="med"/>
          </a:ln>
        </p:spPr>
      </p:cxnSp>
      <p:cxnSp>
        <p:nvCxnSpPr>
          <p:cNvPr id="10" name="">
            <a:extLst xmlns:a="http://schemas.openxmlformats.org/drawingml/2006/main">
              <a:ext uri="{FF2B5EF4-FFF2-40B4-BE49-F238E27FC236}">
                <a16:creationId xmlns:a16="http://schemas.microsoft.com/office/drawing/2014/main" id="{44294916-B2A3-42EF-A9F1-14AF9DEF8917}"/>
              </a:ext>
            </a:extLst>
          </p:cNvPr>
          <p:cNvCxnSpPr>
            <a:stCxn xmlns:a="http://schemas.openxmlformats.org/drawingml/2006/main" id="7" idx="2"/>
            <a:endCxn xmlns:a="http://schemas.openxmlformats.org/drawingml/2006/main" id="8" idx="0"/>
          </p:cNvCxnSpPr>
          <p:nvPr/>
        </p:nvCxnSpPr>
        <p:spPr>
          <a:xfrm xmlns:a="http://schemas.openxmlformats.org/drawingml/2006/main">
            <a:off x="8477250" y="4953000"/>
            <a:ext cx="0" cy="666750"/>
          </a:xfrm>
          <a:prstGeom xmlns:a="http://schemas.openxmlformats.org/drawingml/2006/main" prst="straightConnector1">
            <a:avLst/>
          </a:prstGeom>
          <a:ln xmlns:a="http://schemas.openxmlformats.org/drawingml/2006/main" w="22860">
            <a:solidFill>
              <a:srgbClr val="315EF4"/>
            </a:solidFill>
            <a:tailEnd type="triangle" w="med" len="med"/>
          </a:ln>
        </p:spPr>
      </p:cxnSp>
      <p:cxnSp>
        <p:nvCxnSpPr>
          <p:cNvPr id="9" name="">
            <a:extLst xmlns:a="http://schemas.openxmlformats.org/drawingml/2006/main">
              <a:ext uri="{FF2B5EF4-FFF2-40B4-BE49-F238E27FC236}">
                <a16:creationId xmlns:a16="http://schemas.microsoft.com/office/drawing/2014/main" id="{C4A53AFB-FAFB-444B-B3C5-835AEDA884A8}"/>
              </a:ext>
            </a:extLst>
          </p:cNvPr>
          <p:cNvCxnSpPr>
            <a:stCxn xmlns:a="http://schemas.openxmlformats.org/drawingml/2006/main" id="6" idx="2"/>
            <a:endCxn xmlns:a="http://schemas.openxmlformats.org/drawingml/2006/main" id="7" idx="0"/>
          </p:cNvCxnSpPr>
          <p:nvPr/>
        </p:nvCxnSpPr>
        <p:spPr>
          <a:xfrm xmlns:a="http://schemas.openxmlformats.org/drawingml/2006/main">
            <a:off x="8477250" y="3152775"/>
            <a:ext cx="0" cy="704850"/>
          </a:xfrm>
          <a:prstGeom xmlns:a="http://schemas.openxmlformats.org/drawingml/2006/main" prst="straightConnector1">
            <a:avLst/>
          </a:prstGeom>
          <a:ln xmlns:a="http://schemas.openxmlformats.org/drawingml/2006/main" w="22860">
            <a:solidFill>
              <a:srgbClr val="315EF4"/>
            </a:solidFill>
            <a:tailEnd type="triangle" w="med" len="med"/>
          </a:ln>
        </p:spPr>
      </p:cxnSp>
      <p:sp>
        <p:nvSpPr>
          <p:cNvPr id="14" name="">
            <a:extLst xmlns:a="http://schemas.openxmlformats.org/drawingml/2006/main">
              <a:ext uri="{FF2B5EF4-FFF2-40B4-BE49-F238E27FC236}">
                <a16:creationId xmlns:a16="http://schemas.microsoft.com/office/drawing/2014/main" id="{2EE5CF7C-EF65-4025-8EAB-42CEFA3B8A7A}"/>
              </a:ext>
            </a:extLst>
          </p:cNvPr>
          <p:cNvSpPr>
            <a:spLocks xmlns:a="http://schemas.openxmlformats.org/drawingml/2006/main" noGrp="1"/>
          </p:cNvSpPr>
          <p:nvPr/>
        </p:nvSpPr>
        <p:spPr>
          <a:xfrm xmlns:a="http://schemas.openxmlformats.org/drawingml/2006/main">
            <a:off x="609600" y="4572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450" b="1">
                <a:solidFill>
                  <a:srgbClr val="18253E"/>
                </a:solidFill>
                <a:latin typeface="Segoe UI"/>
                <a:ea typeface="Segoe UI"/>
                <a:cs typeface="Segoe UI"/>
              </a:defRPr>
            </a:defPPr>
          </a:lstStyle>
          <a:p xmlns:a="http://schemas.openxmlformats.org/drawingml/2006/main">
            <a:pPr>
              <a:defRPr sz="3450" b="1">
                <a:solidFill>
                  <a:srgbClr val="18253E"/>
                </a:solidFill>
                <a:latin typeface="Segoe UI"/>
                <a:ea typeface="Segoe UI"/>
                <a:cs typeface="Segoe UI"/>
              </a:defRPr>
            </a:pPr>
            <a:r>
              <a:rPr sz="3450" b="1">
                <a:solidFill>
                  <a:srgbClr val="18253E"/>
                </a:solidFill>
                <a:latin typeface="Segoe UI"/>
                <a:ea typeface="Segoe UI"/>
                <a:cs typeface="Segoe UI"/>
              </a:rPr>
              <a:t>Basic blocks and control flow</a:t>
            </a:r>
          </a:p>
        </p:txBody>
      </p:sp>
      <p:sp>
        <p:nvSpPr>
          <p:cNvPr id="2" name="">
            <a:extLst xmlns:a="http://schemas.openxmlformats.org/drawingml/2006/main">
              <a:ext uri="{FF2B5EF4-FFF2-40B4-BE49-F238E27FC236}">
                <a16:creationId xmlns:a16="http://schemas.microsoft.com/office/drawing/2014/main" id="{228A2FF4-E325-471A-9FFC-D0B200D4E0F2}"/>
              </a:ext>
            </a:extLst>
          </p:cNvPr>
          <p:cNvSpPr>
            <a:spLocks xmlns:a="http://schemas.openxmlformats.org/drawingml/2006/main" noGrp="1"/>
          </p:cNvSpPr>
          <p:nvPr/>
        </p:nvSpPr>
        <p:spPr>
          <a:xfrm xmlns:a="http://schemas.openxmlformats.org/drawingml/2006/main">
            <a:off x="11049000" y="6391275"/>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59667C"/>
                </a:solidFill>
                <a:latin typeface="Segoe UI"/>
                <a:ea typeface="Segoe UI"/>
                <a:cs typeface="Segoe UI"/>
              </a:defRPr>
            </a:defPPr>
          </a:lstStyle>
          <a:p xmlns:a="http://schemas.openxmlformats.org/drawingml/2006/main">
            <a:pPr>
              <a:defRPr sz="1200" b="0">
                <a:solidFill>
                  <a:srgbClr val="59667C"/>
                </a:solidFill>
                <a:latin typeface="Segoe UI"/>
                <a:ea typeface="Segoe UI"/>
                <a:cs typeface="Segoe UI"/>
              </a:defRPr>
            </a:pPr>
            <a:r>
              <a:rPr sz="1200" b="0">
                <a:solidFill>
                  <a:srgbClr val="59667C"/>
                </a:solidFill>
                <a:latin typeface="Segoe UI"/>
                <a:ea typeface="Segoe UI"/>
                <a:cs typeface="Segoe UI"/>
              </a:rPr>
              <a:t>14</a:t>
            </a:r>
          </a:p>
        </p:txBody>
      </p:sp>
      <p:sp>
        <p:nvSpPr>
          <p:cNvPr id="3" name="">
            <a:extLst xmlns:a="http://schemas.openxmlformats.org/drawingml/2006/main">
              <a:ext uri="{FF2B5EF4-FFF2-40B4-BE49-F238E27FC236}">
                <a16:creationId xmlns:a16="http://schemas.microsoft.com/office/drawing/2014/main" id="{C70E6BBB-1C21-499C-9536-E7B7DAA531E7}"/>
              </a:ext>
            </a:extLst>
          </p:cNvPr>
          <p:cNvSpPr>
            <a:spLocks xmlns:a="http://schemas.openxmlformats.org/drawingml/2006/main" noGrp="1"/>
          </p:cNvSpPr>
          <p:nvPr/>
        </p:nvSpPr>
        <p:spPr>
          <a:xfrm xmlns:a="http://schemas.openxmlformats.org/drawingml/2006/main">
            <a:off x="609600" y="1752600"/>
            <a:ext cx="542925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75" b="1">
                <a:solidFill>
                  <a:srgbClr val="315EF4"/>
                </a:solidFill>
                <a:latin typeface="Segoe UI"/>
                <a:ea typeface="Segoe UI"/>
                <a:cs typeface="Segoe UI"/>
              </a:defRPr>
            </a:defPPr>
          </a:lstStyle>
          <a:p xmlns:a="http://schemas.openxmlformats.org/drawingml/2006/main">
            <a:pPr>
              <a:defRPr sz="2475" b="1">
                <a:solidFill>
                  <a:srgbClr val="315EF4"/>
                </a:solidFill>
                <a:latin typeface="Segoe UI"/>
                <a:ea typeface="Segoe UI"/>
                <a:cs typeface="Segoe UI"/>
              </a:defRPr>
            </a:pPr>
            <a:r>
              <a:rPr sz="2475" b="1">
                <a:solidFill>
                  <a:srgbClr val="315EF4"/>
                </a:solidFill>
                <a:latin typeface="Segoe UI"/>
                <a:ea typeface="Segoe UI"/>
                <a:cs typeface="Segoe UI"/>
              </a:rPr>
              <a:t>int x = 1;</a:t>
            </a:r>
          </a:p>
          <a:p xmlns:a="http://schemas.openxmlformats.org/drawingml/2006/main">
            <a:pPr>
              <a:defRPr sz="2475" b="1">
                <a:solidFill>
                  <a:srgbClr val="315EF4"/>
                </a:solidFill>
                <a:latin typeface="Segoe UI"/>
                <a:ea typeface="Segoe UI"/>
                <a:cs typeface="Segoe UI"/>
              </a:defRPr>
            </a:pPr>
            <a:r>
              <a:rPr sz="2475" b="1">
                <a:solidFill>
                  <a:srgbClr val="315EF4"/>
                </a:solidFill>
                <a:latin typeface="Segoe UI"/>
                <a:ea typeface="Segoe UI"/>
                <a:cs typeface="Segoe UI"/>
              </a:rPr>
              <a:t>if (x &lt; 3) { x = x + 1; }</a:t>
            </a:r>
          </a:p>
        </p:txBody>
      </p:sp>
      <p:sp>
        <p:nvSpPr>
          <p:cNvPr id="4" name="">
            <a:extLst xmlns:a="http://schemas.openxmlformats.org/drawingml/2006/main">
              <a:ext uri="{FF2B5EF4-FFF2-40B4-BE49-F238E27FC236}">
                <a16:creationId xmlns:a16="http://schemas.microsoft.com/office/drawing/2014/main" id="{53740566-DE26-4280-BD15-5E6AC3DB7683}"/>
              </a:ext>
            </a:extLst>
          </p:cNvPr>
          <p:cNvSpPr>
            <a:spLocks xmlns:a="http://schemas.openxmlformats.org/drawingml/2006/main" noGrp="1"/>
          </p:cNvSpPr>
          <p:nvPr/>
        </p:nvSpPr>
        <p:spPr>
          <a:xfrm xmlns:a="http://schemas.openxmlformats.org/drawingml/2006/main">
            <a:off x="609600" y="3495675"/>
            <a:ext cx="5057775"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59667C"/>
                </a:solidFill>
                <a:latin typeface="Segoe UI"/>
                <a:ea typeface="Segoe UI"/>
                <a:cs typeface="Segoe UI"/>
              </a:defRPr>
            </a:defPPr>
          </a:lstStyle>
          <a:p xmlns:a="http://schemas.openxmlformats.org/drawingml/2006/main">
            <a:pPr>
              <a:defRPr sz="2325" b="0">
                <a:solidFill>
                  <a:srgbClr val="59667C"/>
                </a:solidFill>
                <a:latin typeface="Segoe UI"/>
                <a:ea typeface="Segoe UI"/>
                <a:cs typeface="Segoe UI"/>
              </a:defRPr>
            </a:pPr>
            <a:r>
              <a:rPr sz="2325" b="0">
                <a:solidFill>
                  <a:srgbClr val="59667C"/>
                </a:solidFill>
                <a:latin typeface="Segoe UI"/>
                <a:ea typeface="Segoe UI"/>
                <a:cs typeface="Segoe UI"/>
              </a:rPr>
              <a:t>A basic block contains consecutive instructions with no internal branch.</a:t>
            </a:r>
          </a:p>
        </p:txBody>
      </p:sp>
      <p:sp>
        <p:nvSpPr>
          <p:cNvPr id="5" name="">
            <a:extLst xmlns:a="http://schemas.openxmlformats.org/drawingml/2006/main">
              <a:ext uri="{FF2B5EF4-FFF2-40B4-BE49-F238E27FC236}">
                <a16:creationId xmlns:a16="http://schemas.microsoft.com/office/drawing/2014/main" id="{9965E794-6DA5-42A4-B20A-BC54E10F615C}"/>
              </a:ext>
            </a:extLst>
          </p:cNvPr>
          <p:cNvSpPr>
            <a:spLocks xmlns:a="http://schemas.openxmlformats.org/drawingml/2006/main" noGrp="1"/>
          </p:cNvSpPr>
          <p:nvPr/>
        </p:nvSpPr>
        <p:spPr>
          <a:xfrm xmlns:a="http://schemas.openxmlformats.org/drawingml/2006/main">
            <a:off x="609600" y="5124450"/>
            <a:ext cx="505777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59667C"/>
                </a:solidFill>
                <a:latin typeface="Segoe UI"/>
                <a:ea typeface="Segoe UI"/>
                <a:cs typeface="Segoe UI"/>
              </a:defRPr>
            </a:defPPr>
          </a:lstStyle>
          <a:p xmlns:a="http://schemas.openxmlformats.org/drawingml/2006/main">
            <a:pPr>
              <a:defRPr sz="2025" b="0">
                <a:solidFill>
                  <a:srgbClr val="59667C"/>
                </a:solidFill>
                <a:latin typeface="Segoe UI"/>
                <a:ea typeface="Segoe UI"/>
                <a:cs typeface="Segoe UI"/>
              </a:defRPr>
            </a:pPr>
            <a:r>
              <a:rPr sz="2025" b="0">
                <a:solidFill>
                  <a:srgbClr val="59667C"/>
                </a:solidFill>
                <a:latin typeface="Segoe UI"/>
                <a:ea typeface="Segoe UI"/>
                <a:cs typeface="Segoe UI"/>
              </a:rPr>
              <a:t>Lexora identifies block leaders and records the successor relationships in the original TAC.</a:t>
            </a:r>
          </a:p>
        </p:txBody>
      </p:sp>
      <p:sp>
        <p:nvSpPr>
          <p:cNvPr id="6" name="">
            <a:extLst xmlns:a="http://schemas.openxmlformats.org/drawingml/2006/main">
              <a:ext uri="{FF2B5EF4-FFF2-40B4-BE49-F238E27FC236}">
                <a16:creationId xmlns:a16="http://schemas.microsoft.com/office/drawing/2014/main" id="{C3DFAD37-54CE-40D3-9EFB-AD568C344254}"/>
              </a:ext>
            </a:extLst>
          </p:cNvPr>
          <p:cNvSpPr>
            <a:spLocks xmlns:a="http://schemas.openxmlformats.org/drawingml/2006/main" noGrp="1"/>
          </p:cNvSpPr>
          <p:nvPr/>
        </p:nvSpPr>
        <p:spPr>
          <a:xfrm xmlns:a="http://schemas.openxmlformats.org/drawingml/2006/main">
            <a:off x="6572250" y="1647825"/>
            <a:ext cx="3810000" cy="1504950"/>
          </a:xfrm>
          <a:prstGeom xmlns:a="http://schemas.openxmlformats.org/drawingml/2006/main" prst="rect">
            <a:avLst/>
          </a:prstGeom>
          <a:solidFill xmlns:a="http://schemas.openxmlformats.org/drawingml/2006/main">
            <a:srgbClr val="315EF4"/>
          </a:solidFill>
          <a:ln xmlns:a="http://schemas.openxmlformats.org/drawingml/2006/main" w="12383">
            <a:solidFill>
              <a:srgbClr val="315EF4"/>
            </a:solidFill>
          </a:ln>
        </p:spPr>
        <p:txBody>
          <a:bodyPr xmlns:a="http://schemas.openxmlformats.org/drawingml/2006/main" anchor="ctr">
            <a:noAutofit/>
          </a:bodyPr>
          <a:lstStyle xmlns:a="http://schemas.openxmlformats.org/drawingml/2006/main">
            <a:defPPr algn="ctr">
              <a:defRPr sz="1950" b="1">
                <a:solidFill>
                  <a:srgbClr val="FFFFFF"/>
                </a:solidFill>
                <a:latin typeface="Segoe UI"/>
                <a:ea typeface="Segoe UI"/>
                <a:cs typeface="Segoe UI"/>
              </a:defRPr>
            </a:defPPr>
          </a:lstStyle>
          <a:p xmlns:a="http://schemas.openxmlformats.org/drawingml/2006/main">
            <a:pPr algn="ctr">
              <a:defRPr sz="1950" b="1">
                <a:solidFill>
                  <a:srgbClr val="FFFFFF"/>
                </a:solidFill>
                <a:latin typeface="Segoe UI"/>
                <a:ea typeface="Segoe UI"/>
                <a:cs typeface="Segoe UI"/>
              </a:defRPr>
            </a:pPr>
            <a:r>
              <a:rPr sz="1950" b="1">
                <a:solidFill>
                  <a:srgbClr val="FFFFFF"/>
                </a:solidFill>
                <a:latin typeface="Segoe UI"/>
                <a:ea typeface="Segoe UI"/>
                <a:cs typeface="Segoe UI"/>
              </a:rPr>
              <a:t>B1: Test condition</a:t>
            </a:r>
          </a:p>
          <a:p xmlns:a="http://schemas.openxmlformats.org/drawingml/2006/main">
            <a:pPr algn="ctr">
              <a:defRPr sz="1950" b="1">
                <a:solidFill>
                  <a:srgbClr val="FFFFFF"/>
                </a:solidFill>
                <a:latin typeface="Segoe UI"/>
                <a:ea typeface="Segoe UI"/>
                <a:cs typeface="Segoe UI"/>
              </a:defRPr>
            </a:pPr>
            <a:r>
              <a:rPr sz="1950" b="1">
                <a:solidFill>
                  <a:srgbClr val="FFFFFF"/>
                </a:solidFill>
                <a:latin typeface="Segoe UI"/>
                <a:ea typeface="Segoe UI"/>
                <a:cs typeface="Segoe UI"/>
              </a:rPr>
              <a:t>x = 1</a:t>
            </a:r>
          </a:p>
          <a:p xmlns:a="http://schemas.openxmlformats.org/drawingml/2006/main">
            <a:pPr algn="ctr">
              <a:defRPr sz="1950" b="1">
                <a:solidFill>
                  <a:srgbClr val="FFFFFF"/>
                </a:solidFill>
                <a:latin typeface="Segoe UI"/>
                <a:ea typeface="Segoe UI"/>
                <a:cs typeface="Segoe UI"/>
              </a:defRPr>
            </a:pPr>
            <a:r>
              <a:rPr sz="1950" b="1">
                <a:solidFill>
                  <a:srgbClr val="FFFFFF"/>
                </a:solidFill>
                <a:latin typeface="Segoe UI"/>
                <a:ea typeface="Segoe UI"/>
                <a:cs typeface="Segoe UI"/>
              </a:rPr>
              <a:t>t1 = x &lt; 3</a:t>
            </a:r>
          </a:p>
          <a:p xmlns:a="http://schemas.openxmlformats.org/drawingml/2006/main">
            <a:pPr algn="ctr">
              <a:defRPr sz="1950" b="1">
                <a:solidFill>
                  <a:srgbClr val="FFFFFF"/>
                </a:solidFill>
                <a:latin typeface="Segoe UI"/>
                <a:ea typeface="Segoe UI"/>
                <a:cs typeface="Segoe UI"/>
              </a:defRPr>
            </a:pPr>
            <a:r>
              <a:rPr sz="1950" b="1">
                <a:solidFill>
                  <a:srgbClr val="FFFFFF"/>
                </a:solidFill>
                <a:latin typeface="Segoe UI"/>
                <a:ea typeface="Segoe UI"/>
                <a:cs typeface="Segoe UI"/>
              </a:rPr>
              <a:t>ifFalse t1 goto L1</a:t>
            </a:r>
          </a:p>
        </p:txBody>
      </p:sp>
      <p:sp>
        <p:nvSpPr>
          <p:cNvPr id="7" name="">
            <a:extLst xmlns:a="http://schemas.openxmlformats.org/drawingml/2006/main">
              <a:ext uri="{FF2B5EF4-FFF2-40B4-BE49-F238E27FC236}">
                <a16:creationId xmlns:a16="http://schemas.microsoft.com/office/drawing/2014/main" id="{DBFC05FF-53CE-405F-89E4-90FC38B34CF7}"/>
              </a:ext>
            </a:extLst>
          </p:cNvPr>
          <p:cNvSpPr>
            <a:spLocks xmlns:a="http://schemas.openxmlformats.org/drawingml/2006/main" noGrp="1"/>
          </p:cNvSpPr>
          <p:nvPr/>
        </p:nvSpPr>
        <p:spPr>
          <a:xfrm xmlns:a="http://schemas.openxmlformats.org/drawingml/2006/main">
            <a:off x="6572250" y="3857625"/>
            <a:ext cx="3810000" cy="1095375"/>
          </a:xfrm>
          <a:prstGeom xmlns:a="http://schemas.openxmlformats.org/drawingml/2006/main" prst="rect">
            <a:avLst/>
          </a:prstGeom>
          <a:solidFill xmlns:a="http://schemas.openxmlformats.org/drawingml/2006/main">
            <a:srgbClr val="EDF1FF"/>
          </a:solidFill>
          <a:ln xmlns:a="http://schemas.openxmlformats.org/drawingml/2006/main" w="12383">
            <a:solidFill>
              <a:srgbClr val="315EF4"/>
            </a:solidFill>
          </a:ln>
        </p:spPr>
        <p:txBody>
          <a:bodyPr xmlns:a="http://schemas.openxmlformats.org/drawingml/2006/main" anchor="ctr">
            <a:noAutofit/>
          </a:bodyPr>
          <a:lstStyle xmlns:a="http://schemas.openxmlformats.org/drawingml/2006/main">
            <a:defPPr algn="ctr">
              <a:defRPr sz="1950" b="1">
                <a:solidFill>
                  <a:srgbClr val="18253E"/>
                </a:solidFill>
                <a:latin typeface="Segoe UI"/>
                <a:ea typeface="Segoe UI"/>
                <a:cs typeface="Segoe UI"/>
              </a:defRPr>
            </a:defPPr>
          </a:lstStyle>
          <a:p xmlns:a="http://schemas.openxmlformats.org/drawingml/2006/main">
            <a:pPr algn="ctr">
              <a:defRPr sz="1950" b="1">
                <a:solidFill>
                  <a:srgbClr val="18253E"/>
                </a:solidFill>
                <a:latin typeface="Segoe UI"/>
                <a:ea typeface="Segoe UI"/>
                <a:cs typeface="Segoe UI"/>
              </a:defRPr>
            </a:pPr>
            <a:r>
              <a:rPr sz="1950" b="1">
                <a:solidFill>
                  <a:srgbClr val="18253E"/>
                </a:solidFill>
                <a:latin typeface="Segoe UI"/>
                <a:ea typeface="Segoe UI"/>
                <a:cs typeface="Segoe UI"/>
              </a:rPr>
              <a:t>B2: Execute body</a:t>
            </a:r>
          </a:p>
          <a:p xmlns:a="http://schemas.openxmlformats.org/drawingml/2006/main">
            <a:pPr algn="ctr">
              <a:defRPr sz="1950" b="1">
                <a:solidFill>
                  <a:srgbClr val="18253E"/>
                </a:solidFill>
                <a:latin typeface="Segoe UI"/>
                <a:ea typeface="Segoe UI"/>
                <a:cs typeface="Segoe UI"/>
              </a:defRPr>
            </a:pPr>
            <a:r>
              <a:rPr sz="1950" b="1">
                <a:solidFill>
                  <a:srgbClr val="18253E"/>
                </a:solidFill>
                <a:latin typeface="Segoe UI"/>
                <a:ea typeface="Segoe UI"/>
                <a:cs typeface="Segoe UI"/>
              </a:rPr>
              <a:t>t2 = x + 1</a:t>
            </a:r>
          </a:p>
          <a:p xmlns:a="http://schemas.openxmlformats.org/drawingml/2006/main">
            <a:pPr algn="ctr">
              <a:defRPr sz="1950" b="1">
                <a:solidFill>
                  <a:srgbClr val="18253E"/>
                </a:solidFill>
                <a:latin typeface="Segoe UI"/>
                <a:ea typeface="Segoe UI"/>
                <a:cs typeface="Segoe UI"/>
              </a:defRPr>
            </a:pPr>
            <a:r>
              <a:rPr sz="1950" b="1">
                <a:solidFill>
                  <a:srgbClr val="18253E"/>
                </a:solidFill>
                <a:latin typeface="Segoe UI"/>
                <a:ea typeface="Segoe UI"/>
                <a:cs typeface="Segoe UI"/>
              </a:rPr>
              <a:t>x = t2</a:t>
            </a:r>
          </a:p>
        </p:txBody>
      </p:sp>
      <p:sp>
        <p:nvSpPr>
          <p:cNvPr id="8" name="">
            <a:extLst xmlns:a="http://schemas.openxmlformats.org/drawingml/2006/main">
              <a:ext uri="{FF2B5EF4-FFF2-40B4-BE49-F238E27FC236}">
                <a16:creationId xmlns:a16="http://schemas.microsoft.com/office/drawing/2014/main" id="{C408AF3E-CD36-4BC1-A04A-F6B7E9BFCC8C}"/>
              </a:ext>
            </a:extLst>
          </p:cNvPr>
          <p:cNvSpPr>
            <a:spLocks xmlns:a="http://schemas.openxmlformats.org/drawingml/2006/main" noGrp="1"/>
          </p:cNvSpPr>
          <p:nvPr/>
        </p:nvSpPr>
        <p:spPr>
          <a:xfrm xmlns:a="http://schemas.openxmlformats.org/drawingml/2006/main">
            <a:off x="6572250" y="5619750"/>
            <a:ext cx="3810000" cy="609600"/>
          </a:xfrm>
          <a:prstGeom xmlns:a="http://schemas.openxmlformats.org/drawingml/2006/main" prst="rect">
            <a:avLst/>
          </a:prstGeom>
          <a:solidFill xmlns:a="http://schemas.openxmlformats.org/drawingml/2006/main">
            <a:srgbClr val="FFFFFF"/>
          </a:solidFill>
          <a:ln xmlns:a="http://schemas.openxmlformats.org/drawingml/2006/main" w="12383">
            <a:solidFill>
              <a:srgbClr val="DAE1EF"/>
            </a:solidFill>
          </a:ln>
        </p:spPr>
        <p:txBody>
          <a:bodyPr xmlns:a="http://schemas.openxmlformats.org/drawingml/2006/main" anchor="ctr">
            <a:noAutofit/>
          </a:bodyPr>
          <a:lstStyle xmlns:a="http://schemas.openxmlformats.org/drawingml/2006/main">
            <a:defPPr algn="ctr">
              <a:defRPr sz="1725" b="1">
                <a:solidFill>
                  <a:srgbClr val="18253E"/>
                </a:solidFill>
                <a:latin typeface="Segoe UI"/>
                <a:ea typeface="Segoe UI"/>
                <a:cs typeface="Segoe UI"/>
              </a:defRPr>
            </a:defPPr>
          </a:lstStyle>
          <a:p xmlns:a="http://schemas.openxmlformats.org/drawingml/2006/main">
            <a:pPr algn="ctr">
              <a:defRPr sz="1725" b="1">
                <a:solidFill>
                  <a:srgbClr val="18253E"/>
                </a:solidFill>
                <a:latin typeface="Segoe UI"/>
                <a:ea typeface="Segoe UI"/>
                <a:cs typeface="Segoe UI"/>
              </a:defRPr>
            </a:pPr>
            <a:r>
              <a:rPr sz="1725" b="1">
                <a:solidFill>
                  <a:srgbClr val="18253E"/>
                </a:solidFill>
                <a:latin typeface="Segoe UI"/>
                <a:ea typeface="Segoe UI"/>
                <a:cs typeface="Segoe UI"/>
              </a:rPr>
              <a:t>B3: Continue</a:t>
            </a:r>
          </a:p>
          <a:p xmlns:a="http://schemas.openxmlformats.org/drawingml/2006/main">
            <a:pPr algn="ctr">
              <a:defRPr sz="1725" b="1">
                <a:solidFill>
                  <a:srgbClr val="18253E"/>
                </a:solidFill>
                <a:latin typeface="Segoe UI"/>
                <a:ea typeface="Segoe UI"/>
                <a:cs typeface="Segoe UI"/>
              </a:defRPr>
            </a:pPr>
            <a:r>
              <a:rPr sz="1725" b="1">
                <a:solidFill>
                  <a:srgbClr val="18253E"/>
                </a:solidFill>
                <a:latin typeface="Segoe UI"/>
                <a:ea typeface="Segoe UI"/>
                <a:cs typeface="Segoe UI"/>
              </a:rPr>
              <a:t>L1:</a:t>
            </a:r>
          </a:p>
        </p:txBody>
      </p:sp>
      <p:sp>
        <p:nvSpPr>
          <p:cNvPr id="12" name="">
            <a:extLst xmlns:a="http://schemas.openxmlformats.org/drawingml/2006/main">
              <a:ext uri="{FF2B5EF4-FFF2-40B4-BE49-F238E27FC236}">
                <a16:creationId xmlns:a16="http://schemas.microsoft.com/office/drawing/2014/main" id="{6CA56ED4-857C-4C1D-9943-C3D4334CBA92}"/>
              </a:ext>
            </a:extLst>
          </p:cNvPr>
          <p:cNvSpPr>
            <a:spLocks xmlns:a="http://schemas.openxmlformats.org/drawingml/2006/main" noGrp="1"/>
          </p:cNvSpPr>
          <p:nvPr/>
        </p:nvSpPr>
        <p:spPr>
          <a:xfrm xmlns:a="http://schemas.openxmlformats.org/drawingml/2006/main">
            <a:off x="6667500" y="3314700"/>
            <a:ext cx="1047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1">
                <a:solidFill>
                  <a:srgbClr val="315EF4"/>
                </a:solidFill>
                <a:latin typeface="Segoe UI"/>
                <a:ea typeface="Segoe UI"/>
                <a:cs typeface="Segoe UI"/>
              </a:defRPr>
            </a:defPPr>
          </a:lstStyle>
          <a:p xmlns:a="http://schemas.openxmlformats.org/drawingml/2006/main">
            <a:pPr>
              <a:defRPr sz="1650" b="1">
                <a:solidFill>
                  <a:srgbClr val="315EF4"/>
                </a:solidFill>
                <a:latin typeface="Segoe UI"/>
                <a:ea typeface="Segoe UI"/>
                <a:cs typeface="Segoe UI"/>
              </a:defRPr>
            </a:pPr>
            <a:r>
              <a:rPr sz="1650" b="1">
                <a:solidFill>
                  <a:srgbClr val="315EF4"/>
                </a:solidFill>
                <a:latin typeface="Segoe UI"/>
                <a:ea typeface="Segoe UI"/>
                <a:cs typeface="Segoe UI"/>
              </a:rPr>
              <a:t>True</a:t>
            </a:r>
          </a:p>
        </p:txBody>
      </p:sp>
      <p:sp>
        <p:nvSpPr>
          <p:cNvPr id="13" name="">
            <a:extLst xmlns:a="http://schemas.openxmlformats.org/drawingml/2006/main">
              <a:ext uri="{FF2B5EF4-FFF2-40B4-BE49-F238E27FC236}">
                <a16:creationId xmlns:a16="http://schemas.microsoft.com/office/drawing/2014/main" id="{B275BE93-1EF5-4612-8514-8438744E3ABB}"/>
              </a:ext>
            </a:extLst>
          </p:cNvPr>
          <p:cNvSpPr>
            <a:spLocks xmlns:a="http://schemas.openxmlformats.org/drawingml/2006/main" noGrp="1"/>
          </p:cNvSpPr>
          <p:nvPr/>
        </p:nvSpPr>
        <p:spPr>
          <a:xfrm xmlns:a="http://schemas.openxmlformats.org/drawingml/2006/main">
            <a:off x="10572750" y="3943350"/>
            <a:ext cx="95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1">
                <a:solidFill>
                  <a:srgbClr val="315EF4"/>
                </a:solidFill>
                <a:latin typeface="Segoe UI"/>
                <a:ea typeface="Segoe UI"/>
                <a:cs typeface="Segoe UI"/>
              </a:defRPr>
            </a:defPPr>
          </a:lstStyle>
          <a:p xmlns:a="http://schemas.openxmlformats.org/drawingml/2006/main">
            <a:pPr>
              <a:defRPr sz="1650" b="1">
                <a:solidFill>
                  <a:srgbClr val="315EF4"/>
                </a:solidFill>
                <a:latin typeface="Segoe UI"/>
                <a:ea typeface="Segoe UI"/>
                <a:cs typeface="Segoe UI"/>
              </a:defRPr>
            </a:pPr>
            <a:r>
              <a:rPr sz="1650" b="1">
                <a:solidFill>
                  <a:srgbClr val="315EF4"/>
                </a:solidFill>
                <a:latin typeface="Segoe UI"/>
                <a:ea typeface="Segoe UI"/>
                <a:cs typeface="Segoe UI"/>
              </a:rPr>
              <a:t>False</a:t>
            </a:r>
          </a:p>
        </p:txBody>
      </p:sp>
    </p:spTree>
    <p:extLst>
      <p:ext uri="{BB962C8B-B14F-4D97-AF65-F5344CB8AC3E}">
        <p14:creationId xmlns:p14="http://schemas.microsoft.com/office/powerpoint/2010/main" val="209336338"/>
      </p:ext>
    </p:extLst>
  </p:cSld>
</p:sld>
</file>

<file path=ppt/slides/slide15.xml><?xml version="1.0" encoding="utf-8"?>
<p:sld xmlns:p="http://schemas.openxmlformats.org/presentationml/2006/main">
  <p:cSld>
    <p:bg>
      <p:bgPr>
        <a:solidFill xmlns:a="http://schemas.openxmlformats.org/drawingml/2006/main">
          <a:srgbClr val="111B31"/>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5AB60BC-03C2-4B51-9B5D-F0ED91436CB3}"/>
              </a:ext>
            </a:extLst>
          </p:cNvPr>
          <p:cNvSpPr>
            <a:spLocks xmlns:a="http://schemas.openxmlformats.org/drawingml/2006/main" noGrp="1"/>
          </p:cNvSpPr>
          <p:nvPr/>
        </p:nvSpPr>
        <p:spPr>
          <a:xfrm xmlns:a="http://schemas.openxmlformats.org/drawingml/2006/main">
            <a:off x="609600" y="4572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450" b="1">
                <a:solidFill>
                  <a:srgbClr val="FFFFFF"/>
                </a:solidFill>
                <a:latin typeface="Segoe UI"/>
                <a:ea typeface="Segoe UI"/>
                <a:cs typeface="Segoe UI"/>
              </a:defRPr>
            </a:defPPr>
          </a:lstStyle>
          <a:p xmlns:a="http://schemas.openxmlformats.org/drawingml/2006/main">
            <a:pPr>
              <a:defRPr sz="3450" b="1">
                <a:solidFill>
                  <a:srgbClr val="FFFFFF"/>
                </a:solidFill>
                <a:latin typeface="Segoe UI"/>
                <a:ea typeface="Segoe UI"/>
                <a:cs typeface="Segoe UI"/>
              </a:defRPr>
            </a:pPr>
            <a:r>
              <a:rPr sz="3450" b="1">
                <a:solidFill>
                  <a:srgbClr val="FFFFFF"/>
                </a:solidFill>
                <a:latin typeface="Segoe UI"/>
                <a:ea typeface="Segoe UI"/>
                <a:cs typeface="Segoe UI"/>
              </a:rPr>
              <a:t>Demonstration: the calculator</a:t>
            </a:r>
          </a:p>
        </p:txBody>
      </p:sp>
      <p:sp>
        <p:nvSpPr>
          <p:cNvPr id="2" name="">
            <a:extLst xmlns:a="http://schemas.openxmlformats.org/drawingml/2006/main">
              <a:ext uri="{FF2B5EF4-FFF2-40B4-BE49-F238E27FC236}">
                <a16:creationId xmlns:a16="http://schemas.microsoft.com/office/drawing/2014/main" id="{329DA242-1802-42BA-A1E9-461F730DB302}"/>
              </a:ext>
            </a:extLst>
          </p:cNvPr>
          <p:cNvSpPr>
            <a:spLocks xmlns:a="http://schemas.openxmlformats.org/drawingml/2006/main" noGrp="1"/>
          </p:cNvSpPr>
          <p:nvPr/>
        </p:nvSpPr>
        <p:spPr>
          <a:xfrm xmlns:a="http://schemas.openxmlformats.org/drawingml/2006/main">
            <a:off x="11049000" y="6391275"/>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BCC9E4"/>
                </a:solidFill>
                <a:latin typeface="Segoe UI"/>
                <a:ea typeface="Segoe UI"/>
                <a:cs typeface="Segoe UI"/>
              </a:defRPr>
            </a:defPPr>
          </a:lstStyle>
          <a:p xmlns:a="http://schemas.openxmlformats.org/drawingml/2006/main">
            <a:pPr>
              <a:defRPr sz="1200" b="0">
                <a:solidFill>
                  <a:srgbClr val="BCC9E4"/>
                </a:solidFill>
                <a:latin typeface="Segoe UI"/>
                <a:ea typeface="Segoe UI"/>
                <a:cs typeface="Segoe UI"/>
              </a:defRPr>
            </a:pPr>
            <a:r>
              <a:rPr sz="1200" b="0">
                <a:solidFill>
                  <a:srgbClr val="BCC9E4"/>
                </a:solidFill>
                <a:latin typeface="Segoe UI"/>
                <a:ea typeface="Segoe UI"/>
                <a:cs typeface="Segoe UI"/>
              </a:rPr>
              <a:t>15</a:t>
            </a:r>
          </a:p>
        </p:txBody>
      </p:sp>
      <p:sp>
        <p:nvSpPr>
          <p:cNvPr id="3" name="">
            <a:extLst xmlns:a="http://schemas.openxmlformats.org/drawingml/2006/main">
              <a:ext uri="{FF2B5EF4-FFF2-40B4-BE49-F238E27FC236}">
                <a16:creationId xmlns:a16="http://schemas.microsoft.com/office/drawing/2014/main" id="{A2CD56C5-2E41-48DF-98BC-BA6B874B06BE}"/>
              </a:ext>
            </a:extLst>
          </p:cNvPr>
          <p:cNvSpPr>
            <a:spLocks xmlns:a="http://schemas.openxmlformats.org/drawingml/2006/main" noGrp="1"/>
          </p:cNvSpPr>
          <p:nvPr/>
        </p:nvSpPr>
        <p:spPr>
          <a:xfrm xmlns:a="http://schemas.openxmlformats.org/drawingml/2006/main">
            <a:off x="609600" y="1752600"/>
            <a:ext cx="571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1">
                <a:solidFill>
                  <a:srgbClr val="9EE7CE"/>
                </a:solidFill>
                <a:latin typeface="Segoe UI"/>
                <a:ea typeface="Segoe UI"/>
                <a:cs typeface="Segoe UI"/>
              </a:defRPr>
            </a:defPPr>
          </a:lstStyle>
          <a:p xmlns:a="http://schemas.openxmlformats.org/drawingml/2006/main">
            <a:pPr>
              <a:defRPr sz="2325" b="1">
                <a:solidFill>
                  <a:srgbClr val="9EE7CE"/>
                </a:solidFill>
                <a:latin typeface="Segoe UI"/>
                <a:ea typeface="Segoe UI"/>
                <a:cs typeface="Segoe UI"/>
              </a:defRPr>
            </a:pPr>
            <a:r>
              <a:rPr sz="2325" b="1">
                <a:solidFill>
                  <a:srgbClr val="9EE7CE"/>
                </a:solidFill>
                <a:latin typeface="Segoe UI"/>
                <a:ea typeface="Segoe UI"/>
                <a:cs typeface="Segoe UI"/>
              </a:rPr>
              <a:t>Program input</a:t>
            </a:r>
          </a:p>
        </p:txBody>
      </p:sp>
      <p:sp>
        <p:nvSpPr>
          <p:cNvPr id="4" name="">
            <a:extLst xmlns:a="http://schemas.openxmlformats.org/drawingml/2006/main">
              <a:ext uri="{FF2B5EF4-FFF2-40B4-BE49-F238E27FC236}">
                <a16:creationId xmlns:a16="http://schemas.microsoft.com/office/drawing/2014/main" id="{39D2A638-E2B6-4506-A867-C256DE6F471B}"/>
              </a:ext>
            </a:extLst>
          </p:cNvPr>
          <p:cNvSpPr>
            <a:spLocks xmlns:a="http://schemas.openxmlformats.org/drawingml/2006/main" noGrp="1"/>
          </p:cNvSpPr>
          <p:nvPr/>
        </p:nvSpPr>
        <p:spPr>
          <a:xfrm xmlns:a="http://schemas.openxmlformats.org/drawingml/2006/main">
            <a:off x="609600" y="2571750"/>
            <a:ext cx="64770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5025" b="0">
                <a:solidFill>
                  <a:srgbClr val="FFFFFF"/>
                </a:solidFill>
                <a:latin typeface="Segoe UI"/>
                <a:ea typeface="Segoe UI"/>
                <a:cs typeface="Segoe UI"/>
              </a:defRPr>
            </a:defPPr>
          </a:lstStyle>
          <a:p xmlns:a="http://schemas.openxmlformats.org/drawingml/2006/main">
            <a:pPr>
              <a:defRPr sz="5025" b="0">
                <a:solidFill>
                  <a:srgbClr val="FFFFFF"/>
                </a:solidFill>
                <a:latin typeface="Segoe UI"/>
                <a:ea typeface="Segoe UI"/>
                <a:cs typeface="Segoe UI"/>
              </a:defRPr>
            </a:pPr>
            <a:r>
              <a:rPr sz="5025" b="0">
                <a:solidFill>
                  <a:srgbClr val="FFFFFF"/>
                </a:solidFill>
                <a:latin typeface="Segoe UI"/>
                <a:ea typeface="Segoe UI"/>
                <a:cs typeface="Segoe UI"/>
              </a:rPr>
              <a:t>3 + 5 * 2</a:t>
            </a:r>
          </a:p>
        </p:txBody>
      </p:sp>
      <p:sp>
        <p:nvSpPr>
          <p:cNvPr id="5" name="">
            <a:extLst xmlns:a="http://schemas.openxmlformats.org/drawingml/2006/main">
              <a:ext uri="{FF2B5EF4-FFF2-40B4-BE49-F238E27FC236}">
                <a16:creationId xmlns:a16="http://schemas.microsoft.com/office/drawing/2014/main" id="{30D5DCE8-2643-4374-AF1C-3A84D0EF4F97}"/>
              </a:ext>
            </a:extLst>
          </p:cNvPr>
          <p:cNvSpPr>
            <a:spLocks xmlns:a="http://schemas.openxmlformats.org/drawingml/2006/main" noGrp="1"/>
          </p:cNvSpPr>
          <p:nvPr/>
        </p:nvSpPr>
        <p:spPr>
          <a:xfrm xmlns:a="http://schemas.openxmlformats.org/drawingml/2006/main">
            <a:off x="8858250" y="1752600"/>
            <a:ext cx="266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1">
                <a:solidFill>
                  <a:srgbClr val="9EE7CE"/>
                </a:solidFill>
                <a:latin typeface="Segoe UI"/>
                <a:ea typeface="Segoe UI"/>
                <a:cs typeface="Segoe UI"/>
              </a:defRPr>
            </a:defPPr>
          </a:lstStyle>
          <a:p xmlns:a="http://schemas.openxmlformats.org/drawingml/2006/main">
            <a:pPr>
              <a:defRPr sz="2325" b="1">
                <a:solidFill>
                  <a:srgbClr val="9EE7CE"/>
                </a:solidFill>
                <a:latin typeface="Segoe UI"/>
                <a:ea typeface="Segoe UI"/>
                <a:cs typeface="Segoe UI"/>
              </a:defRPr>
            </a:pPr>
            <a:r>
              <a:rPr sz="2325" b="1">
                <a:solidFill>
                  <a:srgbClr val="9EE7CE"/>
                </a:solidFill>
                <a:latin typeface="Segoe UI"/>
                <a:ea typeface="Segoe UI"/>
                <a:cs typeface="Segoe UI"/>
              </a:rPr>
              <a:t>Native output</a:t>
            </a:r>
          </a:p>
        </p:txBody>
      </p:sp>
      <p:sp>
        <p:nvSpPr>
          <p:cNvPr id="6" name="">
            <a:extLst xmlns:a="http://schemas.openxmlformats.org/drawingml/2006/main">
              <a:ext uri="{FF2B5EF4-FFF2-40B4-BE49-F238E27FC236}">
                <a16:creationId xmlns:a16="http://schemas.microsoft.com/office/drawing/2014/main" id="{358C1D1F-04AB-4D7C-9846-8DDA54D82BB7}"/>
              </a:ext>
            </a:extLst>
          </p:cNvPr>
          <p:cNvSpPr>
            <a:spLocks xmlns:a="http://schemas.openxmlformats.org/drawingml/2006/main" noGrp="1"/>
          </p:cNvSpPr>
          <p:nvPr/>
        </p:nvSpPr>
        <p:spPr>
          <a:xfrm xmlns:a="http://schemas.openxmlformats.org/drawingml/2006/main">
            <a:off x="8801100" y="2390775"/>
            <a:ext cx="2667000" cy="1628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375" b="1">
                <a:solidFill>
                  <a:srgbClr val="9EE7CE"/>
                </a:solidFill>
                <a:latin typeface="Segoe UI"/>
                <a:ea typeface="Segoe UI"/>
                <a:cs typeface="Segoe UI"/>
              </a:defRPr>
            </a:defPPr>
          </a:lstStyle>
          <a:p xmlns:a="http://schemas.openxmlformats.org/drawingml/2006/main">
            <a:pPr>
              <a:defRPr sz="9375" b="1">
                <a:solidFill>
                  <a:srgbClr val="9EE7CE"/>
                </a:solidFill>
                <a:latin typeface="Segoe UI"/>
                <a:ea typeface="Segoe UI"/>
                <a:cs typeface="Segoe UI"/>
              </a:defRPr>
            </a:pPr>
            <a:r>
              <a:rPr sz="9375" b="1">
                <a:solidFill>
                  <a:srgbClr val="9EE7CE"/>
                </a:solidFill>
                <a:latin typeface="Segoe UI"/>
                <a:ea typeface="Segoe UI"/>
                <a:cs typeface="Segoe UI"/>
              </a:rPr>
              <a:t>13</a:t>
            </a:r>
          </a:p>
        </p:txBody>
      </p:sp>
      <p:sp>
        <p:nvSpPr>
          <p:cNvPr id="7" name="">
            <a:extLst xmlns:a="http://schemas.openxmlformats.org/drawingml/2006/main">
              <a:ext uri="{FF2B5EF4-FFF2-40B4-BE49-F238E27FC236}">
                <a16:creationId xmlns:a16="http://schemas.microsoft.com/office/drawing/2014/main" id="{D0A8CF2C-C30F-479D-A107-62EF7B8D28BD}"/>
              </a:ext>
            </a:extLst>
          </p:cNvPr>
          <p:cNvSpPr>
            <a:spLocks xmlns:a="http://schemas.openxmlformats.org/drawingml/2006/main" noGrp="1"/>
          </p:cNvSpPr>
          <p:nvPr/>
        </p:nvSpPr>
        <p:spPr>
          <a:xfrm xmlns:a="http://schemas.openxmlformats.org/drawingml/2006/main">
            <a:off x="609600" y="4295775"/>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625" b="0">
                <a:solidFill>
                  <a:srgbClr val="FFFFFF"/>
                </a:solidFill>
                <a:latin typeface="Segoe UI"/>
                <a:ea typeface="Segoe UI"/>
                <a:cs typeface="Segoe UI"/>
              </a:defRPr>
            </a:defPPr>
          </a:lstStyle>
          <a:p xmlns:a="http://schemas.openxmlformats.org/drawingml/2006/main">
            <a:pPr>
              <a:defRPr sz="2625" b="0">
                <a:solidFill>
                  <a:srgbClr val="FFFFFF"/>
                </a:solidFill>
                <a:latin typeface="Segoe UI"/>
                <a:ea typeface="Segoe UI"/>
                <a:cs typeface="Segoe UI"/>
              </a:defRPr>
            </a:pPr>
            <a:r>
              <a:rPr sz="2625" b="0">
                <a:solidFill>
                  <a:srgbClr val="FFFFFF"/>
                </a:solidFill>
                <a:latin typeface="Segoe UI"/>
                <a:ea typeface="Segoe UI"/>
                <a:cs typeface="Segoe UI"/>
              </a:rPr>
              <a:t>Flex generates the scanner, Bison generates the parser, and GCC builds the program that prints the result.</a:t>
            </a:r>
          </a:p>
        </p:txBody>
      </p:sp>
      <p:sp>
        <p:nvSpPr>
          <p:cNvPr id="8" name="">
            <a:extLst xmlns:a="http://schemas.openxmlformats.org/drawingml/2006/main">
              <a:ext uri="{FF2B5EF4-FFF2-40B4-BE49-F238E27FC236}">
                <a16:creationId xmlns:a16="http://schemas.microsoft.com/office/drawing/2014/main" id="{564252C0-250B-4D80-9748-957F5318C195}"/>
              </a:ext>
            </a:extLst>
          </p:cNvPr>
          <p:cNvSpPr>
            <a:spLocks xmlns:a="http://schemas.openxmlformats.org/drawingml/2006/main" noGrp="1"/>
          </p:cNvSpPr>
          <p:nvPr/>
        </p:nvSpPr>
        <p:spPr>
          <a:xfrm xmlns:a="http://schemas.openxmlformats.org/drawingml/2006/main">
            <a:off x="609600" y="5857875"/>
            <a:ext cx="10972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BCC9E4"/>
                </a:solidFill>
                <a:latin typeface="Segoe UI"/>
                <a:ea typeface="Segoe UI"/>
                <a:cs typeface="Segoe UI"/>
              </a:defRPr>
            </a:defPPr>
          </a:lstStyle>
          <a:p xmlns:a="http://schemas.openxmlformats.org/drawingml/2006/main">
            <a:pPr>
              <a:defRPr sz="1875" b="0">
                <a:solidFill>
                  <a:srgbClr val="BCC9E4"/>
                </a:solidFill>
                <a:latin typeface="Segoe UI"/>
                <a:ea typeface="Segoe UI"/>
                <a:cs typeface="Segoe UI"/>
              </a:defRPr>
            </a:pPr>
            <a:r>
              <a:rPr sz="1875" b="0">
                <a:solidFill>
                  <a:srgbClr val="BCC9E4"/>
                </a:solidFill>
                <a:latin typeface="Segoe UI"/>
                <a:ea typeface="Segoe UI"/>
                <a:cs typeface="Segoe UI"/>
              </a:rPr>
              <a:t>The bundled calculator expects a newline after each expression.</a:t>
            </a:r>
          </a:p>
        </p:txBody>
      </p:sp>
    </p:spTree>
    <p:extLst>
      <p:ext uri="{BB962C8B-B14F-4D97-AF65-F5344CB8AC3E}">
        <p14:creationId xmlns:p14="http://schemas.microsoft.com/office/powerpoint/2010/main" val="1540182836"/>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72B5A61-EF57-48D9-ABF9-83F3B713C61B}"/>
              </a:ext>
            </a:extLst>
          </p:cNvPr>
          <p:cNvSpPr>
            <a:spLocks xmlns:a="http://schemas.openxmlformats.org/drawingml/2006/main" noGrp="1"/>
          </p:cNvSpPr>
          <p:nvPr/>
        </p:nvSpPr>
        <p:spPr>
          <a:xfrm xmlns:a="http://schemas.openxmlformats.org/drawingml/2006/main">
            <a:off x="609600" y="4572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450" b="1">
                <a:solidFill>
                  <a:srgbClr val="18253E"/>
                </a:solidFill>
                <a:latin typeface="Segoe UI"/>
                <a:ea typeface="Segoe UI"/>
                <a:cs typeface="Segoe UI"/>
              </a:defRPr>
            </a:defPPr>
          </a:lstStyle>
          <a:p xmlns:a="http://schemas.openxmlformats.org/drawingml/2006/main">
            <a:pPr>
              <a:defRPr sz="3450" b="1">
                <a:solidFill>
                  <a:srgbClr val="18253E"/>
                </a:solidFill>
                <a:latin typeface="Segoe UI"/>
                <a:ea typeface="Segoe UI"/>
                <a:cs typeface="Segoe UI"/>
              </a:defRPr>
            </a:pPr>
            <a:r>
              <a:rPr sz="3450" b="1">
                <a:solidFill>
                  <a:srgbClr val="18253E"/>
                </a:solidFill>
                <a:latin typeface="Segoe UI"/>
                <a:ea typeface="Segoe UI"/>
                <a:cs typeface="Segoe UI"/>
              </a:rPr>
              <a:t>Current scope and future development</a:t>
            </a:r>
          </a:p>
        </p:txBody>
      </p:sp>
      <p:sp>
        <p:nvSpPr>
          <p:cNvPr id="2" name="">
            <a:extLst xmlns:a="http://schemas.openxmlformats.org/drawingml/2006/main">
              <a:ext uri="{FF2B5EF4-FFF2-40B4-BE49-F238E27FC236}">
                <a16:creationId xmlns:a16="http://schemas.microsoft.com/office/drawing/2014/main" id="{2B77ED37-A2F7-42D7-A12C-7C6587A32DD7}"/>
              </a:ext>
            </a:extLst>
          </p:cNvPr>
          <p:cNvSpPr>
            <a:spLocks xmlns:a="http://schemas.openxmlformats.org/drawingml/2006/main" noGrp="1"/>
          </p:cNvSpPr>
          <p:nvPr/>
        </p:nvSpPr>
        <p:spPr>
          <a:xfrm xmlns:a="http://schemas.openxmlformats.org/drawingml/2006/main">
            <a:off x="11049000" y="6391275"/>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59667C"/>
                </a:solidFill>
                <a:latin typeface="Segoe UI"/>
                <a:ea typeface="Segoe UI"/>
                <a:cs typeface="Segoe UI"/>
              </a:defRPr>
            </a:defPPr>
          </a:lstStyle>
          <a:p xmlns:a="http://schemas.openxmlformats.org/drawingml/2006/main">
            <a:pPr>
              <a:defRPr sz="1200" b="0">
                <a:solidFill>
                  <a:srgbClr val="59667C"/>
                </a:solidFill>
                <a:latin typeface="Segoe UI"/>
                <a:ea typeface="Segoe UI"/>
                <a:cs typeface="Segoe UI"/>
              </a:defRPr>
            </a:pPr>
            <a:r>
              <a:rPr sz="1200" b="0">
                <a:solidFill>
                  <a:srgbClr val="59667C"/>
                </a:solidFill>
                <a:latin typeface="Segoe UI"/>
                <a:ea typeface="Segoe UI"/>
                <a:cs typeface="Segoe UI"/>
              </a:rPr>
              <a:t>16</a:t>
            </a:r>
          </a:p>
        </p:txBody>
      </p:sp>
      <p:sp>
        <p:nvSpPr>
          <p:cNvPr id="3" name="">
            <a:extLst xmlns:a="http://schemas.openxmlformats.org/drawingml/2006/main">
              <a:ext uri="{FF2B5EF4-FFF2-40B4-BE49-F238E27FC236}">
                <a16:creationId xmlns:a16="http://schemas.microsoft.com/office/drawing/2014/main" id="{B7E44635-CC55-462D-A3B8-2E5BD4E22DB1}"/>
              </a:ext>
            </a:extLst>
          </p:cNvPr>
          <p:cNvSpPr>
            <a:spLocks xmlns:a="http://schemas.openxmlformats.org/drawingml/2006/main" noGrp="1"/>
          </p:cNvSpPr>
          <p:nvPr/>
        </p:nvSpPr>
        <p:spPr>
          <a:xfrm xmlns:a="http://schemas.openxmlformats.org/drawingml/2006/main">
            <a:off x="609600" y="1762125"/>
            <a:ext cx="5334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1">
                <a:solidFill>
                  <a:srgbClr val="315EF4"/>
                </a:solidFill>
                <a:latin typeface="Segoe UI"/>
                <a:ea typeface="Segoe UI"/>
                <a:cs typeface="Segoe UI"/>
              </a:defRPr>
            </a:defPPr>
          </a:lstStyle>
          <a:p xmlns:a="http://schemas.openxmlformats.org/drawingml/2006/main">
            <a:pPr>
              <a:defRPr sz="2400" b="1">
                <a:solidFill>
                  <a:srgbClr val="315EF4"/>
                </a:solidFill>
                <a:latin typeface="Segoe UI"/>
                <a:ea typeface="Segoe UI"/>
                <a:cs typeface="Segoe UI"/>
              </a:defRPr>
            </a:pPr>
            <a:r>
              <a:rPr sz="2400" b="1">
                <a:solidFill>
                  <a:srgbClr val="315EF4"/>
                </a:solidFill>
                <a:latin typeface="Segoe UI"/>
                <a:ea typeface="Segoe UI"/>
                <a:cs typeface="Segoe UI"/>
              </a:rPr>
              <a:t>Implemented scope</a:t>
            </a:r>
          </a:p>
        </p:txBody>
      </p:sp>
      <p:sp>
        <p:nvSpPr>
          <p:cNvPr id="4" name="">
            <a:extLst xmlns:a="http://schemas.openxmlformats.org/drawingml/2006/main">
              <a:ext uri="{FF2B5EF4-FFF2-40B4-BE49-F238E27FC236}">
                <a16:creationId xmlns:a16="http://schemas.microsoft.com/office/drawing/2014/main" id="{E623FC40-42BE-491F-9047-833021AADF0B}"/>
              </a:ext>
            </a:extLst>
          </p:cNvPr>
          <p:cNvSpPr>
            <a:spLocks xmlns:a="http://schemas.openxmlformats.org/drawingml/2006/main" noGrp="1"/>
          </p:cNvSpPr>
          <p:nvPr/>
        </p:nvSpPr>
        <p:spPr>
          <a:xfrm xmlns:a="http://schemas.openxmlformats.org/drawingml/2006/main">
            <a:off x="609600" y="2447925"/>
            <a:ext cx="50482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59667C"/>
                </a:solidFill>
                <a:latin typeface="Segoe UI"/>
                <a:ea typeface="Segoe UI"/>
                <a:cs typeface="Segoe UI"/>
              </a:defRPr>
            </a:defPPr>
          </a:lstStyle>
          <a:p xmlns:a="http://schemas.openxmlformats.org/drawingml/2006/main">
            <a:pPr>
              <a:defRPr sz="2250" b="0">
                <a:solidFill>
                  <a:srgbClr val="59667C"/>
                </a:solidFill>
                <a:latin typeface="Segoe UI"/>
                <a:ea typeface="Segoe UI"/>
                <a:cs typeface="Segoe UI"/>
              </a:defRPr>
            </a:pPr>
            <a:r>
              <a:rPr sz="2250" b="0">
                <a:solidFill>
                  <a:srgbClr val="59667C"/>
                </a:solidFill>
                <a:latin typeface="Segoe UI"/>
                <a:ea typeface="Segoe UI"/>
                <a:cs typeface="Segoe UI"/>
              </a:rPr>
              <a:t>Lexora supports selected .l and .y targets and an educational subset of C.</a:t>
            </a:r>
          </a:p>
        </p:txBody>
      </p:sp>
      <p:sp>
        <p:nvSpPr>
          <p:cNvPr id="5" name="">
            <a:extLst xmlns:a="http://schemas.openxmlformats.org/drawingml/2006/main">
              <a:ext uri="{FF2B5EF4-FFF2-40B4-BE49-F238E27FC236}">
                <a16:creationId xmlns:a16="http://schemas.microsoft.com/office/drawing/2014/main" id="{C47D92ED-2800-4205-B045-ACC4F3A4D93D}"/>
              </a:ext>
            </a:extLst>
          </p:cNvPr>
          <p:cNvSpPr>
            <a:spLocks xmlns:a="http://schemas.openxmlformats.org/drawingml/2006/main" noGrp="1"/>
          </p:cNvSpPr>
          <p:nvPr/>
        </p:nvSpPr>
        <p:spPr>
          <a:xfrm xmlns:a="http://schemas.openxmlformats.org/drawingml/2006/main">
            <a:off x="609600" y="4143375"/>
            <a:ext cx="504825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59667C"/>
                </a:solidFill>
                <a:latin typeface="Segoe UI"/>
                <a:ea typeface="Segoe UI"/>
                <a:cs typeface="Segoe UI"/>
              </a:defRPr>
            </a:defPPr>
          </a:lstStyle>
          <a:p xmlns:a="http://schemas.openxmlformats.org/drawingml/2006/main">
            <a:pPr>
              <a:defRPr sz="2025" b="0">
                <a:solidFill>
                  <a:srgbClr val="59667C"/>
                </a:solidFill>
                <a:latin typeface="Segoe UI"/>
                <a:ea typeface="Segoe UI"/>
                <a:cs typeface="Segoe UI"/>
              </a:defRPr>
            </a:pPr>
            <a:r>
              <a:rPr sz="2025" b="0">
                <a:solidFill>
                  <a:srgbClr val="59667C"/>
                </a:solidFill>
                <a:latin typeface="Segoe UI"/>
                <a:ea typeface="Segoe UI"/>
                <a:cs typeface="Segoe UI"/>
              </a:rPr>
              <a:t>The analyzer currently excludes arrays, structures, pointer declarations, and several other C constructs.</a:t>
            </a:r>
          </a:p>
        </p:txBody>
      </p:sp>
      <p:sp>
        <p:nvSpPr>
          <p:cNvPr id="6" name="">
            <a:extLst xmlns:a="http://schemas.openxmlformats.org/drawingml/2006/main">
              <a:ext uri="{FF2B5EF4-FFF2-40B4-BE49-F238E27FC236}">
                <a16:creationId xmlns:a16="http://schemas.microsoft.com/office/drawing/2014/main" id="{DB05C33D-1F1F-48A8-A1C7-F050364CE84A}"/>
              </a:ext>
            </a:extLst>
          </p:cNvPr>
          <p:cNvSpPr>
            <a:spLocks xmlns:a="http://schemas.openxmlformats.org/drawingml/2006/main" noGrp="1"/>
          </p:cNvSpPr>
          <p:nvPr/>
        </p:nvSpPr>
        <p:spPr>
          <a:xfrm xmlns:a="http://schemas.openxmlformats.org/drawingml/2006/main">
            <a:off x="6419850" y="1762125"/>
            <a:ext cx="5143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1">
                <a:solidFill>
                  <a:srgbClr val="315EF4"/>
                </a:solidFill>
                <a:latin typeface="Segoe UI"/>
                <a:ea typeface="Segoe UI"/>
                <a:cs typeface="Segoe UI"/>
              </a:defRPr>
            </a:defPPr>
          </a:lstStyle>
          <a:p xmlns:a="http://schemas.openxmlformats.org/drawingml/2006/main">
            <a:pPr>
              <a:defRPr sz="2400" b="1">
                <a:solidFill>
                  <a:srgbClr val="315EF4"/>
                </a:solidFill>
                <a:latin typeface="Segoe UI"/>
                <a:ea typeface="Segoe UI"/>
                <a:cs typeface="Segoe UI"/>
              </a:defRPr>
            </a:pPr>
            <a:r>
              <a:rPr sz="2400" b="1">
                <a:solidFill>
                  <a:srgbClr val="315EF4"/>
                </a:solidFill>
                <a:latin typeface="Segoe UI"/>
                <a:ea typeface="Segoe UI"/>
                <a:cs typeface="Segoe UI"/>
              </a:rPr>
              <a:t>Future development</a:t>
            </a:r>
          </a:p>
        </p:txBody>
      </p:sp>
      <p:sp>
        <p:nvSpPr>
          <p:cNvPr id="7" name="">
            <a:extLst xmlns:a="http://schemas.openxmlformats.org/drawingml/2006/main">
              <a:ext uri="{FF2B5EF4-FFF2-40B4-BE49-F238E27FC236}">
                <a16:creationId xmlns:a16="http://schemas.microsoft.com/office/drawing/2014/main" id="{53F369F3-FC38-492D-BBCA-C61B5635B9CD}"/>
              </a:ext>
            </a:extLst>
          </p:cNvPr>
          <p:cNvSpPr>
            <a:spLocks xmlns:a="http://schemas.openxmlformats.org/drawingml/2006/main" noGrp="1"/>
          </p:cNvSpPr>
          <p:nvPr/>
        </p:nvSpPr>
        <p:spPr>
          <a:xfrm xmlns:a="http://schemas.openxmlformats.org/drawingml/2006/main">
            <a:off x="6419850" y="2447925"/>
            <a:ext cx="51435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59667C"/>
                </a:solidFill>
                <a:latin typeface="Segoe UI"/>
                <a:ea typeface="Segoe UI"/>
                <a:cs typeface="Segoe UI"/>
              </a:defRPr>
            </a:defPPr>
          </a:lstStyle>
          <a:p xmlns:a="http://schemas.openxmlformats.org/drawingml/2006/main">
            <a:pPr>
              <a:defRPr sz="2250" b="0">
                <a:solidFill>
                  <a:srgbClr val="59667C"/>
                </a:solidFill>
                <a:latin typeface="Segoe UI"/>
                <a:ea typeface="Segoe UI"/>
                <a:cs typeface="Segoe UI"/>
              </a:defRPr>
            </a:pPr>
            <a:r>
              <a:rPr sz="2250" b="0">
                <a:solidFill>
                  <a:srgbClr val="59667C"/>
                </a:solidFill>
                <a:latin typeface="Segoe UI"/>
                <a:ea typeface="Segoe UI"/>
                <a:cs typeface="Segoe UI"/>
              </a:rPr>
              <a:t>Language and project-file support can expand beyond the current teaching subset.</a:t>
            </a:r>
          </a:p>
        </p:txBody>
      </p:sp>
      <p:sp>
        <p:nvSpPr>
          <p:cNvPr id="8" name="">
            <a:extLst xmlns:a="http://schemas.openxmlformats.org/drawingml/2006/main">
              <a:ext uri="{FF2B5EF4-FFF2-40B4-BE49-F238E27FC236}">
                <a16:creationId xmlns:a16="http://schemas.microsoft.com/office/drawing/2014/main" id="{74730700-8D7B-4354-806E-828C8D0F723F}"/>
              </a:ext>
            </a:extLst>
          </p:cNvPr>
          <p:cNvSpPr>
            <a:spLocks xmlns:a="http://schemas.openxmlformats.org/drawingml/2006/main" noGrp="1"/>
          </p:cNvSpPr>
          <p:nvPr/>
        </p:nvSpPr>
        <p:spPr>
          <a:xfrm xmlns:a="http://schemas.openxmlformats.org/drawingml/2006/main">
            <a:off x="6419850" y="4143375"/>
            <a:ext cx="514350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59667C"/>
                </a:solidFill>
                <a:latin typeface="Segoe UI"/>
                <a:ea typeface="Segoe UI"/>
                <a:cs typeface="Segoe UI"/>
              </a:defRPr>
            </a:defPPr>
          </a:lstStyle>
          <a:p xmlns:a="http://schemas.openxmlformats.org/drawingml/2006/main">
            <a:pPr>
              <a:defRPr sz="2025" b="0">
                <a:solidFill>
                  <a:srgbClr val="59667C"/>
                </a:solidFill>
                <a:latin typeface="Segoe UI"/>
                <a:ea typeface="Segoe UI"/>
                <a:cs typeface="Segoe UI"/>
              </a:defRPr>
            </a:pPr>
            <a:r>
              <a:rPr sz="2025" b="0">
                <a:solidFill>
                  <a:srgbClr val="59667C"/>
                </a:solidFill>
                <a:latin typeface="Segoe UI"/>
                <a:ea typeface="Segoe UI"/>
                <a:cs typeface="Segoe UI"/>
              </a:rPr>
              <a:t>Public execution would require isolated workers with restricted filesystem and network access.</a:t>
            </a:r>
          </a:p>
        </p:txBody>
      </p:sp>
    </p:spTree>
    <p:extLst>
      <p:ext uri="{BB962C8B-B14F-4D97-AF65-F5344CB8AC3E}">
        <p14:creationId xmlns:p14="http://schemas.microsoft.com/office/powerpoint/2010/main" val="209209416"/>
      </p:ext>
    </p:extLst>
  </p:cSld>
</p:sld>
</file>

<file path=ppt/slides/slide17.xml><?xml version="1.0" encoding="utf-8"?>
<p:sld xmlns:p="http://schemas.openxmlformats.org/presentationml/2006/main">
  <p:cSld>
    <p:bg>
      <p:bgPr>
        <a:solidFill xmlns:a="http://schemas.openxmlformats.org/drawingml/2006/main">
          <a:srgbClr val="111B31"/>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A6B4422-0DBE-437B-A3E6-C9B1F65B7049}"/>
              </a:ext>
            </a:extLst>
          </p:cNvPr>
          <p:cNvSpPr>
            <a:spLocks xmlns:a="http://schemas.openxmlformats.org/drawingml/2006/main" noGrp="1"/>
          </p:cNvSpPr>
          <p:nvPr/>
        </p:nvSpPr>
        <p:spPr>
          <a:xfrm xmlns:a="http://schemas.openxmlformats.org/drawingml/2006/main">
            <a:off x="609600" y="4572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450" b="1">
                <a:solidFill>
                  <a:srgbClr val="FFFFFF"/>
                </a:solidFill>
                <a:latin typeface="Segoe UI"/>
                <a:ea typeface="Segoe UI"/>
                <a:cs typeface="Segoe UI"/>
              </a:defRPr>
            </a:defPPr>
          </a:lstStyle>
          <a:p xmlns:a="http://schemas.openxmlformats.org/drawingml/2006/main">
            <a:pPr>
              <a:defRPr sz="3450" b="1">
                <a:solidFill>
                  <a:srgbClr val="FFFFFF"/>
                </a:solidFill>
                <a:latin typeface="Segoe UI"/>
                <a:ea typeface="Segoe UI"/>
                <a:cs typeface="Segoe UI"/>
              </a:defRPr>
            </a:pPr>
            <a:r>
              <a:rPr sz="3450" b="1">
                <a:solidFill>
                  <a:srgbClr val="FFFFFF"/>
                </a:solidFill>
                <a:latin typeface="Segoe UI"/>
                <a:ea typeface="Segoe UI"/>
                <a:cs typeface="Segoe UI"/>
              </a:rPr>
              <a:t>Conclusion</a:t>
            </a:r>
          </a:p>
        </p:txBody>
      </p:sp>
      <p:sp>
        <p:nvSpPr>
          <p:cNvPr id="2" name="">
            <a:extLst xmlns:a="http://schemas.openxmlformats.org/drawingml/2006/main">
              <a:ext uri="{FF2B5EF4-FFF2-40B4-BE49-F238E27FC236}">
                <a16:creationId xmlns:a16="http://schemas.microsoft.com/office/drawing/2014/main" id="{4DBB399A-387D-4986-AFE7-3BCE82FF6C4D}"/>
              </a:ext>
            </a:extLst>
          </p:cNvPr>
          <p:cNvSpPr>
            <a:spLocks xmlns:a="http://schemas.openxmlformats.org/drawingml/2006/main" noGrp="1"/>
          </p:cNvSpPr>
          <p:nvPr/>
        </p:nvSpPr>
        <p:spPr>
          <a:xfrm xmlns:a="http://schemas.openxmlformats.org/drawingml/2006/main">
            <a:off x="11049000" y="6391275"/>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BCC9E4"/>
                </a:solidFill>
                <a:latin typeface="Segoe UI"/>
                <a:ea typeface="Segoe UI"/>
                <a:cs typeface="Segoe UI"/>
              </a:defRPr>
            </a:defPPr>
          </a:lstStyle>
          <a:p xmlns:a="http://schemas.openxmlformats.org/drawingml/2006/main">
            <a:pPr>
              <a:defRPr sz="1200" b="0">
                <a:solidFill>
                  <a:srgbClr val="BCC9E4"/>
                </a:solidFill>
                <a:latin typeface="Segoe UI"/>
                <a:ea typeface="Segoe UI"/>
                <a:cs typeface="Segoe UI"/>
              </a:defRPr>
            </a:pPr>
            <a:r>
              <a:rPr sz="1200" b="0">
                <a:solidFill>
                  <a:srgbClr val="BCC9E4"/>
                </a:solidFill>
                <a:latin typeface="Segoe UI"/>
                <a:ea typeface="Segoe UI"/>
                <a:cs typeface="Segoe UI"/>
              </a:rPr>
              <a:t>17</a:t>
            </a:r>
          </a:p>
        </p:txBody>
      </p:sp>
      <p:sp>
        <p:nvSpPr>
          <p:cNvPr id="3" name="">
            <a:extLst xmlns:a="http://schemas.openxmlformats.org/drawingml/2006/main">
              <a:ext uri="{FF2B5EF4-FFF2-40B4-BE49-F238E27FC236}">
                <a16:creationId xmlns:a16="http://schemas.microsoft.com/office/drawing/2014/main" id="{0A7EA6AF-90FA-4EB2-A3DB-EDA7832D25E9}"/>
              </a:ext>
            </a:extLst>
          </p:cNvPr>
          <p:cNvSpPr>
            <a:spLocks xmlns:a="http://schemas.openxmlformats.org/drawingml/2006/main" noGrp="1"/>
          </p:cNvSpPr>
          <p:nvPr/>
        </p:nvSpPr>
        <p:spPr>
          <a:xfrm xmlns:a="http://schemas.openxmlformats.org/drawingml/2006/main">
            <a:off x="609600" y="1743075"/>
            <a:ext cx="10972800" cy="2276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4350" b="1">
                <a:solidFill>
                  <a:srgbClr val="FFFFFF"/>
                </a:solidFill>
                <a:latin typeface="Segoe UI"/>
                <a:ea typeface="Segoe UI"/>
                <a:cs typeface="Segoe UI"/>
              </a:defRPr>
            </a:defPPr>
          </a:lstStyle>
          <a:p xmlns:a="http://schemas.openxmlformats.org/drawingml/2006/main">
            <a:pPr>
              <a:defRPr sz="4350" b="1">
                <a:solidFill>
                  <a:srgbClr val="FFFFFF"/>
                </a:solidFill>
                <a:latin typeface="Segoe UI"/>
                <a:ea typeface="Segoe UI"/>
                <a:cs typeface="Segoe UI"/>
              </a:defRPr>
            </a:pPr>
            <a:r>
              <a:rPr sz="4350" b="1">
                <a:solidFill>
                  <a:srgbClr val="FFFFFF"/>
                </a:solidFill>
                <a:latin typeface="Segoe UI"/>
                <a:ea typeface="Segoe UI"/>
                <a:cs typeface="Segoe UI"/>
              </a:rPr>
              <a:t>Lexora makes compiler-design</a:t>
            </a:r>
          </a:p>
          <a:p xmlns:a="http://schemas.openxmlformats.org/drawingml/2006/main">
            <a:pPr>
              <a:defRPr sz="4350" b="1">
                <a:solidFill>
                  <a:srgbClr val="FFFFFF"/>
                </a:solidFill>
                <a:latin typeface="Segoe UI"/>
                <a:ea typeface="Segoe UI"/>
                <a:cs typeface="Segoe UI"/>
              </a:defRPr>
            </a:pPr>
            <a:r>
              <a:rPr sz="4350" b="1">
                <a:solidFill>
                  <a:srgbClr val="FFFFFF"/>
                </a:solidFill>
                <a:latin typeface="Segoe UI"/>
                <a:ea typeface="Segoe UI"/>
                <a:cs typeface="Segoe UI"/>
              </a:rPr>
              <a:t>experiments easier to run</a:t>
            </a:r>
          </a:p>
          <a:p xmlns:a="http://schemas.openxmlformats.org/drawingml/2006/main">
            <a:pPr>
              <a:defRPr sz="4350" b="1">
                <a:solidFill>
                  <a:srgbClr val="FFFFFF"/>
                </a:solidFill>
                <a:latin typeface="Segoe UI"/>
                <a:ea typeface="Segoe UI"/>
                <a:cs typeface="Segoe UI"/>
              </a:defRPr>
            </a:pPr>
            <a:r>
              <a:rPr sz="4350" b="1">
                <a:solidFill>
                  <a:srgbClr val="FFFFFF"/>
                </a:solidFill>
                <a:latin typeface="Segoe UI"/>
                <a:ea typeface="Segoe UI"/>
                <a:cs typeface="Segoe UI"/>
              </a:rPr>
              <a:t>and easier to explain.</a:t>
            </a:r>
          </a:p>
        </p:txBody>
      </p:sp>
      <p:sp>
        <p:nvSpPr>
          <p:cNvPr id="4" name="">
            <a:extLst xmlns:a="http://schemas.openxmlformats.org/drawingml/2006/main">
              <a:ext uri="{FF2B5EF4-FFF2-40B4-BE49-F238E27FC236}">
                <a16:creationId xmlns:a16="http://schemas.microsoft.com/office/drawing/2014/main" id="{F20EAD3E-ED18-46B3-854A-A5B0691891D9}"/>
              </a:ext>
            </a:extLst>
          </p:cNvPr>
          <p:cNvSpPr>
            <a:spLocks xmlns:a="http://schemas.openxmlformats.org/drawingml/2006/main" noGrp="1"/>
          </p:cNvSpPr>
          <p:nvPr/>
        </p:nvSpPr>
        <p:spPr>
          <a:xfrm xmlns:a="http://schemas.openxmlformats.org/drawingml/2006/main">
            <a:off x="609600" y="4600575"/>
            <a:ext cx="100774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75" b="0">
                <a:solidFill>
                  <a:srgbClr val="BCC9E4"/>
                </a:solidFill>
                <a:latin typeface="Segoe UI"/>
                <a:ea typeface="Segoe UI"/>
                <a:cs typeface="Segoe UI"/>
              </a:defRPr>
            </a:defPPr>
          </a:lstStyle>
          <a:p xmlns:a="http://schemas.openxmlformats.org/drawingml/2006/main">
            <a:pPr>
              <a:defRPr sz="2475" b="0">
                <a:solidFill>
                  <a:srgbClr val="BCC9E4"/>
                </a:solidFill>
                <a:latin typeface="Segoe UI"/>
                <a:ea typeface="Segoe UI"/>
                <a:cs typeface="Segoe UI"/>
              </a:defRPr>
            </a:pPr>
            <a:r>
              <a:rPr sz="2475" b="0">
                <a:solidFill>
                  <a:srgbClr val="BCC9E4"/>
                </a:solidFill>
                <a:latin typeface="Segoe UI"/>
                <a:ea typeface="Segoe UI"/>
                <a:cs typeface="Segoe UI"/>
              </a:rPr>
              <a:t>The project combines native tool execution with educational representations of program input in a persistent browser workspace.</a:t>
            </a:r>
          </a:p>
        </p:txBody>
      </p:sp>
    </p:spTree>
    <p:extLst>
      <p:ext uri="{BB962C8B-B14F-4D97-AF65-F5344CB8AC3E}">
        <p14:creationId xmlns:p14="http://schemas.microsoft.com/office/powerpoint/2010/main" val="2077855793"/>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E8ABD46E-6AF0-4C5D-92ED-C84B9438C902}"/>
              </a:ext>
            </a:extLst>
          </p:cNvPr>
          <p:cNvSpPr>
            <a:spLocks xmlns:a="http://schemas.openxmlformats.org/drawingml/2006/main" noGrp="1"/>
          </p:cNvSpPr>
          <p:nvPr/>
        </p:nvSpPr>
        <p:spPr>
          <a:xfrm xmlns:a="http://schemas.openxmlformats.org/drawingml/2006/main">
            <a:off x="609600" y="4572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450" b="1">
                <a:solidFill>
                  <a:srgbClr val="18253E"/>
                </a:solidFill>
                <a:latin typeface="Segoe UI"/>
                <a:ea typeface="Segoe UI"/>
                <a:cs typeface="Segoe UI"/>
              </a:defRPr>
            </a:defPPr>
          </a:lstStyle>
          <a:p xmlns:a="http://schemas.openxmlformats.org/drawingml/2006/main">
            <a:pPr>
              <a:defRPr sz="3450" b="1">
                <a:solidFill>
                  <a:srgbClr val="18253E"/>
                </a:solidFill>
                <a:latin typeface="Segoe UI"/>
                <a:ea typeface="Segoe UI"/>
                <a:cs typeface="Segoe UI"/>
              </a:defRPr>
            </a:pPr>
            <a:r>
              <a:rPr sz="3450" b="1">
                <a:solidFill>
                  <a:srgbClr val="18253E"/>
                </a:solidFill>
                <a:latin typeface="Segoe UI"/>
                <a:ea typeface="Segoe UI"/>
                <a:cs typeface="Segoe UI"/>
              </a:rPr>
              <a:t>References</a:t>
            </a:r>
          </a:p>
        </p:txBody>
      </p:sp>
      <p:sp>
        <p:nvSpPr>
          <p:cNvPr id="2" name="">
            <a:extLst xmlns:a="http://schemas.openxmlformats.org/drawingml/2006/main">
              <a:ext uri="{FF2B5EF4-FFF2-40B4-BE49-F238E27FC236}">
                <a16:creationId xmlns:a16="http://schemas.microsoft.com/office/drawing/2014/main" id="{5FB4B579-6767-4453-84A8-6220C4C8EFEA}"/>
              </a:ext>
            </a:extLst>
          </p:cNvPr>
          <p:cNvSpPr>
            <a:spLocks xmlns:a="http://schemas.openxmlformats.org/drawingml/2006/main" noGrp="1"/>
          </p:cNvSpPr>
          <p:nvPr/>
        </p:nvSpPr>
        <p:spPr>
          <a:xfrm xmlns:a="http://schemas.openxmlformats.org/drawingml/2006/main">
            <a:off x="11049000" y="6391275"/>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59667C"/>
                </a:solidFill>
                <a:latin typeface="Segoe UI"/>
                <a:ea typeface="Segoe UI"/>
                <a:cs typeface="Segoe UI"/>
              </a:defRPr>
            </a:defPPr>
          </a:lstStyle>
          <a:p xmlns:a="http://schemas.openxmlformats.org/drawingml/2006/main">
            <a:pPr>
              <a:defRPr sz="1200" b="0">
                <a:solidFill>
                  <a:srgbClr val="59667C"/>
                </a:solidFill>
                <a:latin typeface="Segoe UI"/>
                <a:ea typeface="Segoe UI"/>
                <a:cs typeface="Segoe UI"/>
              </a:defRPr>
            </a:pPr>
            <a:r>
              <a:rPr sz="1200" b="0">
                <a:solidFill>
                  <a:srgbClr val="59667C"/>
                </a:solidFill>
                <a:latin typeface="Segoe UI"/>
                <a:ea typeface="Segoe UI"/>
                <a:cs typeface="Segoe UI"/>
              </a:rPr>
              <a:t>18</a:t>
            </a:r>
          </a:p>
        </p:txBody>
      </p:sp>
      <p:sp>
        <p:nvSpPr>
          <p:cNvPr id="3" name="">
            <a:extLst xmlns:a="http://schemas.openxmlformats.org/drawingml/2006/main">
              <a:ext uri="{FF2B5EF4-FFF2-40B4-BE49-F238E27FC236}">
                <a16:creationId xmlns:a16="http://schemas.microsoft.com/office/drawing/2014/main" id="{C4E7BE08-A689-49E5-9FE2-92CEF0B0BACE}"/>
              </a:ext>
            </a:extLst>
          </p:cNvPr>
          <p:cNvSpPr>
            <a:spLocks xmlns:a="http://schemas.openxmlformats.org/drawingml/2006/main" noGrp="1"/>
          </p:cNvSpPr>
          <p:nvPr/>
        </p:nvSpPr>
        <p:spPr>
          <a:xfrm xmlns:a="http://schemas.openxmlformats.org/drawingml/2006/main">
            <a:off x="609600" y="1581150"/>
            <a:ext cx="7429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315EF4"/>
                </a:solidFill>
                <a:latin typeface="Segoe UI"/>
                <a:ea typeface="Segoe UI"/>
                <a:cs typeface="Segoe UI"/>
              </a:defRPr>
            </a:defPPr>
          </a:lstStyle>
          <a:p xmlns:a="http://schemas.openxmlformats.org/drawingml/2006/main">
            <a:pPr>
              <a:defRPr sz="2400" b="0">
                <a:solidFill>
                  <a:srgbClr val="315EF4"/>
                </a:solidFill>
                <a:latin typeface="Segoe UI"/>
                <a:ea typeface="Segoe UI"/>
                <a:cs typeface="Segoe UI"/>
              </a:defRPr>
            </a:pPr>
            <a:r>
              <a:rPr sz="2400" b="0">
                <a:solidFill>
                  <a:srgbClr val="315EF4"/>
                </a:solidFill>
                <a:latin typeface="Segoe UI"/>
                <a:ea typeface="Segoe UI"/>
                <a:cs typeface="Segoe UI"/>
              </a:rPr>
              <a:t>01</a:t>
            </a:r>
          </a:p>
        </p:txBody>
      </p:sp>
      <p:sp>
        <p:nvSpPr>
          <p:cNvPr id="4" name="">
            <a:extLst xmlns:a="http://schemas.openxmlformats.org/drawingml/2006/main">
              <a:ext uri="{FF2B5EF4-FFF2-40B4-BE49-F238E27FC236}">
                <a16:creationId xmlns:a16="http://schemas.microsoft.com/office/drawing/2014/main" id="{1508E808-0934-41E2-9670-11D0AD9E9331}"/>
              </a:ext>
            </a:extLst>
          </p:cNvPr>
          <p:cNvSpPr>
            <a:spLocks xmlns:a="http://schemas.openxmlformats.org/drawingml/2006/main" noGrp="1"/>
          </p:cNvSpPr>
          <p:nvPr/>
        </p:nvSpPr>
        <p:spPr>
          <a:xfrm xmlns:a="http://schemas.openxmlformats.org/drawingml/2006/main">
            <a:off x="1619250" y="1581150"/>
            <a:ext cx="9906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18253E"/>
                </a:solidFill>
                <a:latin typeface="Segoe UI"/>
                <a:ea typeface="Segoe UI"/>
                <a:cs typeface="Segoe UI"/>
              </a:defRPr>
            </a:defPPr>
          </a:lstStyle>
          <a:p xmlns:a="http://schemas.openxmlformats.org/drawingml/2006/main">
            <a:pPr>
              <a:defRPr sz="2025" b="1">
                <a:solidFill>
                  <a:srgbClr val="18253E"/>
                </a:solidFill>
                <a:latin typeface="Segoe UI"/>
                <a:ea typeface="Segoe UI"/>
                <a:cs typeface="Segoe UI"/>
              </a:defRPr>
            </a:pPr>
            <a:r>
              <a:rPr sz="2025" b="1">
                <a:solidFill>
                  <a:srgbClr val="18253E"/>
                </a:solidFill>
                <a:latin typeface="Segoe UI"/>
                <a:ea typeface="Segoe UI"/>
                <a:cs typeface="Segoe UI"/>
              </a:rPr>
              <a:t>Aho, Lam, Sethi, and Ullman (2007)</a:t>
            </a:r>
          </a:p>
        </p:txBody>
      </p:sp>
      <p:sp>
        <p:nvSpPr>
          <p:cNvPr id="5" name="">
            <a:extLst xmlns:a="http://schemas.openxmlformats.org/drawingml/2006/main">
              <a:ext uri="{FF2B5EF4-FFF2-40B4-BE49-F238E27FC236}">
                <a16:creationId xmlns:a16="http://schemas.microsoft.com/office/drawing/2014/main" id="{C3883C44-EE5B-4761-8A2D-6E3C892AF34A}"/>
              </a:ext>
            </a:extLst>
          </p:cNvPr>
          <p:cNvSpPr>
            <a:spLocks xmlns:a="http://schemas.openxmlformats.org/drawingml/2006/main" noGrp="1"/>
          </p:cNvSpPr>
          <p:nvPr/>
        </p:nvSpPr>
        <p:spPr>
          <a:xfrm xmlns:a="http://schemas.openxmlformats.org/drawingml/2006/main">
            <a:off x="1619250" y="1990725"/>
            <a:ext cx="9906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59667C"/>
                </a:solidFill>
                <a:latin typeface="Segoe UI"/>
                <a:ea typeface="Segoe UI"/>
                <a:cs typeface="Segoe UI"/>
              </a:defRPr>
            </a:defPPr>
          </a:lstStyle>
          <a:p xmlns:a="http://schemas.openxmlformats.org/drawingml/2006/main">
            <a:pPr>
              <a:defRPr sz="1725" b="0">
                <a:solidFill>
                  <a:srgbClr val="59667C"/>
                </a:solidFill>
                <a:latin typeface="Segoe UI"/>
                <a:ea typeface="Segoe UI"/>
                <a:cs typeface="Segoe UI"/>
              </a:defRPr>
            </a:pPr>
            <a:r>
              <a:rPr sz="1725" b="0">
                <a:solidFill>
                  <a:srgbClr val="59667C"/>
                </a:solidFill>
                <a:latin typeface="Segoe UI"/>
                <a:ea typeface="Segoe UI"/>
                <a:cs typeface="Segoe UI"/>
              </a:rPr>
              <a:t>Compilers: Principles, Techniques, and Tools, second edition.</a:t>
            </a:r>
          </a:p>
        </p:txBody>
      </p:sp>
      <p:sp>
        <p:nvSpPr>
          <p:cNvPr id="6" name="">
            <a:extLst xmlns:a="http://schemas.openxmlformats.org/drawingml/2006/main">
              <a:ext uri="{FF2B5EF4-FFF2-40B4-BE49-F238E27FC236}">
                <a16:creationId xmlns:a16="http://schemas.microsoft.com/office/drawing/2014/main" id="{30F4133E-FF39-4441-939C-95EB577C77A9}"/>
              </a:ext>
            </a:extLst>
          </p:cNvPr>
          <p:cNvSpPr>
            <a:spLocks xmlns:a="http://schemas.openxmlformats.org/drawingml/2006/main" noGrp="1"/>
          </p:cNvSpPr>
          <p:nvPr/>
        </p:nvSpPr>
        <p:spPr>
          <a:xfrm xmlns:a="http://schemas.openxmlformats.org/drawingml/2006/main">
            <a:off x="1619250" y="2314575"/>
            <a:ext cx="990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59667C"/>
                </a:solidFill>
                <a:latin typeface="Segoe UI"/>
                <a:ea typeface="Segoe UI"/>
                <a:cs typeface="Segoe UI"/>
              </a:defRPr>
            </a:defPPr>
          </a:lstStyle>
          <a:p xmlns:a="http://schemas.openxmlformats.org/drawingml/2006/main">
            <a:pPr>
              <a:defRPr sz="1500" b="0">
                <a:solidFill>
                  <a:srgbClr val="59667C"/>
                </a:solidFill>
                <a:latin typeface="Segoe UI"/>
                <a:ea typeface="Segoe UI"/>
                <a:cs typeface="Segoe UI"/>
              </a:defRPr>
            </a:pPr>
            <a:r>
              <a:rPr sz="1500" b="0">
                <a:solidFill>
                  <a:srgbClr val="59667C"/>
                </a:solidFill>
                <a:latin typeface="Segoe UI"/>
                <a:ea typeface="Segoe UI"/>
                <a:cs typeface="Segoe UI"/>
              </a:rPr>
              <a:t>https://www.cs.columbia.edu/~aho/books.html</a:t>
            </a:r>
          </a:p>
        </p:txBody>
      </p:sp>
      <p:sp>
        <p:nvSpPr>
          <p:cNvPr id="7" name="">
            <a:extLst xmlns:a="http://schemas.openxmlformats.org/drawingml/2006/main">
              <a:ext uri="{FF2B5EF4-FFF2-40B4-BE49-F238E27FC236}">
                <a16:creationId xmlns:a16="http://schemas.microsoft.com/office/drawing/2014/main" id="{694858F8-4BCD-4678-B066-2BCB0FDF0AB8}"/>
              </a:ext>
            </a:extLst>
          </p:cNvPr>
          <p:cNvSpPr>
            <a:spLocks xmlns:a="http://schemas.openxmlformats.org/drawingml/2006/main" noGrp="1"/>
          </p:cNvSpPr>
          <p:nvPr/>
        </p:nvSpPr>
        <p:spPr>
          <a:xfrm xmlns:a="http://schemas.openxmlformats.org/drawingml/2006/main">
            <a:off x="609600" y="2695575"/>
            <a:ext cx="7429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315EF4"/>
                </a:solidFill>
                <a:latin typeface="Segoe UI"/>
                <a:ea typeface="Segoe UI"/>
                <a:cs typeface="Segoe UI"/>
              </a:defRPr>
            </a:defPPr>
          </a:lstStyle>
          <a:p xmlns:a="http://schemas.openxmlformats.org/drawingml/2006/main">
            <a:pPr>
              <a:defRPr sz="2400" b="0">
                <a:solidFill>
                  <a:srgbClr val="315EF4"/>
                </a:solidFill>
                <a:latin typeface="Segoe UI"/>
                <a:ea typeface="Segoe UI"/>
                <a:cs typeface="Segoe UI"/>
              </a:defRPr>
            </a:pPr>
            <a:r>
              <a:rPr sz="2400" b="0">
                <a:solidFill>
                  <a:srgbClr val="315EF4"/>
                </a:solidFill>
                <a:latin typeface="Segoe UI"/>
                <a:ea typeface="Segoe UI"/>
                <a:cs typeface="Segoe UI"/>
              </a:rPr>
              <a:t>02</a:t>
            </a:r>
          </a:p>
        </p:txBody>
      </p:sp>
      <p:sp>
        <p:nvSpPr>
          <p:cNvPr id="8" name="">
            <a:extLst xmlns:a="http://schemas.openxmlformats.org/drawingml/2006/main">
              <a:ext uri="{FF2B5EF4-FFF2-40B4-BE49-F238E27FC236}">
                <a16:creationId xmlns:a16="http://schemas.microsoft.com/office/drawing/2014/main" id="{F8E2BCFB-1ABA-406A-AD1E-DC348E09A1F5}"/>
              </a:ext>
            </a:extLst>
          </p:cNvPr>
          <p:cNvSpPr>
            <a:spLocks xmlns:a="http://schemas.openxmlformats.org/drawingml/2006/main" noGrp="1"/>
          </p:cNvSpPr>
          <p:nvPr/>
        </p:nvSpPr>
        <p:spPr>
          <a:xfrm xmlns:a="http://schemas.openxmlformats.org/drawingml/2006/main">
            <a:off x="1619250" y="2695575"/>
            <a:ext cx="9906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18253E"/>
                </a:solidFill>
                <a:latin typeface="Segoe UI"/>
                <a:ea typeface="Segoe UI"/>
                <a:cs typeface="Segoe UI"/>
              </a:defRPr>
            </a:defPPr>
          </a:lstStyle>
          <a:p xmlns:a="http://schemas.openxmlformats.org/drawingml/2006/main">
            <a:pPr>
              <a:defRPr sz="2025" b="1">
                <a:solidFill>
                  <a:srgbClr val="18253E"/>
                </a:solidFill>
                <a:latin typeface="Segoe UI"/>
                <a:ea typeface="Segoe UI"/>
                <a:cs typeface="Segoe UI"/>
              </a:defRPr>
            </a:pPr>
            <a:r>
              <a:rPr sz="2025" b="1">
                <a:solidFill>
                  <a:srgbClr val="18253E"/>
                </a:solidFill>
                <a:latin typeface="Segoe UI"/>
                <a:ea typeface="Segoe UI"/>
                <a:cs typeface="Segoe UI"/>
              </a:rPr>
              <a:t>Official Flex documentation</a:t>
            </a:r>
          </a:p>
        </p:txBody>
      </p:sp>
      <p:sp>
        <p:nvSpPr>
          <p:cNvPr id="9" name="">
            <a:extLst xmlns:a="http://schemas.openxmlformats.org/drawingml/2006/main">
              <a:ext uri="{FF2B5EF4-FFF2-40B4-BE49-F238E27FC236}">
                <a16:creationId xmlns:a16="http://schemas.microsoft.com/office/drawing/2014/main" id="{C8B29770-9382-4709-9FF9-289EA3FC198D}"/>
              </a:ext>
            </a:extLst>
          </p:cNvPr>
          <p:cNvSpPr>
            <a:spLocks xmlns:a="http://schemas.openxmlformats.org/drawingml/2006/main" noGrp="1"/>
          </p:cNvSpPr>
          <p:nvPr/>
        </p:nvSpPr>
        <p:spPr>
          <a:xfrm xmlns:a="http://schemas.openxmlformats.org/drawingml/2006/main">
            <a:off x="1619250" y="3105150"/>
            <a:ext cx="9906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59667C"/>
                </a:solidFill>
                <a:latin typeface="Segoe UI"/>
                <a:ea typeface="Segoe UI"/>
                <a:cs typeface="Segoe UI"/>
              </a:defRPr>
            </a:defPPr>
          </a:lstStyle>
          <a:p xmlns:a="http://schemas.openxmlformats.org/drawingml/2006/main">
            <a:pPr>
              <a:defRPr sz="1725" b="0">
                <a:solidFill>
                  <a:srgbClr val="59667C"/>
                </a:solidFill>
                <a:latin typeface="Segoe UI"/>
                <a:ea typeface="Segoe UI"/>
                <a:cs typeface="Segoe UI"/>
              </a:defRPr>
            </a:pPr>
            <a:r>
              <a:rPr sz="1725" b="0">
                <a:solidFill>
                  <a:srgbClr val="59667C"/>
                </a:solidFill>
                <a:latin typeface="Segoe UI"/>
                <a:ea typeface="Segoe UI"/>
                <a:cs typeface="Segoe UI"/>
              </a:rPr>
              <a:t>Scanner generation from regular-expression rules.</a:t>
            </a:r>
          </a:p>
        </p:txBody>
      </p:sp>
      <p:sp>
        <p:nvSpPr>
          <p:cNvPr id="10" name="">
            <a:extLst xmlns:a="http://schemas.openxmlformats.org/drawingml/2006/main">
              <a:ext uri="{FF2B5EF4-FFF2-40B4-BE49-F238E27FC236}">
                <a16:creationId xmlns:a16="http://schemas.microsoft.com/office/drawing/2014/main" id="{CE5C5EF6-B3FB-4234-9F14-9275D082B159}"/>
              </a:ext>
            </a:extLst>
          </p:cNvPr>
          <p:cNvSpPr>
            <a:spLocks xmlns:a="http://schemas.openxmlformats.org/drawingml/2006/main" noGrp="1"/>
          </p:cNvSpPr>
          <p:nvPr/>
        </p:nvSpPr>
        <p:spPr>
          <a:xfrm xmlns:a="http://schemas.openxmlformats.org/drawingml/2006/main">
            <a:off x="1619250" y="3429000"/>
            <a:ext cx="990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59667C"/>
                </a:solidFill>
                <a:latin typeface="Segoe UI"/>
                <a:ea typeface="Segoe UI"/>
                <a:cs typeface="Segoe UI"/>
              </a:defRPr>
            </a:defPPr>
          </a:lstStyle>
          <a:p xmlns:a="http://schemas.openxmlformats.org/drawingml/2006/main">
            <a:pPr>
              <a:defRPr sz="1500" b="0">
                <a:solidFill>
                  <a:srgbClr val="59667C"/>
                </a:solidFill>
                <a:latin typeface="Segoe UI"/>
                <a:ea typeface="Segoe UI"/>
                <a:cs typeface="Segoe UI"/>
              </a:defRPr>
            </a:pPr>
            <a:r>
              <a:rPr sz="1500" b="0">
                <a:solidFill>
                  <a:srgbClr val="59667C"/>
                </a:solidFill>
                <a:latin typeface="Segoe UI"/>
                <a:ea typeface="Segoe UI"/>
                <a:cs typeface="Segoe UI"/>
              </a:rPr>
              <a:t>https://westes.github.io/flex/manual/Introduction.html</a:t>
            </a:r>
          </a:p>
        </p:txBody>
      </p:sp>
      <p:sp>
        <p:nvSpPr>
          <p:cNvPr id="11" name="">
            <a:extLst xmlns:a="http://schemas.openxmlformats.org/drawingml/2006/main">
              <a:ext uri="{FF2B5EF4-FFF2-40B4-BE49-F238E27FC236}">
                <a16:creationId xmlns:a16="http://schemas.microsoft.com/office/drawing/2014/main" id="{1F6A34DB-63E4-4AFC-96B2-FB2395CA1BBB}"/>
              </a:ext>
            </a:extLst>
          </p:cNvPr>
          <p:cNvSpPr>
            <a:spLocks xmlns:a="http://schemas.openxmlformats.org/drawingml/2006/main" noGrp="1"/>
          </p:cNvSpPr>
          <p:nvPr/>
        </p:nvSpPr>
        <p:spPr>
          <a:xfrm xmlns:a="http://schemas.openxmlformats.org/drawingml/2006/main">
            <a:off x="609600" y="3810000"/>
            <a:ext cx="7429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315EF4"/>
                </a:solidFill>
                <a:latin typeface="Segoe UI"/>
                <a:ea typeface="Segoe UI"/>
                <a:cs typeface="Segoe UI"/>
              </a:defRPr>
            </a:defPPr>
          </a:lstStyle>
          <a:p xmlns:a="http://schemas.openxmlformats.org/drawingml/2006/main">
            <a:pPr>
              <a:defRPr sz="2400" b="0">
                <a:solidFill>
                  <a:srgbClr val="315EF4"/>
                </a:solidFill>
                <a:latin typeface="Segoe UI"/>
                <a:ea typeface="Segoe UI"/>
                <a:cs typeface="Segoe UI"/>
              </a:defRPr>
            </a:pPr>
            <a:r>
              <a:rPr sz="2400" b="0">
                <a:solidFill>
                  <a:srgbClr val="315EF4"/>
                </a:solidFill>
                <a:latin typeface="Segoe UI"/>
                <a:ea typeface="Segoe UI"/>
                <a:cs typeface="Segoe UI"/>
              </a:rPr>
              <a:t>03</a:t>
            </a:r>
          </a:p>
        </p:txBody>
      </p:sp>
      <p:sp>
        <p:nvSpPr>
          <p:cNvPr id="12" name="">
            <a:extLst xmlns:a="http://schemas.openxmlformats.org/drawingml/2006/main">
              <a:ext uri="{FF2B5EF4-FFF2-40B4-BE49-F238E27FC236}">
                <a16:creationId xmlns:a16="http://schemas.microsoft.com/office/drawing/2014/main" id="{DE8DC515-3BD0-43E6-8C24-14D9E70EBE10}"/>
              </a:ext>
            </a:extLst>
          </p:cNvPr>
          <p:cNvSpPr>
            <a:spLocks xmlns:a="http://schemas.openxmlformats.org/drawingml/2006/main" noGrp="1"/>
          </p:cNvSpPr>
          <p:nvPr/>
        </p:nvSpPr>
        <p:spPr>
          <a:xfrm xmlns:a="http://schemas.openxmlformats.org/drawingml/2006/main">
            <a:off x="1619250" y="3810000"/>
            <a:ext cx="9906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18253E"/>
                </a:solidFill>
                <a:latin typeface="Segoe UI"/>
                <a:ea typeface="Segoe UI"/>
                <a:cs typeface="Segoe UI"/>
              </a:defRPr>
            </a:defPPr>
          </a:lstStyle>
          <a:p xmlns:a="http://schemas.openxmlformats.org/drawingml/2006/main">
            <a:pPr>
              <a:defRPr sz="2025" b="1">
                <a:solidFill>
                  <a:srgbClr val="18253E"/>
                </a:solidFill>
                <a:latin typeface="Segoe UI"/>
                <a:ea typeface="Segoe UI"/>
                <a:cs typeface="Segoe UI"/>
              </a:defRPr>
            </a:pPr>
            <a:r>
              <a:rPr sz="2025" b="1">
                <a:solidFill>
                  <a:srgbClr val="18253E"/>
                </a:solidFill>
                <a:latin typeface="Segoe UI"/>
                <a:ea typeface="Segoe UI"/>
                <a:cs typeface="Segoe UI"/>
              </a:rPr>
              <a:t>Official GNU Bison documentation</a:t>
            </a:r>
          </a:p>
        </p:txBody>
      </p:sp>
      <p:sp>
        <p:nvSpPr>
          <p:cNvPr id="13" name="">
            <a:extLst xmlns:a="http://schemas.openxmlformats.org/drawingml/2006/main">
              <a:ext uri="{FF2B5EF4-FFF2-40B4-BE49-F238E27FC236}">
                <a16:creationId xmlns:a16="http://schemas.microsoft.com/office/drawing/2014/main" id="{B2BA37DF-A05A-43F4-A544-F5D45EC197AF}"/>
              </a:ext>
            </a:extLst>
          </p:cNvPr>
          <p:cNvSpPr>
            <a:spLocks xmlns:a="http://schemas.openxmlformats.org/drawingml/2006/main" noGrp="1"/>
          </p:cNvSpPr>
          <p:nvPr/>
        </p:nvSpPr>
        <p:spPr>
          <a:xfrm xmlns:a="http://schemas.openxmlformats.org/drawingml/2006/main">
            <a:off x="1619250" y="4219575"/>
            <a:ext cx="9906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59667C"/>
                </a:solidFill>
                <a:latin typeface="Segoe UI"/>
                <a:ea typeface="Segoe UI"/>
                <a:cs typeface="Segoe UI"/>
              </a:defRPr>
            </a:defPPr>
          </a:lstStyle>
          <a:p xmlns:a="http://schemas.openxmlformats.org/drawingml/2006/main">
            <a:pPr>
              <a:defRPr sz="1725" b="0">
                <a:solidFill>
                  <a:srgbClr val="59667C"/>
                </a:solidFill>
                <a:latin typeface="Segoe UI"/>
                <a:ea typeface="Segoe UI"/>
                <a:cs typeface="Segoe UI"/>
              </a:defRPr>
            </a:pPr>
            <a:r>
              <a:rPr sz="1725" b="0">
                <a:solidFill>
                  <a:srgbClr val="59667C"/>
                </a:solidFill>
                <a:latin typeface="Segoe UI"/>
                <a:ea typeface="Segoe UI"/>
                <a:cs typeface="Segoe UI"/>
              </a:rPr>
              <a:t>Parser generation from annotated context-free grammars.</a:t>
            </a:r>
          </a:p>
        </p:txBody>
      </p:sp>
      <p:sp>
        <p:nvSpPr>
          <p:cNvPr id="14" name="">
            <a:extLst xmlns:a="http://schemas.openxmlformats.org/drawingml/2006/main">
              <a:ext uri="{FF2B5EF4-FFF2-40B4-BE49-F238E27FC236}">
                <a16:creationId xmlns:a16="http://schemas.microsoft.com/office/drawing/2014/main" id="{232582D4-E020-4516-A1C1-D50126633509}"/>
              </a:ext>
            </a:extLst>
          </p:cNvPr>
          <p:cNvSpPr>
            <a:spLocks xmlns:a="http://schemas.openxmlformats.org/drawingml/2006/main" noGrp="1"/>
          </p:cNvSpPr>
          <p:nvPr/>
        </p:nvSpPr>
        <p:spPr>
          <a:xfrm xmlns:a="http://schemas.openxmlformats.org/drawingml/2006/main">
            <a:off x="1619250" y="4543425"/>
            <a:ext cx="990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59667C"/>
                </a:solidFill>
                <a:latin typeface="Segoe UI"/>
                <a:ea typeface="Segoe UI"/>
                <a:cs typeface="Segoe UI"/>
              </a:defRPr>
            </a:defPPr>
          </a:lstStyle>
          <a:p xmlns:a="http://schemas.openxmlformats.org/drawingml/2006/main">
            <a:pPr>
              <a:defRPr sz="1500" b="0">
                <a:solidFill>
                  <a:srgbClr val="59667C"/>
                </a:solidFill>
                <a:latin typeface="Segoe UI"/>
                <a:ea typeface="Segoe UI"/>
                <a:cs typeface="Segoe UI"/>
              </a:defRPr>
            </a:pPr>
            <a:r>
              <a:rPr sz="1500" b="0">
                <a:solidFill>
                  <a:srgbClr val="59667C"/>
                </a:solidFill>
                <a:latin typeface="Segoe UI"/>
                <a:ea typeface="Segoe UI"/>
                <a:cs typeface="Segoe UI"/>
              </a:rPr>
              <a:t>https://www.gnu.org/s/bison/manual/bison.html</a:t>
            </a:r>
          </a:p>
        </p:txBody>
      </p:sp>
      <p:sp>
        <p:nvSpPr>
          <p:cNvPr id="15" name="">
            <a:extLst xmlns:a="http://schemas.openxmlformats.org/drawingml/2006/main">
              <a:ext uri="{FF2B5EF4-FFF2-40B4-BE49-F238E27FC236}">
                <a16:creationId xmlns:a16="http://schemas.microsoft.com/office/drawing/2014/main" id="{EEAF29B2-6A40-4975-8F05-722C8E9A0333}"/>
              </a:ext>
            </a:extLst>
          </p:cNvPr>
          <p:cNvSpPr>
            <a:spLocks xmlns:a="http://schemas.openxmlformats.org/drawingml/2006/main" noGrp="1"/>
          </p:cNvSpPr>
          <p:nvPr/>
        </p:nvSpPr>
        <p:spPr>
          <a:xfrm xmlns:a="http://schemas.openxmlformats.org/drawingml/2006/main">
            <a:off x="609600" y="4924425"/>
            <a:ext cx="7429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315EF4"/>
                </a:solidFill>
                <a:latin typeface="Segoe UI"/>
                <a:ea typeface="Segoe UI"/>
                <a:cs typeface="Segoe UI"/>
              </a:defRPr>
            </a:defPPr>
          </a:lstStyle>
          <a:p xmlns:a="http://schemas.openxmlformats.org/drawingml/2006/main">
            <a:pPr>
              <a:defRPr sz="2400" b="0">
                <a:solidFill>
                  <a:srgbClr val="315EF4"/>
                </a:solidFill>
                <a:latin typeface="Segoe UI"/>
                <a:ea typeface="Segoe UI"/>
                <a:cs typeface="Segoe UI"/>
              </a:defRPr>
            </a:pPr>
            <a:r>
              <a:rPr sz="2400" b="0">
                <a:solidFill>
                  <a:srgbClr val="315EF4"/>
                </a:solidFill>
                <a:latin typeface="Segoe UI"/>
                <a:ea typeface="Segoe UI"/>
                <a:cs typeface="Segoe UI"/>
              </a:rPr>
              <a:t>04</a:t>
            </a:r>
          </a:p>
        </p:txBody>
      </p:sp>
      <p:sp>
        <p:nvSpPr>
          <p:cNvPr id="16" name="">
            <a:extLst xmlns:a="http://schemas.openxmlformats.org/drawingml/2006/main">
              <a:ext uri="{FF2B5EF4-FFF2-40B4-BE49-F238E27FC236}">
                <a16:creationId xmlns:a16="http://schemas.microsoft.com/office/drawing/2014/main" id="{927D4733-7E0C-410C-8979-659FDF43081E}"/>
              </a:ext>
            </a:extLst>
          </p:cNvPr>
          <p:cNvSpPr>
            <a:spLocks xmlns:a="http://schemas.openxmlformats.org/drawingml/2006/main" noGrp="1"/>
          </p:cNvSpPr>
          <p:nvPr/>
        </p:nvSpPr>
        <p:spPr>
          <a:xfrm xmlns:a="http://schemas.openxmlformats.org/drawingml/2006/main">
            <a:off x="1619250" y="4924425"/>
            <a:ext cx="9906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18253E"/>
                </a:solidFill>
                <a:latin typeface="Segoe UI"/>
                <a:ea typeface="Segoe UI"/>
                <a:cs typeface="Segoe UI"/>
              </a:defRPr>
            </a:defPPr>
          </a:lstStyle>
          <a:p xmlns:a="http://schemas.openxmlformats.org/drawingml/2006/main">
            <a:pPr>
              <a:defRPr sz="2025" b="1">
                <a:solidFill>
                  <a:srgbClr val="18253E"/>
                </a:solidFill>
                <a:latin typeface="Segoe UI"/>
                <a:ea typeface="Segoe UI"/>
                <a:cs typeface="Segoe UI"/>
              </a:defRPr>
            </a:pPr>
            <a:r>
              <a:rPr sz="2025" b="1">
                <a:solidFill>
                  <a:srgbClr val="18253E"/>
                </a:solidFill>
                <a:latin typeface="Segoe UI"/>
                <a:ea typeface="Segoe UI"/>
                <a:cs typeface="Segoe UI"/>
              </a:rPr>
              <a:t>Official GCC documentation</a:t>
            </a:r>
          </a:p>
        </p:txBody>
      </p:sp>
      <p:sp>
        <p:nvSpPr>
          <p:cNvPr id="17" name="">
            <a:extLst xmlns:a="http://schemas.openxmlformats.org/drawingml/2006/main">
              <a:ext uri="{FF2B5EF4-FFF2-40B4-BE49-F238E27FC236}">
                <a16:creationId xmlns:a16="http://schemas.microsoft.com/office/drawing/2014/main" id="{68891440-125F-4807-9C4B-97700B9AB372}"/>
              </a:ext>
            </a:extLst>
          </p:cNvPr>
          <p:cNvSpPr>
            <a:spLocks xmlns:a="http://schemas.openxmlformats.org/drawingml/2006/main" noGrp="1"/>
          </p:cNvSpPr>
          <p:nvPr/>
        </p:nvSpPr>
        <p:spPr>
          <a:xfrm xmlns:a="http://schemas.openxmlformats.org/drawingml/2006/main">
            <a:off x="1619250" y="5334000"/>
            <a:ext cx="9906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59667C"/>
                </a:solidFill>
                <a:latin typeface="Segoe UI"/>
                <a:ea typeface="Segoe UI"/>
                <a:cs typeface="Segoe UI"/>
              </a:defRPr>
            </a:defPPr>
          </a:lstStyle>
          <a:p xmlns:a="http://schemas.openxmlformats.org/drawingml/2006/main">
            <a:pPr>
              <a:defRPr sz="1725" b="0">
                <a:solidFill>
                  <a:srgbClr val="59667C"/>
                </a:solidFill>
                <a:latin typeface="Segoe UI"/>
                <a:ea typeface="Segoe UI"/>
                <a:cs typeface="Segoe UI"/>
              </a:defRPr>
            </a:pPr>
            <a:r>
              <a:rPr sz="1725" b="0">
                <a:solidFill>
                  <a:srgbClr val="59667C"/>
                </a:solidFill>
                <a:latin typeface="Segoe UI"/>
                <a:ea typeface="Segoe UI"/>
                <a:cs typeface="Segoe UI"/>
              </a:rPr>
              <a:t>Compilation stages and executable generation.</a:t>
            </a:r>
          </a:p>
        </p:txBody>
      </p:sp>
      <p:sp>
        <p:nvSpPr>
          <p:cNvPr id="18" name="">
            <a:extLst xmlns:a="http://schemas.openxmlformats.org/drawingml/2006/main">
              <a:ext uri="{FF2B5EF4-FFF2-40B4-BE49-F238E27FC236}">
                <a16:creationId xmlns:a16="http://schemas.microsoft.com/office/drawing/2014/main" id="{CA9DEE46-CE25-45CA-B738-BEC7B252B666}"/>
              </a:ext>
            </a:extLst>
          </p:cNvPr>
          <p:cNvSpPr>
            <a:spLocks xmlns:a="http://schemas.openxmlformats.org/drawingml/2006/main" noGrp="1"/>
          </p:cNvSpPr>
          <p:nvPr/>
        </p:nvSpPr>
        <p:spPr>
          <a:xfrm xmlns:a="http://schemas.openxmlformats.org/drawingml/2006/main">
            <a:off x="1619250" y="5657850"/>
            <a:ext cx="990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59667C"/>
                </a:solidFill>
                <a:latin typeface="Segoe UI"/>
                <a:ea typeface="Segoe UI"/>
                <a:cs typeface="Segoe UI"/>
              </a:defRPr>
            </a:defPPr>
          </a:lstStyle>
          <a:p xmlns:a="http://schemas.openxmlformats.org/drawingml/2006/main">
            <a:pPr>
              <a:defRPr sz="1500" b="0">
                <a:solidFill>
                  <a:srgbClr val="59667C"/>
                </a:solidFill>
                <a:latin typeface="Segoe UI"/>
                <a:ea typeface="Segoe UI"/>
                <a:cs typeface="Segoe UI"/>
              </a:defRPr>
            </a:pPr>
            <a:r>
              <a:rPr sz="1500" b="0">
                <a:solidFill>
                  <a:srgbClr val="59667C"/>
                </a:solidFill>
                <a:latin typeface="Segoe UI"/>
                <a:ea typeface="Segoe UI"/>
                <a:cs typeface="Segoe UI"/>
              </a:rPr>
              <a:t>https://gcc.gnu.org/onlinedocs/gcc/Overall-Options.html</a:t>
            </a:r>
          </a:p>
        </p:txBody>
      </p:sp>
    </p:spTree>
    <p:extLst>
      <p:ext uri="{BB962C8B-B14F-4D97-AF65-F5344CB8AC3E}">
        <p14:creationId xmlns:p14="http://schemas.microsoft.com/office/powerpoint/2010/main" val="154539195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2026-10-08T07:16:50.4290000Z</dcterms:created>
  <dcterms:modified xsi:type="dcterms:W3CDTF">2026-10-08T07:16:50.4290000Z</dcterms:modified>
</coreProperties>
</file>
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2e6f12448e4c7f" /><Relationship Type="http://schemas.openxmlformats.org/officeDocument/2006/relationships/extended-properties" Target="/docProps/app.xml" Id="R4eca897a2a5942ed" /><Relationship Type="http://schemas.openxmlformats.org/officeDocument/2006/relationships/officeDocument" Target="/ppt/presentation.xml" Id="R6947cd2f34d64218" /></Relationships>
</file>

<file path=ppt/presentation.xml><?xml version="1.0" encoding="utf-8"?>
<p:presentation xmlns:p="http://schemas.openxmlformats.org/presentationml/2006/main">
  <p:sldMasterIdLst>
    <p:sldMasterId xmlns:r="http://schemas.openxmlformats.org/officeDocument/2006/relationships" id="2147483648" r:id="R9861aca1945e467f"/>
  </p:sldMasterIdLst>
  <p:notesMasterIdLst>
    <p:notesMasterId xmlns:r="http://schemas.openxmlformats.org/officeDocument/2006/relationships" r:id="R3594d87422cc4adf"/>
  </p:notesMasterIdLst>
  <p:sldIdLst>
    <p:sldId xmlns:r="http://schemas.openxmlformats.org/officeDocument/2006/relationships" id="256" r:id="R0dfbdf7ab20344b6"/>
    <p:sldId xmlns:r="http://schemas.openxmlformats.org/officeDocument/2006/relationships" id="257" r:id="R1ee94a2d5ad94e51"/>
    <p:sldId xmlns:r="http://schemas.openxmlformats.org/officeDocument/2006/relationships" id="258" r:id="R3f400f00948c4e97"/>
    <p:sldId xmlns:r="http://schemas.openxmlformats.org/officeDocument/2006/relationships" id="259" r:id="Rc0bde7c3477f45e0"/>
    <p:sldId xmlns:r="http://schemas.openxmlformats.org/officeDocument/2006/relationships" id="260" r:id="Rc3e3d0347d9e48fb"/>
    <p:sldId xmlns:r="http://schemas.openxmlformats.org/officeDocument/2006/relationships" id="261" r:id="R2c2ca8e4e09d4a50"/>
    <p:sldId xmlns:r="http://schemas.openxmlformats.org/officeDocument/2006/relationships" id="262" r:id="R7406234eb4e14fd0"/>
    <p:sldId xmlns:r="http://schemas.openxmlformats.org/officeDocument/2006/relationships" id="263" r:id="R73becbc2fde548ab"/>
    <p:sldId xmlns:r="http://schemas.openxmlformats.org/officeDocument/2006/relationships" id="264" r:id="R40df7126a193405d"/>
    <p:sldId xmlns:r="http://schemas.openxmlformats.org/officeDocument/2006/relationships" id="265" r:id="Rf0dbe74909c94e17"/>
    <p:sldId xmlns:r="http://schemas.openxmlformats.org/officeDocument/2006/relationships" id="266" r:id="R0e77f1197ca74a84"/>
    <p:sldId xmlns:r="http://schemas.openxmlformats.org/officeDocument/2006/relationships" id="267" r:id="R5c3b26821a2c4bed"/>
    <p:sldId xmlns:r="http://schemas.openxmlformats.org/officeDocument/2006/relationships" id="268" r:id="Rf0a7400a00954177"/>
    <p:sldId xmlns:r="http://schemas.openxmlformats.org/officeDocument/2006/relationships" id="269" r:id="Rbc71d5b7c30f4736"/>
    <p:sldId xmlns:r="http://schemas.openxmlformats.org/officeDocument/2006/relationships" id="270" r:id="Rde157f1fe3884286"/>
    <p:sldId xmlns:r="http://schemas.openxmlformats.org/officeDocument/2006/relationships" id="271" r:id="R36aa135920ef44c0"/>
    <p:sldId xmlns:r="http://schemas.openxmlformats.org/officeDocument/2006/relationships" id="272" r:id="R6102006fcef44269"/>
    <p:sldId xmlns:r="http://schemas.openxmlformats.org/officeDocument/2006/relationships" id="273" r:id="Rc3e4bde1c71b4550"/>
    <p:sldId xmlns:r="http://schemas.openxmlformats.org/officeDocument/2006/relationships" id="274" r:id="Rfc8ec0518bd048f9"/>
    <p:sldId xmlns:r="http://schemas.openxmlformats.org/officeDocument/2006/relationships" id="275" r:id="R06404e51982042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1d589f72444dcc" /><Relationship Type="http://schemas.openxmlformats.org/officeDocument/2006/relationships/slideMaster" Target="/ppt/slideMasters/slideMaster1.xml" Id="R9861aca1945e467f" /><Relationship Type="http://schemas.openxmlformats.org/officeDocument/2006/relationships/notesMaster" Target="/ppt/notesMasters/notesMaster1.xml" Id="R3594d87422cc4adf" /><Relationship Type="http://schemas.openxmlformats.org/officeDocument/2006/relationships/presProps" Target="/ppt/presProps.xml" Id="Rf6970bcd9fda4358" /><Relationship Type="http://schemas.openxmlformats.org/officeDocument/2006/relationships/tableStyles" Target="/ppt/tableStyles.xml" Id="R428acceb4b7e4912" /><Relationship Type="http://schemas.openxmlformats.org/officeDocument/2006/relationships/slide" Target="/ppt/slides/slide1.xml" Id="R0dfbdf7ab20344b6" /><Relationship Type="http://schemas.openxmlformats.org/officeDocument/2006/relationships/slide" Target="/ppt/slides/slide2.xml" Id="R1ee94a2d5ad94e51" /><Relationship Type="http://schemas.openxmlformats.org/officeDocument/2006/relationships/slide" Target="/ppt/slides/slide3.xml" Id="R3f400f00948c4e97" /><Relationship Type="http://schemas.openxmlformats.org/officeDocument/2006/relationships/slide" Target="/ppt/slides/slide4.xml" Id="Rc0bde7c3477f45e0" /><Relationship Type="http://schemas.openxmlformats.org/officeDocument/2006/relationships/slide" Target="/ppt/slides/slide5.xml" Id="Rc3e3d0347d9e48fb" /><Relationship Type="http://schemas.openxmlformats.org/officeDocument/2006/relationships/slide" Target="/ppt/slides/slide6.xml" Id="R2c2ca8e4e09d4a50" /><Relationship Type="http://schemas.openxmlformats.org/officeDocument/2006/relationships/slide" Target="/ppt/slides/slide7.xml" Id="R7406234eb4e14fd0" /><Relationship Type="http://schemas.openxmlformats.org/officeDocument/2006/relationships/slide" Target="/ppt/slides/slide8.xml" Id="R73becbc2fde548ab" /><Relationship Type="http://schemas.openxmlformats.org/officeDocument/2006/relationships/slide" Target="/ppt/slides/slide9.xml" Id="R40df7126a193405d" /><Relationship Type="http://schemas.openxmlformats.org/officeDocument/2006/relationships/slide" Target="/ppt/slides/slide10.xml" Id="Rf0dbe74909c94e17" /><Relationship Type="http://schemas.openxmlformats.org/officeDocument/2006/relationships/slide" Target="/ppt/slides/slide11.xml" Id="R0e77f1197ca74a84" /><Relationship Type="http://schemas.openxmlformats.org/officeDocument/2006/relationships/slide" Target="/ppt/slides/slide12.xml" Id="R5c3b26821a2c4bed" /><Relationship Type="http://schemas.openxmlformats.org/officeDocument/2006/relationships/slide" Target="/ppt/slides/slide13.xml" Id="Rf0a7400a00954177" /><Relationship Type="http://schemas.openxmlformats.org/officeDocument/2006/relationships/slide" Target="/ppt/slides/slide14.xml" Id="Rbc71d5b7c30f4736" /><Relationship Type="http://schemas.openxmlformats.org/officeDocument/2006/relationships/slide" Target="/ppt/slides/slide15.xml" Id="Rde157f1fe3884286" /><Relationship Type="http://schemas.openxmlformats.org/officeDocument/2006/relationships/slide" Target="/ppt/slides/slide16.xml" Id="R36aa135920ef44c0" /><Relationship Type="http://schemas.openxmlformats.org/officeDocument/2006/relationships/slide" Target="/ppt/slides/slide17.xml" Id="R6102006fcef44269" /><Relationship Type="http://schemas.openxmlformats.org/officeDocument/2006/relationships/slide" Target="/ppt/slides/slide18.xml" Id="Rc3e4bde1c71b4550" /><Relationship Type="http://schemas.openxmlformats.org/officeDocument/2006/relationships/slide" Target="/ppt/slides/slide19.xml" Id="Rfc8ec0518bd048f9" /><Relationship Type="http://schemas.openxmlformats.org/officeDocument/2006/relationships/slide" Target="/ppt/slides/slide20.xml" Id="R06404e519820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17fd150cf743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77fd1c4668481d" /><Relationship Type="http://schemas.openxmlformats.org/officeDocument/2006/relationships/notesMaster" Target="/ppt/notesMasters/notesMaster1.xml" Id="R4bcd867a1a2f42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13758b5cb947b0" /><Relationship Type="http://schemas.openxmlformats.org/officeDocument/2006/relationships/notesMaster" Target="/ppt/notesMasters/notesMaster1.xml" Id="Rbf2393b582a84f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f3c5d164bc4a94" /><Relationship Type="http://schemas.openxmlformats.org/officeDocument/2006/relationships/notesMaster" Target="/ppt/notesMasters/notesMaster1.xml" Id="R48d61b1fa8424f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c01979ca3f4ccf" /><Relationship Type="http://schemas.openxmlformats.org/officeDocument/2006/relationships/notesMaster" Target="/ppt/notesMasters/notesMaster1.xml" Id="R080de63760524d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bb1310f474eed" /><Relationship Type="http://schemas.openxmlformats.org/officeDocument/2006/relationships/notesMaster" Target="/ppt/notesMasters/notesMaster1.xml" Id="R2c656b4f90c045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598ee6746942a6" /><Relationship Type="http://schemas.openxmlformats.org/officeDocument/2006/relationships/notesMaster" Target="/ppt/notesMasters/notesMaster1.xml" Id="R57b5b9a57af0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42a8494f9649b0" /><Relationship Type="http://schemas.openxmlformats.org/officeDocument/2006/relationships/notesMaster" Target="/ppt/notesMasters/notesMaster1.xml" Id="Rd75ce210a6a844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3f3f44b8ba4d6f" /><Relationship Type="http://schemas.openxmlformats.org/officeDocument/2006/relationships/notesMaster" Target="/ppt/notesMasters/notesMaster1.xml" Id="Ra37ac66dd5fd48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1d13abd56241d5" /><Relationship Type="http://schemas.openxmlformats.org/officeDocument/2006/relationships/notesMaster" Target="/ppt/notesMasters/notesMaster1.xml" Id="R31e86146749d4f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84b04e784042a1" /><Relationship Type="http://schemas.openxmlformats.org/officeDocument/2006/relationships/notesMaster" Target="/ppt/notesMasters/notesMaster1.xml" Id="Rbfe22434194c4e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a87881724c4f84" /><Relationship Type="http://schemas.openxmlformats.org/officeDocument/2006/relationships/notesMaster" Target="/ppt/notesMasters/notesMaster1.xml" Id="R812f5fb1160b46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75f8ff426942c0" /><Relationship Type="http://schemas.openxmlformats.org/officeDocument/2006/relationships/notesMaster" Target="/ppt/notesMasters/notesMaster1.xml" Id="R73288e09cde54a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a29e8f92ff4c4f" /><Relationship Type="http://schemas.openxmlformats.org/officeDocument/2006/relationships/notesMaster" Target="/ppt/notesMasters/notesMaster1.xml" Id="R377060a6f89547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bdb5836291426a" /><Relationship Type="http://schemas.openxmlformats.org/officeDocument/2006/relationships/notesMaster" Target="/ppt/notesMasters/notesMaster1.xml" Id="R636a919c60634a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17f954d4764c9a" /><Relationship Type="http://schemas.openxmlformats.org/officeDocument/2006/relationships/notesMaster" Target="/ppt/notesMasters/notesMaster1.xml" Id="Raa22183310284e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50cca2a01d4b4d" /><Relationship Type="http://schemas.openxmlformats.org/officeDocument/2006/relationships/notesMaster" Target="/ppt/notesMasters/notesMaster1.xml" Id="R4bdbf5b6ae3142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849f45e1944960" /><Relationship Type="http://schemas.openxmlformats.org/officeDocument/2006/relationships/notesMaster" Target="/ppt/notesMasters/notesMaster1.xml" Id="R15c2a353cf7f44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b6742f78b7472a" /><Relationship Type="http://schemas.openxmlformats.org/officeDocument/2006/relationships/notesMaster" Target="/ppt/notesMasters/notesMaster1.xml" Id="R75e577f3b07e49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15fd8ddac045e9" /><Relationship Type="http://schemas.openxmlformats.org/officeDocument/2006/relationships/notesMaster" Target="/ppt/notesMasters/notesMaster1.xml" Id="R43bb8b75ad944f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9066862b244c2d" /><Relationship Type="http://schemas.openxmlformats.org/officeDocument/2006/relationships/notesMaster" Target="/ppt/notesMasters/notesMaster1.xml" Id="Re85aff8bb1ae42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Lexora is a browser-based workbench for compiler-design assignments. It runs real Flex and Bison specifications and provides a separate educational analysis of program input. Suggested presentation duration: 12–15 minutes. Implementation sources: README.md; frontend/src/App.jsx; backend/services/compiler.js; backend/services/inputAnalysis.js.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the project motivation, not findings from a user study. Traditional tool workflows require several commands and do not automatically supply the educational views implemented in Lexora.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objective using a demonstrable feature. Educational analysis is restricted to the built-in C subset. No measured learning improvement is claimed. Implementation sources: README.md; frontend/src/App.jsx; backend/services/compiler.js; backend/services/inputAnalysis.js.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Aho, Lam, Sethi and Ullman. Compilers: Principles, Techniques, and Tools, 2nd ed., Addison-Wesley, 2007. https://www.cs.columbia.edu/~aho/books.html and course outline https://www.cs.columbia.edu/~aho/cs4115/</a:t>
            </a:r>
          </a:p>
          <a:p xmlns:a="http://schemas.openxmlformats.org/drawingml/2006/main">
            <a:r>
              <a:t>[2] Flex manual, Introduction. https://westes.github.io/flex/manual/Introduction.html</a:t>
            </a:r>
          </a:p>
          <a:p xmlns:a="http://schemas.openxmlformats.org/drawingml/2006/main">
            <a:r>
              <a:t>[3] GNU Bison manual, Introduction and LR Table Construction. https://www.gnu.org/s/bison/manual/bison.html</a:t>
            </a:r>
          </a:p>
          <a:p xmlns:a="http://schemas.openxmlformats.org/drawingml/2006/main">
            <a:r>
              <a:t>[4] GCC manual, Overall Options. https://gcc.gnu.org/onlinedocs/gcc/Overall-Options.html</a:t>
            </a:r>
          </a:p>
          <a:p xmlns:a="http://schemas.openxmlformats.org/drawingml/2006/main">
            <a:r>
              <a:t>The last column describes how Lexora applies the sources, not claims of shortcomings in the literature.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novelty at the integration and educational workflow level. The project does not invent Flex, Bison, parsing, TAC, or optimization algorithms. Comparison is a design interpretation, not a benchmark or exhaustive market survey. Implementation sources: README.md; frontend/src/App.jsx; backend/services/compiler.js; backend/services/inputAnalysis.js.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development topology. Vite serves port 3000 and proxies /api to Express on port 3001. The compiler runs in WSL Ubuntu on Windows or native Bash on Linux. The JavaScript educational analyzer runs in the Node backend. Browser localStorage is local to that browser origin. Sources: frontend/vite.config.js; frontend/src/App.jsx; backend/server.js; backend/services/wslRunner.js; backend/services/compiler.js.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compilation has two conceptual result paths. In the implementation analyzeInput runs before the native toolchain steps. They are separate computations, not concurrent processes. Invalid requests stop in validation before compiler orchestration. Temporary-directory cleanup runs in finally before the route returns JSON. Sources: frontend/src/App.jsx; backend/routes/compile.js; backend/middleware/validator.js; backend/services/compiler.js.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frontend/src/App.jsx (lexora.workspace.v2, lexora.theme, result state); backend/services/tempDir.js (os.tmpdir and lexora-UUID); backend/services/compiler.js; frontend/src/services/files.js. Browser storage survives reloads when available, but clearing site data removes it. It is not cloud sync. Temporary cleanup is attempted in finally; failures are logged. No application database is configured.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Windows example path is schematic, based on os.tmpdir(). The same Windows directory is exposed to Linux through /mnt/c. On Linux the path remains a native path. Source .l and .y line endings normalize to LF. input.txt preserves user input exactly. Cleanup is attempted on success and failure. Sources: backend/services/tempDir.js; backend/services/wslRunner.js; backend/services/compiler.js.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combined-mode order: flex lex.l; bison -d parser.y; normalize references such as y.tab.h to parser.tab.h and regenerate Flex; gcc -o compiler lex.yy.c parser.tab.c -lfl -lm; ./compiler &lt; input.txt. Bison defaults to LALR(1), while supporting other parser table types when requested. Sources: backend/services/compiler.js; https://westes.github.io/flex/manual/Introduction.html; https://www.gnu.org/s/bison/manual/bison.html; https://gcc.gnu.org/onlinedocs/gcc/Overall-Options.html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prevents a misleading claim that arbitrary user grammars automatically produce all educational outputs. analyzeInput reads inputCode with Lexora’s own tokenizer and recursive-descent parser. The educational TAC never feeds GCC. Native diagnostics remain authoritative for the user-supplied program. Sources: README.md; backend/services/inputAnalysis.js; backend/services/compiler.js.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computes tokens and then parseAST(input), whose parser handles its own tokenization. This diagram shows the conceptual learning phases. Semantic analysis and TAC both use the AST. Basic blocks use original TAC. Sources: backend/services/inputAnalysis.js; tokenExtractor.js; astGenerator.js; semanticAnalyzer.js; tacGenerator.js; optimizer.js; basicBlocks.js.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directly using analyzeInput("int x = 2 + 3 * 4;"). Nine tokens. AST root is Declaration, datatype int, variable x. Expression has addition at root and multiplication in the right branch. Symbol x has type int, kind variable, global scope, declared true and used false. This is educational analysis, not a claim that the calculator grammar accepts C declarations. Source: backend/services/inputAnalysis.js.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output of analyzeInput("int x = 2 + 3 * 4;"). Original TAC: t1 = 3 * 4; t2 = 2 + t1; x = t2. Optimized TAC: t1 = 12; t2 = 14; x = 14. The optimizer retains three assignments in this example, so do not claim instruction-count reduction or measured speedup. Source: backend/services/optimizer.js and observed analyzer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Versions derive from package.json dependency ranges, not installed-version measurements. Frontend uses React 19 and Vite 8, superseding older architecture notes mentioning React 18. Avoid claiming exact toolchain versions unless measured on the demonstration machine. Sources: frontend/package.json; backend/package.json; backend/services/wslRunner.js; 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using backend/services/compiler.js with the bundled examples/calculator/calculator.l and calculator.y and exact stdin "3 + 5 * 2\n". Observed success true, stdout "13\n", no errors. Saved observation in private build files. The grammar requires EOL after each expression, so keep the trailing newline. This is an actual backend result, not a UI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command: node --test backend/analysis.test.js frontend/files.test.js. Results: 14 tests passed, 0 failed. This is a selected suite, not a claim that all repository tests ran. It includes some native lexer integration checks. Also verified calculator compilation separately. Repository regression tests cover additional modes, timeouts and request errors but were not rerun for this deck. Sources: test output; backend/services/wslRunner.js; backend/middleware/validator.js.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limits describe actual implementation boundaries. This is a trusted local workbench. Native C actions execute with backend-user privileges. WSL, timeouts and per-job folders are not a security sandbox. Public untrusted submissions require real isolation. Sources: README.md; backend/services/wslRunner.js. Future work is proposed,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linking the project back to its objective: a student can submit real specifications, see native results, and examine compiler concepts in the same interface. Emphasize integration as the contribution. Invite questions about the separate analysis pipeline, storage or generated files. Implementation sources: README.md; frontend/src/App.jsx; backend/services/compiler.js; backend/services/inputAnalysis.js.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references accessed 8 October 2026. Full URLs appear here and in relevant slide notes. The local implementation is the primary evidence for all Lexora-specific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e04950c7fa4a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571dfa6d884e2e" /><Relationship Type="http://schemas.openxmlformats.org/officeDocument/2006/relationships/slideLayout" Target="/ppt/slideLayouts/slideLayout1.xml" Id="R473213a3f3bc43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3213a3f3bc43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02d4daf5044b0e" /><Relationship Type="http://schemas.openxmlformats.org/officeDocument/2006/relationships/notesSlide" Target="/ppt/notesSlides/notesSlide1.xml" Id="Raf556c171f3f4b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bed01eb277475b" /><Relationship Type="http://schemas.openxmlformats.org/officeDocument/2006/relationships/notesSlide" Target="/ppt/notesSlides/notesSlide2.xml" Id="R298f47c324c04a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6251ce5c284c32" /><Relationship Type="http://schemas.openxmlformats.org/officeDocument/2006/relationships/notesSlide" Target="/ppt/notesSlides/notesSlide3.xml" Id="R75d178cafeb74d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40860238f14e6a" /><Relationship Type="http://schemas.openxmlformats.org/officeDocument/2006/relationships/notesSlide" Target="/ppt/notesSlides/notesSlide4.xml" Id="Red82488ceb6b47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141df4d85746ea" /><Relationship Type="http://schemas.openxmlformats.org/officeDocument/2006/relationships/notesSlide" Target="/ppt/notesSlides/notesSlide5.xml" Id="R8fa7eae965eb48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f500d2638842bc" /><Relationship Type="http://schemas.openxmlformats.org/officeDocument/2006/relationships/notesSlide" Target="/ppt/notesSlides/notesSlide6.xml" Id="Rd6ebdfa711aa42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34c7240bef4f70" /><Relationship Type="http://schemas.openxmlformats.org/officeDocument/2006/relationships/notesSlide" Target="/ppt/notesSlides/notesSlide7.xml" Id="R38ef801070d844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18d4ddff884d1d" /><Relationship Type="http://schemas.openxmlformats.org/officeDocument/2006/relationships/notesSlide" Target="/ppt/notesSlides/notesSlide8.xml" Id="R0defd945d6d44f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28440d8a20401d" /><Relationship Type="http://schemas.openxmlformats.org/officeDocument/2006/relationships/notesSlide" Target="/ppt/notesSlides/notesSlide9.xml" Id="Ra22d33acd86043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d46e1b893c4dc0" /><Relationship Type="http://schemas.openxmlformats.org/officeDocument/2006/relationships/notesSlide" Target="/ppt/notesSlides/notesSlide10.xml" Id="R3420d333f6034a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47714eb6864d86" /><Relationship Type="http://schemas.openxmlformats.org/officeDocument/2006/relationships/notesSlide" Target="/ppt/notesSlides/notesSlide11.xml" Id="Rae32775cc52b4b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897423d36c4598" /><Relationship Type="http://schemas.openxmlformats.org/officeDocument/2006/relationships/notesSlide" Target="/ppt/notesSlides/notesSlide12.xml" Id="Rb114493084514e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88a53997644028" /><Relationship Type="http://schemas.openxmlformats.org/officeDocument/2006/relationships/notesSlide" Target="/ppt/notesSlides/notesSlide13.xml" Id="R0995ca50862247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43d3af54a04115" /><Relationship Type="http://schemas.openxmlformats.org/officeDocument/2006/relationships/notesSlide" Target="/ppt/notesSlides/notesSlide14.xml" Id="Raedc3097a95742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ec0064237b4ecd" /><Relationship Type="http://schemas.openxmlformats.org/officeDocument/2006/relationships/notesSlide" Target="/ppt/notesSlides/notesSlide15.xml" Id="Rfaf8db6848034d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77bab7e1444e86" /><Relationship Type="http://schemas.openxmlformats.org/officeDocument/2006/relationships/notesSlide" Target="/ppt/notesSlides/notesSlide16.xml" Id="R84ef8165e3a843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165435578d14c30" /><Relationship Type="http://schemas.openxmlformats.org/officeDocument/2006/relationships/notesSlide" Target="/ppt/notesSlides/notesSlide17.xml" Id="R53db52c66c0e4c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cee6ddc1674746" /><Relationship Type="http://schemas.openxmlformats.org/officeDocument/2006/relationships/notesSlide" Target="/ppt/notesSlides/notesSlide18.xml" Id="R2adf8213e00c45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cd6c3393e654b19" /><Relationship Type="http://schemas.openxmlformats.org/officeDocument/2006/relationships/notesSlide" Target="/ppt/notesSlides/notesSlide19.xml" Id="Rdc6ed2efbdb248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c3c26805b544541" /><Relationship Type="http://schemas.openxmlformats.org/officeDocument/2006/relationships/notesSlide" Target="/ppt/notesSlides/notesSlide20.xml" Id="R852ebb27a53842b5" /></Relationships>
</file>

<file path=ppt/slides/slide1.xml><?xml version="1.0" encoding="utf-8"?>
<p:sld xmlns:p="http://schemas.openxmlformats.org/presentationml/2006/main">
  <p:cSld>
    <p:bg>
      <p:bgPr>
        <a:solidFill xmlns:a="http://schemas.openxmlformats.org/drawingml/2006/main">
          <a:srgbClr val="092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36A5DA-4C22-4EF6-A228-491B5A88630D}"/>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LEXORA</a:t>
            </a:r>
          </a:p>
        </p:txBody>
      </p:sp>
      <p:sp>
        <p:nvSpPr>
          <p:cNvPr id="2" name="">
            <a:extLst xmlns:a="http://schemas.openxmlformats.org/drawingml/2006/main">
              <a:ext uri="{FF2B5EF4-FFF2-40B4-BE49-F238E27FC236}">
                <a16:creationId xmlns:a16="http://schemas.microsoft.com/office/drawing/2014/main" id="{5137D421-0FD3-44F6-90D5-7EBAC6344C49}"/>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DE4DD"/>
                </a:solidFill>
                <a:latin typeface="Arial"/>
                <a:ea typeface="Arial"/>
                <a:cs typeface="Arial"/>
              </a:defRPr>
            </a:pPr>
            <a:r>
              <a:rPr sz="1125" b="1">
                <a:solidFill>
                  <a:srgbClr val="BDE4DD"/>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EED43783-DC29-411F-90FC-2C7B9C828BD9}"/>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DE4DD"/>
                </a:solidFill>
                <a:latin typeface="Arial"/>
                <a:ea typeface="Arial"/>
                <a:cs typeface="Arial"/>
              </a:defRPr>
            </a:pPr>
            <a:r>
              <a:rPr sz="1125" b="0">
                <a:solidFill>
                  <a:srgbClr val="BDE4D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12CD33F-B55E-4EEA-A17C-D1D71E342867}"/>
              </a:ext>
            </a:extLst>
          </p:cNvPr>
          <p:cNvSpPr>
            <a:spLocks xmlns:a="http://schemas.openxmlformats.org/drawingml/2006/main" noGrp="1"/>
          </p:cNvSpPr>
          <p:nvPr/>
        </p:nvSpPr>
        <p:spPr>
          <a:xfrm xmlns:a="http://schemas.openxmlformats.org/drawingml/2006/main">
            <a:off x="609600" y="19050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 visual workbench for</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compiler design</a:t>
            </a:r>
          </a:p>
        </p:txBody>
      </p:sp>
      <p:sp>
        <p:nvSpPr>
          <p:cNvPr id="5" name="">
            <a:extLst xmlns:a="http://schemas.openxmlformats.org/drawingml/2006/main">
              <a:ext uri="{FF2B5EF4-FFF2-40B4-BE49-F238E27FC236}">
                <a16:creationId xmlns:a16="http://schemas.microsoft.com/office/drawing/2014/main" id="{2D947305-DC3C-46DC-BE49-DCC239FA0FB9}"/>
              </a:ext>
            </a:extLst>
          </p:cNvPr>
          <p:cNvSpPr>
            <a:spLocks xmlns:a="http://schemas.openxmlformats.org/drawingml/2006/main" noGrp="1"/>
          </p:cNvSpPr>
          <p:nvPr/>
        </p:nvSpPr>
        <p:spPr>
          <a:xfrm xmlns:a="http://schemas.openxmlformats.org/drawingml/2006/main">
            <a:off x="647700" y="41719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DE4DD"/>
                </a:solidFill>
                <a:latin typeface="Arial"/>
                <a:ea typeface="Arial"/>
                <a:cs typeface="Arial"/>
              </a:defRPr>
            </a:pPr>
            <a:r>
              <a:rPr sz="2175" b="0">
                <a:solidFill>
                  <a:srgbClr val="BDE4DD"/>
                </a:solidFill>
                <a:latin typeface="Arial"/>
                <a:ea typeface="Arial"/>
                <a:cs typeface="Arial"/>
              </a:rPr>
              <a:t>Lex / Yacc execution and step-by-step input analysis</a:t>
            </a:r>
          </a:p>
        </p:txBody>
      </p:sp>
      <p:sp>
        <p:nvSpPr>
          <p:cNvPr id="6" name="">
            <a:extLst xmlns:a="http://schemas.openxmlformats.org/drawingml/2006/main">
              <a:ext uri="{FF2B5EF4-FFF2-40B4-BE49-F238E27FC236}">
                <a16:creationId xmlns:a16="http://schemas.microsoft.com/office/drawing/2014/main" id="{B6AFEF81-DD03-4DD4-A604-00624BEBE0AC}"/>
              </a:ext>
            </a:extLst>
          </p:cNvPr>
          <p:cNvSpPr>
            <a:spLocks xmlns:a="http://schemas.openxmlformats.org/drawingml/2006/main" noGrp="1"/>
          </p:cNvSpPr>
          <p:nvPr/>
        </p:nvSpPr>
        <p:spPr>
          <a:xfrm xmlns:a="http://schemas.openxmlformats.org/drawingml/2006/main">
            <a:off x="647700" y="53816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DE4DD"/>
                </a:solidFill>
                <a:latin typeface="Arial"/>
                <a:ea typeface="Arial"/>
                <a:cs typeface="Arial"/>
              </a:defRPr>
            </a:pPr>
            <a:r>
              <a:rPr sz="1800" b="0">
                <a:solidFill>
                  <a:srgbClr val="BDE4DD"/>
                </a:solidFill>
                <a:latin typeface="Arial"/>
                <a:ea typeface="Arial"/>
                <a:cs typeface="Arial"/>
              </a:rPr>
              <a:t>Compiler Design Project Presentation</a:t>
            </a:r>
          </a:p>
        </p:txBody>
      </p:sp>
    </p:spTree>
    <p:extLst>
      <p:ext uri="{BB962C8B-B14F-4D97-AF65-F5344CB8AC3E}">
        <p14:creationId xmlns:p14="http://schemas.microsoft.com/office/powerpoint/2010/main" val="51796682"/>
      </p:ext>
    </p:extLst>
  </p:cSld>
</p:sld>
</file>

<file path=ppt/slides/slide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BEBDD2-4E2A-4490-83B6-BA28423A9BDB}"/>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Problem identification</a:t>
            </a:r>
          </a:p>
        </p:txBody>
      </p:sp>
      <p:sp>
        <p:nvSpPr>
          <p:cNvPr id="2" name="">
            <a:extLst xmlns:a="http://schemas.openxmlformats.org/drawingml/2006/main">
              <a:ext uri="{FF2B5EF4-FFF2-40B4-BE49-F238E27FC236}">
                <a16:creationId xmlns:a16="http://schemas.microsoft.com/office/drawing/2014/main" id="{56F2212C-53F7-48EA-9899-7884FFB4733A}"/>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81B6B3F9-D522-47A0-A716-235ADCB75F1B}"/>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43F32E2-1D94-4130-BAB2-BB883D5D611E}"/>
              </a:ext>
            </a:extLst>
          </p:cNvPr>
          <p:cNvSpPr>
            <a:spLocks xmlns:a="http://schemas.openxmlformats.org/drawingml/2006/main" noGrp="1"/>
          </p:cNvSpPr>
          <p:nvPr/>
        </p:nvSpPr>
        <p:spPr>
          <a:xfrm xmlns:a="http://schemas.openxmlformats.org/drawingml/2006/main">
            <a:off x="609600" y="15906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Students need to connect compiler theory</a:t>
            </a:r>
          </a:p>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with a program they can actually run.</a:t>
            </a:r>
          </a:p>
        </p:txBody>
      </p:sp>
      <p:sp>
        <p:nvSpPr>
          <p:cNvPr id="5" name="">
            <a:extLst xmlns:a="http://schemas.openxmlformats.org/drawingml/2006/main">
              <a:ext uri="{FF2B5EF4-FFF2-40B4-BE49-F238E27FC236}">
                <a16:creationId xmlns:a16="http://schemas.microsoft.com/office/drawing/2014/main" id="{F23D35F6-7BD5-41EE-A9E6-0381120DAB8D}"/>
              </a:ext>
            </a:extLst>
          </p:cNvPr>
          <p:cNvSpPr>
            <a:spLocks xmlns:a="http://schemas.openxmlformats.org/drawingml/2006/main" noGrp="1"/>
          </p:cNvSpPr>
          <p:nvPr/>
        </p:nvSpPr>
        <p:spPr>
          <a:xfrm xmlns:a="http://schemas.openxmlformats.org/drawingml/2006/main">
            <a:off x="609600" y="30670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Tool setup</a:t>
            </a:r>
          </a:p>
        </p:txBody>
      </p:sp>
      <p:sp>
        <p:nvSpPr>
          <p:cNvPr id="6" name="">
            <a:extLst xmlns:a="http://schemas.openxmlformats.org/drawingml/2006/main">
              <a:ext uri="{FF2B5EF4-FFF2-40B4-BE49-F238E27FC236}">
                <a16:creationId xmlns:a16="http://schemas.microsoft.com/office/drawing/2014/main" id="{99B20665-0654-4697-8B69-E7BE9E64CAAC}"/>
              </a:ext>
            </a:extLst>
          </p:cNvPr>
          <p:cNvSpPr>
            <a:spLocks xmlns:a="http://schemas.openxmlformats.org/drawingml/2006/main" noGrp="1"/>
          </p:cNvSpPr>
          <p:nvPr/>
        </p:nvSpPr>
        <p:spPr>
          <a:xfrm xmlns:a="http://schemas.openxmlformats.org/drawingml/2006/main">
            <a:off x="609600" y="3581400"/>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Separate files, terminal commands, and generated C files make early experiments harder to follow.</a:t>
            </a:r>
          </a:p>
        </p:txBody>
      </p:sp>
      <p:sp>
        <p:nvSpPr>
          <p:cNvPr id="7" name="">
            <a:extLst xmlns:a="http://schemas.openxmlformats.org/drawingml/2006/main">
              <a:ext uri="{FF2B5EF4-FFF2-40B4-BE49-F238E27FC236}">
                <a16:creationId xmlns:a16="http://schemas.microsoft.com/office/drawing/2014/main" id="{87B794A0-0407-4F20-B0EF-D7F3E850D189}"/>
              </a:ext>
            </a:extLst>
          </p:cNvPr>
          <p:cNvSpPr>
            <a:spLocks xmlns:a="http://schemas.openxmlformats.org/drawingml/2006/main" noGrp="1"/>
          </p:cNvSpPr>
          <p:nvPr/>
        </p:nvSpPr>
        <p:spPr>
          <a:xfrm xmlns:a="http://schemas.openxmlformats.org/drawingml/2006/main">
            <a:off x="6400800" y="30670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Limited visibility</a:t>
            </a:r>
          </a:p>
        </p:txBody>
      </p:sp>
      <p:sp>
        <p:nvSpPr>
          <p:cNvPr id="8" name="">
            <a:extLst xmlns:a="http://schemas.openxmlformats.org/drawingml/2006/main">
              <a:ext uri="{FF2B5EF4-FFF2-40B4-BE49-F238E27FC236}">
                <a16:creationId xmlns:a16="http://schemas.microsoft.com/office/drawing/2014/main" id="{87E30CED-3964-4E1A-B280-7C8B83D2CA33}"/>
              </a:ext>
            </a:extLst>
          </p:cNvPr>
          <p:cNvSpPr>
            <a:spLocks xmlns:a="http://schemas.openxmlformats.org/drawingml/2006/main" noGrp="1"/>
          </p:cNvSpPr>
          <p:nvPr/>
        </p:nvSpPr>
        <p:spPr>
          <a:xfrm xmlns:a="http://schemas.openxmlformats.org/drawingml/2006/main">
            <a:off x="6400800" y="3581400"/>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Program output alone does not explain tokens, syntax structure, scopes, or intermediate code.</a:t>
            </a:r>
          </a:p>
        </p:txBody>
      </p:sp>
      <p:sp>
        <p:nvSpPr>
          <p:cNvPr id="9" name="">
            <a:extLst xmlns:a="http://schemas.openxmlformats.org/drawingml/2006/main">
              <a:ext uri="{FF2B5EF4-FFF2-40B4-BE49-F238E27FC236}">
                <a16:creationId xmlns:a16="http://schemas.microsoft.com/office/drawing/2014/main" id="{A1ED0B67-2FF1-4018-8D17-13327A11D811}"/>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Project need: one workspace for execution, diagnostics, and compiler-phase explanations.</a:t>
            </a:r>
          </a:p>
        </p:txBody>
      </p:sp>
    </p:spTree>
    <p:extLst>
      <p:ext uri="{BB962C8B-B14F-4D97-AF65-F5344CB8AC3E}">
        <p14:creationId xmlns:p14="http://schemas.microsoft.com/office/powerpoint/2010/main" val="821032141"/>
      </p:ext>
    </p:extLst>
  </p:cSld>
</p:sld>
</file>

<file path=ppt/slides/slide3.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2BA257-B142-4D26-BD81-19BB942E4156}"/>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458C5A21-6FDA-448B-9E73-A789AEC2FD52}"/>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D39D6E0C-01A5-429F-B132-77DD3384741F}"/>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EEE4108-F384-416D-B4E8-97B969F8EF37}"/>
              </a:ext>
            </a:extLst>
          </p:cNvPr>
          <p:cNvSpPr>
            <a:spLocks xmlns:a="http://schemas.openxmlformats.org/drawingml/2006/main" noGrp="1"/>
          </p:cNvSpPr>
          <p:nvPr/>
        </p:nvSpPr>
        <p:spPr>
          <a:xfrm xmlns:a="http://schemas.openxmlformats.org/drawingml/2006/main">
            <a:off x="609600" y="1571625"/>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D78"/>
                </a:solidFill>
                <a:latin typeface="Arial"/>
                <a:ea typeface="Arial"/>
                <a:cs typeface="Arial"/>
              </a:defRPr>
            </a:pPr>
            <a:r>
              <a:rPr sz="2700" b="1">
                <a:solidFill>
                  <a:srgbClr val="007D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1FE247D-843B-40A8-B3F8-CD1A06943B64}"/>
              </a:ext>
            </a:extLst>
          </p:cNvPr>
          <p:cNvSpPr>
            <a:spLocks xmlns:a="http://schemas.openxmlformats.org/drawingml/2006/main" noGrp="1"/>
          </p:cNvSpPr>
          <p:nvPr/>
        </p:nvSpPr>
        <p:spPr>
          <a:xfrm xmlns:a="http://schemas.openxmlformats.org/drawingml/2006/main">
            <a:off x="1524000" y="15716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Run real specifications</a:t>
            </a:r>
          </a:p>
        </p:txBody>
      </p:sp>
      <p:sp>
        <p:nvSpPr>
          <p:cNvPr id="6" name="">
            <a:extLst xmlns:a="http://schemas.openxmlformats.org/drawingml/2006/main">
              <a:ext uri="{FF2B5EF4-FFF2-40B4-BE49-F238E27FC236}">
                <a16:creationId xmlns:a16="http://schemas.microsoft.com/office/drawing/2014/main" id="{0B7A6DC1-423B-4B65-8F9F-3BD04E7D826E}"/>
              </a:ext>
            </a:extLst>
          </p:cNvPr>
          <p:cNvSpPr>
            <a:spLocks xmlns:a="http://schemas.openxmlformats.org/drawingml/2006/main" noGrp="1"/>
          </p:cNvSpPr>
          <p:nvPr/>
        </p:nvSpPr>
        <p:spPr>
          <a:xfrm xmlns:a="http://schemas.openxmlformats.org/drawingml/2006/main">
            <a:off x="1524000" y="19907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36"/>
                </a:solidFill>
                <a:latin typeface="Arial"/>
                <a:ea typeface="Arial"/>
                <a:cs typeface="Arial"/>
              </a:defRPr>
            </a:pPr>
            <a:r>
              <a:rPr sz="1875" b="0">
                <a:solidFill>
                  <a:srgbClr val="102B36"/>
                </a:solidFill>
                <a:latin typeface="Arial"/>
                <a:ea typeface="Arial"/>
                <a:cs typeface="Arial"/>
              </a:rPr>
              <a:t>Compile selected .l and .y files and execute them with user input.</a:t>
            </a:r>
          </a:p>
        </p:txBody>
      </p:sp>
      <p:sp>
        <p:nvSpPr>
          <p:cNvPr id="7" name="">
            <a:extLst xmlns:a="http://schemas.openxmlformats.org/drawingml/2006/main">
              <a:ext uri="{FF2B5EF4-FFF2-40B4-BE49-F238E27FC236}">
                <a16:creationId xmlns:a16="http://schemas.microsoft.com/office/drawing/2014/main" id="{F89D7010-6D08-4F9D-9024-313FEAF2FB82}"/>
              </a:ext>
            </a:extLst>
          </p:cNvPr>
          <p:cNvSpPr>
            <a:spLocks xmlns:a="http://schemas.openxmlformats.org/drawingml/2006/main" noGrp="1"/>
          </p:cNvSpPr>
          <p:nvPr/>
        </p:nvSpPr>
        <p:spPr>
          <a:xfrm xmlns:a="http://schemas.openxmlformats.org/drawingml/2006/main">
            <a:off x="609600" y="2619375"/>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D78"/>
                </a:solidFill>
                <a:latin typeface="Arial"/>
                <a:ea typeface="Arial"/>
                <a:cs typeface="Arial"/>
              </a:defRPr>
            </a:pPr>
            <a:r>
              <a:rPr sz="2700" b="1">
                <a:solidFill>
                  <a:srgbClr val="007D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CFBAA2F-315B-465A-8D6D-93048F864702}"/>
              </a:ext>
            </a:extLst>
          </p:cNvPr>
          <p:cNvSpPr>
            <a:spLocks xmlns:a="http://schemas.openxmlformats.org/drawingml/2006/main" noGrp="1"/>
          </p:cNvSpPr>
          <p:nvPr/>
        </p:nvSpPr>
        <p:spPr>
          <a:xfrm xmlns:a="http://schemas.openxmlformats.org/drawingml/2006/main">
            <a:off x="1524000" y="2619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Explain compiler phases</a:t>
            </a:r>
          </a:p>
        </p:txBody>
      </p:sp>
      <p:sp>
        <p:nvSpPr>
          <p:cNvPr id="9" name="">
            <a:extLst xmlns:a="http://schemas.openxmlformats.org/drawingml/2006/main">
              <a:ext uri="{FF2B5EF4-FFF2-40B4-BE49-F238E27FC236}">
                <a16:creationId xmlns:a16="http://schemas.microsoft.com/office/drawing/2014/main" id="{84EF1F0B-BD5F-4A56-9141-57C2216EE370}"/>
              </a:ext>
            </a:extLst>
          </p:cNvPr>
          <p:cNvSpPr>
            <a:spLocks xmlns:a="http://schemas.openxmlformats.org/drawingml/2006/main" noGrp="1"/>
          </p:cNvSpPr>
          <p:nvPr/>
        </p:nvSpPr>
        <p:spPr>
          <a:xfrm xmlns:a="http://schemas.openxmlformats.org/drawingml/2006/main">
            <a:off x="1524000" y="303847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36"/>
                </a:solidFill>
                <a:latin typeface="Arial"/>
                <a:ea typeface="Arial"/>
                <a:cs typeface="Arial"/>
              </a:defRPr>
            </a:pPr>
            <a:r>
              <a:rPr sz="1875" b="0">
                <a:solidFill>
                  <a:srgbClr val="102B36"/>
                </a:solidFill>
                <a:latin typeface="Arial"/>
                <a:ea typeface="Arial"/>
                <a:cs typeface="Arial"/>
              </a:rPr>
              <a:t>Expose tokens, AST, symbol table, TAC, optimization, and basic blocks.</a:t>
            </a:r>
          </a:p>
        </p:txBody>
      </p:sp>
      <p:sp>
        <p:nvSpPr>
          <p:cNvPr id="10" name="">
            <a:extLst xmlns:a="http://schemas.openxmlformats.org/drawingml/2006/main">
              <a:ext uri="{FF2B5EF4-FFF2-40B4-BE49-F238E27FC236}">
                <a16:creationId xmlns:a16="http://schemas.microsoft.com/office/drawing/2014/main" id="{0CB9B78F-0CFD-4C3E-9009-82698003326E}"/>
              </a:ext>
            </a:extLst>
          </p:cNvPr>
          <p:cNvSpPr>
            <a:spLocks xmlns:a="http://schemas.openxmlformats.org/drawingml/2006/main" noGrp="1"/>
          </p:cNvSpPr>
          <p:nvPr/>
        </p:nvSpPr>
        <p:spPr>
          <a:xfrm xmlns:a="http://schemas.openxmlformats.org/drawingml/2006/main">
            <a:off x="609600" y="3667125"/>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D78"/>
                </a:solidFill>
                <a:latin typeface="Arial"/>
                <a:ea typeface="Arial"/>
                <a:cs typeface="Arial"/>
              </a:defRPr>
            </a:pPr>
            <a:r>
              <a:rPr sz="2700" b="1">
                <a:solidFill>
                  <a:srgbClr val="007D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3AF4556-06F0-46D4-8E98-93E014EFB96B}"/>
              </a:ext>
            </a:extLst>
          </p:cNvPr>
          <p:cNvSpPr>
            <a:spLocks xmlns:a="http://schemas.openxmlformats.org/drawingml/2006/main" noGrp="1"/>
          </p:cNvSpPr>
          <p:nvPr/>
        </p:nvSpPr>
        <p:spPr>
          <a:xfrm xmlns:a="http://schemas.openxmlformats.org/drawingml/2006/main">
            <a:off x="1524000" y="36671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Make experiments repeatable</a:t>
            </a:r>
          </a:p>
        </p:txBody>
      </p:sp>
      <p:sp>
        <p:nvSpPr>
          <p:cNvPr id="12" name="">
            <a:extLst xmlns:a="http://schemas.openxmlformats.org/drawingml/2006/main">
              <a:ext uri="{FF2B5EF4-FFF2-40B4-BE49-F238E27FC236}">
                <a16:creationId xmlns:a16="http://schemas.microsoft.com/office/drawing/2014/main" id="{822E9EF6-50DB-4550-AF2A-95E31D0CA25A}"/>
              </a:ext>
            </a:extLst>
          </p:cNvPr>
          <p:cNvSpPr>
            <a:spLocks xmlns:a="http://schemas.openxmlformats.org/drawingml/2006/main" noGrp="1"/>
          </p:cNvSpPr>
          <p:nvPr/>
        </p:nvSpPr>
        <p:spPr>
          <a:xfrm xmlns:a="http://schemas.openxmlformats.org/drawingml/2006/main">
            <a:off x="1524000" y="40862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36"/>
                </a:solidFill>
                <a:latin typeface="Arial"/>
                <a:ea typeface="Arial"/>
                <a:cs typeface="Arial"/>
              </a:defRPr>
            </a:pPr>
            <a:r>
              <a:rPr sz="1875" b="0">
                <a:solidFill>
                  <a:srgbClr val="102B36"/>
                </a:solidFill>
                <a:latin typeface="Arial"/>
                <a:ea typeface="Arial"/>
                <a:cs typeface="Arial"/>
              </a:rPr>
              <a:t>Keep browser drafts and provide examples, uploads, and downloads.</a:t>
            </a:r>
          </a:p>
        </p:txBody>
      </p:sp>
      <p:sp>
        <p:nvSpPr>
          <p:cNvPr id="13" name="">
            <a:extLst xmlns:a="http://schemas.openxmlformats.org/drawingml/2006/main">
              <a:ext uri="{FF2B5EF4-FFF2-40B4-BE49-F238E27FC236}">
                <a16:creationId xmlns:a16="http://schemas.microsoft.com/office/drawing/2014/main" id="{B01E4A14-F202-4BEF-8DB6-D21C072A3133}"/>
              </a:ext>
            </a:extLst>
          </p:cNvPr>
          <p:cNvSpPr>
            <a:spLocks xmlns:a="http://schemas.openxmlformats.org/drawingml/2006/main" noGrp="1"/>
          </p:cNvSpPr>
          <p:nvPr/>
        </p:nvSpPr>
        <p:spPr>
          <a:xfrm xmlns:a="http://schemas.openxmlformats.org/drawingml/2006/main">
            <a:off x="609600" y="4714875"/>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D78"/>
                </a:solidFill>
                <a:latin typeface="Arial"/>
                <a:ea typeface="Arial"/>
                <a:cs typeface="Arial"/>
              </a:defRPr>
            </a:pPr>
            <a:r>
              <a:rPr sz="2700" b="1">
                <a:solidFill>
                  <a:srgbClr val="007D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F6A6C05-EB7C-4D03-875D-42538D439800}"/>
              </a:ext>
            </a:extLst>
          </p:cNvPr>
          <p:cNvSpPr>
            <a:spLocks xmlns:a="http://schemas.openxmlformats.org/drawingml/2006/main" noGrp="1"/>
          </p:cNvSpPr>
          <p:nvPr/>
        </p:nvSpPr>
        <p:spPr>
          <a:xfrm xmlns:a="http://schemas.openxmlformats.org/drawingml/2006/main">
            <a:off x="1524000" y="4714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Make failures understandable</a:t>
            </a:r>
          </a:p>
        </p:txBody>
      </p:sp>
      <p:sp>
        <p:nvSpPr>
          <p:cNvPr id="15" name="">
            <a:extLst xmlns:a="http://schemas.openxmlformats.org/drawingml/2006/main">
              <a:ext uri="{FF2B5EF4-FFF2-40B4-BE49-F238E27FC236}">
                <a16:creationId xmlns:a16="http://schemas.microsoft.com/office/drawing/2014/main" id="{FFE9F98D-F3B8-4BF9-A225-2CBDD632AB08}"/>
              </a:ext>
            </a:extLst>
          </p:cNvPr>
          <p:cNvSpPr>
            <a:spLocks xmlns:a="http://schemas.openxmlformats.org/drawingml/2006/main" noGrp="1"/>
          </p:cNvSpPr>
          <p:nvPr/>
        </p:nvSpPr>
        <p:spPr>
          <a:xfrm xmlns:a="http://schemas.openxmlformats.org/drawingml/2006/main">
            <a:off x="1524000" y="513397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36"/>
                </a:solidFill>
                <a:latin typeface="Arial"/>
                <a:ea typeface="Arial"/>
                <a:cs typeface="Arial"/>
              </a:defRPr>
            </a:pPr>
            <a:r>
              <a:rPr sz="1875" b="0">
                <a:solidFill>
                  <a:srgbClr val="102B36"/>
                </a:solidFill>
                <a:latin typeface="Arial"/>
                <a:ea typeface="Arial"/>
                <a:cs typeface="Arial"/>
              </a:rPr>
              <a:t>Return stage-specific errors, native output, and analysis status.</a:t>
            </a:r>
          </a:p>
        </p:txBody>
      </p:sp>
    </p:spTree>
    <p:extLst>
      <p:ext uri="{BB962C8B-B14F-4D97-AF65-F5344CB8AC3E}">
        <p14:creationId xmlns:p14="http://schemas.microsoft.com/office/powerpoint/2010/main" val="2086295198"/>
      </p:ext>
    </p:extLst>
  </p:cSld>
</p:sld>
</file>

<file path=ppt/slides/slide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96E581-5CCC-4C1E-9673-837C63681DFA}"/>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Literature survey</a:t>
            </a:r>
          </a:p>
        </p:txBody>
      </p:sp>
      <p:sp>
        <p:nvSpPr>
          <p:cNvPr id="2" name="">
            <a:extLst xmlns:a="http://schemas.openxmlformats.org/drawingml/2006/main">
              <a:ext uri="{FF2B5EF4-FFF2-40B4-BE49-F238E27FC236}">
                <a16:creationId xmlns:a16="http://schemas.microsoft.com/office/drawing/2014/main" id="{8C047556-B23C-4D5B-9FBD-F89C1F4C4E2F}"/>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EB5A9A19-81B0-49C6-9390-DD16E8E86EC5}"/>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04</a:t>
            </a:r>
          </a:p>
        </p:txBody>
      </p:sp>
      <p:graphicFrame>
        <p:nvGraphicFramePr>
          <p:cNvPr id="9" name=""/>
          <p:cNvGraphicFramePr/>
          <p:nvPr/>
        </p:nvGraphicFramePr>
        <p:xfrm>
          <a:off xmlns:a="http://schemas.openxmlformats.org/drawingml/2006/main" x="609600" y="1581150"/>
          <a:ext xmlns:a="http://schemas.openxmlformats.org/drawingml/2006/main" cx="10972800" cy="3905250"/>
        </p:xfrm>
        <a:graphic xmlns:a="http://schemas.openxmlformats.org/drawingml/2006/main">
          <a:graphicData uri="http://schemas.openxmlformats.org/drawingml/2006/table">
            <a:tbl>
              <a:tblPr/>
              <a:tblGrid>
                <a:gridCol w="2809875"/>
                <a:gridCol w="4048125"/>
                <a:gridCol w="4114800"/>
              </a:tblGrid>
              <a:tr h="571500">
                <a:tc>
                  <a:txBody>
                    <a:bodyPr/>
                    <a:lstStyle/>
                    <a:p>
                      <a:r>
                        <a:rPr sz="1725" b="1">
                          <a:solidFill>
                            <a:srgbClr val="FFFFFF"/>
                          </a:solidFill>
                          <a:latin typeface="Arial"/>
                          <a:ea typeface="Arial"/>
                          <a:cs typeface="Arial"/>
                        </a:rPr>
                        <a:t>Source</a:t>
                      </a:r>
                    </a:p>
                  </a:txBody>
                  <a:tcPr marL="91440" marR="91440" marT="45720" marB="45720">
                    <a:solidFill>
                      <a:srgbClr val="092D38"/>
                    </a:solidFill>
                  </a:tcPr>
                </a:tc>
                <a:tc>
                  <a:txBody>
                    <a:bodyPr/>
                    <a:lstStyle/>
                    <a:p>
                      <a:r>
                        <a:rPr sz="1725" b="1">
                          <a:solidFill>
                            <a:srgbClr val="FFFFFF"/>
                          </a:solidFill>
                          <a:latin typeface="Arial"/>
                          <a:ea typeface="Arial"/>
                          <a:cs typeface="Arial"/>
                        </a:rPr>
                        <a:t>Core contribution</a:t>
                      </a:r>
                    </a:p>
                  </a:txBody>
                  <a:tcPr marL="91440" marR="91440" marT="45720" marB="45720">
                    <a:solidFill>
                      <a:srgbClr val="092D38"/>
                    </a:solidFill>
                  </a:tcPr>
                </a:tc>
                <a:tc>
                  <a:txBody>
                    <a:bodyPr/>
                    <a:lstStyle/>
                    <a:p>
                      <a:r>
                        <a:rPr sz="1725" b="1">
                          <a:solidFill>
                            <a:srgbClr val="FFFFFF"/>
                          </a:solidFill>
                          <a:latin typeface="Arial"/>
                          <a:ea typeface="Arial"/>
                          <a:cs typeface="Arial"/>
                        </a:rPr>
                        <a:t>Application in Lexora</a:t>
                      </a:r>
                    </a:p>
                  </a:txBody>
                  <a:tcPr marL="91440" marR="91440" marT="45720" marB="45720">
                    <a:solidFill>
                      <a:srgbClr val="092D38"/>
                    </a:solidFill>
                  </a:tcPr>
                </a:tc>
              </a:tr>
              <a:tr h="833438">
                <a:tc>
                  <a:txBody>
                    <a:bodyPr/>
                    <a:lstStyle/>
                    <a:p>
                      <a:r>
                        <a:rPr sz="1725" b="0">
                          <a:solidFill>
                            <a:srgbClr val="102B36"/>
                          </a:solidFill>
                          <a:latin typeface="Arial"/>
                          <a:ea typeface="Arial"/>
                          <a:cs typeface="Arial"/>
                        </a:rPr>
                        <a:t>Aho et al. (2007) [1]</a:t>
                      </a:r>
                    </a:p>
                  </a:txBody>
                  <a:tcPr marL="91440" marR="91440" marT="45720" marB="45720">
                    <a:solidFill>
                      <a:srgbClr val="FFFFFF"/>
                    </a:solidFill>
                  </a:tcPr>
                </a:tc>
                <a:tc>
                  <a:txBody>
                    <a:bodyPr/>
                    <a:lstStyle/>
                    <a:p>
                      <a:r>
                        <a:rPr sz="1725" b="0">
                          <a:solidFill>
                            <a:srgbClr val="102B36"/>
                          </a:solidFill>
                          <a:latin typeface="Arial"/>
                          <a:ea typeface="Arial"/>
                          <a:cs typeface="Arial"/>
                        </a:rPr>
                        <a:t>Compiler phases, intermediate code, optimization</a:t>
                      </a:r>
                    </a:p>
                  </a:txBody>
                  <a:tcPr marL="91440" marR="91440" marT="45720" marB="45720">
                    <a:solidFill>
                      <a:srgbClr val="FFFFFF"/>
                    </a:solidFill>
                  </a:tcPr>
                </a:tc>
                <a:tc>
                  <a:txBody>
                    <a:bodyPr/>
                    <a:lstStyle/>
                    <a:p>
                      <a:r>
                        <a:rPr sz="1725" b="0">
                          <a:solidFill>
                            <a:srgbClr val="102B36"/>
                          </a:solidFill>
                          <a:latin typeface="Arial"/>
                          <a:ea typeface="Arial"/>
                          <a:cs typeface="Arial"/>
                        </a:rPr>
                        <a:t>Organizes the educational views</a:t>
                      </a:r>
                    </a:p>
                  </a:txBody>
                  <a:tcPr marL="91440" marR="91440" marT="45720" marB="45720">
                    <a:solidFill>
                      <a:srgbClr val="FFFFFF"/>
                    </a:solidFill>
                  </a:tcPr>
                </a:tc>
              </a:tr>
              <a:tr h="833438">
                <a:tc>
                  <a:txBody>
                    <a:bodyPr/>
                    <a:lstStyle/>
                    <a:p>
                      <a:r>
                        <a:rPr sz="1725" b="0">
                          <a:solidFill>
                            <a:srgbClr val="102B36"/>
                          </a:solidFill>
                          <a:latin typeface="Arial"/>
                          <a:ea typeface="Arial"/>
                          <a:cs typeface="Arial"/>
                        </a:rPr>
                        <a:t>Flex manual [2]</a:t>
                      </a:r>
                    </a:p>
                  </a:txBody>
                  <a:tcPr marL="91440" marR="91440" marT="45720" marB="45720">
                    <a:solidFill>
                      <a:srgbClr val="F6F8F4"/>
                    </a:solidFill>
                  </a:tcPr>
                </a:tc>
                <a:tc>
                  <a:txBody>
                    <a:bodyPr/>
                    <a:lstStyle/>
                    <a:p>
                      <a:r>
                        <a:rPr sz="1725" b="0">
                          <a:solidFill>
                            <a:srgbClr val="102B36"/>
                          </a:solidFill>
                          <a:latin typeface="Arial"/>
                          <a:ea typeface="Arial"/>
                          <a:cs typeface="Arial"/>
                        </a:rPr>
                        <a:t>Regex rules generate a C scanner</a:t>
                      </a:r>
                    </a:p>
                  </a:txBody>
                  <a:tcPr marL="91440" marR="91440" marT="45720" marB="45720">
                    <a:solidFill>
                      <a:srgbClr val="F6F8F4"/>
                    </a:solidFill>
                  </a:tcPr>
                </a:tc>
                <a:tc>
                  <a:txBody>
                    <a:bodyPr/>
                    <a:lstStyle/>
                    <a:p>
                      <a:r>
                        <a:rPr sz="1725" b="0">
                          <a:solidFill>
                            <a:srgbClr val="102B36"/>
                          </a:solidFill>
                          <a:latin typeface="Arial"/>
                          <a:ea typeface="Arial"/>
                          <a:cs typeface="Arial"/>
                        </a:rPr>
                        <a:t>Builds lex.yy.c from a .l file</a:t>
                      </a:r>
                    </a:p>
                  </a:txBody>
                  <a:tcPr marL="91440" marR="91440" marT="45720" marB="45720">
                    <a:solidFill>
                      <a:srgbClr val="F6F8F4"/>
                    </a:solidFill>
                  </a:tcPr>
                </a:tc>
              </a:tr>
              <a:tr h="833438">
                <a:tc>
                  <a:txBody>
                    <a:bodyPr/>
                    <a:lstStyle/>
                    <a:p>
                      <a:r>
                        <a:rPr sz="1725" b="0">
                          <a:solidFill>
                            <a:srgbClr val="102B36"/>
                          </a:solidFill>
                          <a:latin typeface="Arial"/>
                          <a:ea typeface="Arial"/>
                          <a:cs typeface="Arial"/>
                        </a:rPr>
                        <a:t>GNU Bison manual [3]</a:t>
                      </a:r>
                    </a:p>
                  </a:txBody>
                  <a:tcPr marL="91440" marR="91440" marT="45720" marB="45720">
                    <a:solidFill>
                      <a:srgbClr val="FFFFFF"/>
                    </a:solidFill>
                  </a:tcPr>
                </a:tc>
                <a:tc>
                  <a:txBody>
                    <a:bodyPr/>
                    <a:lstStyle/>
                    <a:p>
                      <a:r>
                        <a:rPr sz="1725" b="0">
                          <a:solidFill>
                            <a:srgbClr val="102B36"/>
                          </a:solidFill>
                          <a:latin typeface="Arial"/>
                          <a:ea typeface="Arial"/>
                          <a:cs typeface="Arial"/>
                        </a:rPr>
                        <a:t>Grammar rules generate an LR parser</a:t>
                      </a:r>
                    </a:p>
                  </a:txBody>
                  <a:tcPr marL="91440" marR="91440" marT="45720" marB="45720">
                    <a:solidFill>
                      <a:srgbClr val="FFFFFF"/>
                    </a:solidFill>
                  </a:tcPr>
                </a:tc>
                <a:tc>
                  <a:txBody>
                    <a:bodyPr/>
                    <a:lstStyle/>
                    <a:p>
                      <a:r>
                        <a:rPr sz="1725" b="0">
                          <a:solidFill>
                            <a:srgbClr val="102B36"/>
                          </a:solidFill>
                          <a:latin typeface="Arial"/>
                          <a:ea typeface="Arial"/>
                          <a:cs typeface="Arial"/>
                        </a:rPr>
                        <a:t>Builds parser C code and token header</a:t>
                      </a:r>
                    </a:p>
                  </a:txBody>
                  <a:tcPr marL="91440" marR="91440" marT="45720" marB="45720">
                    <a:solidFill>
                      <a:srgbClr val="FFFFFF"/>
                    </a:solidFill>
                  </a:tcPr>
                </a:tc>
              </a:tr>
              <a:tr h="833438">
                <a:tc>
                  <a:txBody>
                    <a:bodyPr/>
                    <a:lstStyle/>
                    <a:p>
                      <a:r>
                        <a:rPr sz="1725" b="0">
                          <a:solidFill>
                            <a:srgbClr val="102B36"/>
                          </a:solidFill>
                          <a:latin typeface="Arial"/>
                          <a:ea typeface="Arial"/>
                          <a:cs typeface="Arial"/>
                        </a:rPr>
                        <a:t>GCC manual [4]</a:t>
                      </a:r>
                    </a:p>
                  </a:txBody>
                  <a:tcPr marL="91440" marR="91440" marT="45720" marB="45720">
                    <a:solidFill>
                      <a:srgbClr val="F6F8F4"/>
                    </a:solidFill>
                  </a:tcPr>
                </a:tc>
                <a:tc>
                  <a:txBody>
                    <a:bodyPr/>
                    <a:lstStyle/>
                    <a:p>
                      <a:r>
                        <a:rPr sz="1725" b="0">
                          <a:solidFill>
                            <a:srgbClr val="102B36"/>
                          </a:solidFill>
                          <a:latin typeface="Arial"/>
                          <a:ea typeface="Arial"/>
                          <a:cs typeface="Arial"/>
                        </a:rPr>
                        <a:t>C compilation, assembly, and linking</a:t>
                      </a:r>
                    </a:p>
                  </a:txBody>
                  <a:tcPr marL="91440" marR="91440" marT="45720" marB="45720">
                    <a:solidFill>
                      <a:srgbClr val="F6F8F4"/>
                    </a:solidFill>
                  </a:tcPr>
                </a:tc>
                <a:tc>
                  <a:txBody>
                    <a:bodyPr/>
                    <a:lstStyle/>
                    <a:p>
                      <a:r>
                        <a:rPr sz="1725" b="0">
                          <a:solidFill>
                            <a:srgbClr val="102B36"/>
                          </a:solidFill>
                          <a:latin typeface="Arial"/>
                          <a:ea typeface="Arial"/>
                          <a:cs typeface="Arial"/>
                        </a:rPr>
                        <a:t>Produces the executable program</a:t>
                      </a:r>
                    </a:p>
                  </a:txBody>
                  <a:tcPr marL="91440" marR="91440" marT="45720" marB="45720">
                    <a:solidFill>
                      <a:srgbClr val="F6F8F4"/>
                    </a:solidFill>
                  </a:tcPr>
                </a:tc>
              </a:tr>
            </a:tbl>
          </a:graphicData>
        </a:graphic>
      </p:graphicFrame>
      <p:sp>
        <p:nvSpPr>
          <p:cNvPr id="5" name="">
            <a:extLst xmlns:a="http://schemas.openxmlformats.org/drawingml/2006/main">
              <a:ext uri="{FF2B5EF4-FFF2-40B4-BE49-F238E27FC236}">
                <a16:creationId xmlns:a16="http://schemas.microsoft.com/office/drawing/2014/main" id="{D162A640-40CB-4081-AD0F-5A7FE9009808}"/>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The project applies established compiler methods in a unified teaching interface.</a:t>
            </a:r>
          </a:p>
        </p:txBody>
      </p:sp>
    </p:spTree>
    <p:extLst>
      <p:ext uri="{BB962C8B-B14F-4D97-AF65-F5344CB8AC3E}">
        <p14:creationId xmlns:p14="http://schemas.microsoft.com/office/powerpoint/2010/main" val="242752133"/>
      </p:ext>
    </p:extLst>
  </p:cSld>
</p:sld>
</file>

<file path=ppt/slides/slide5.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6F2941-1784-4CCB-989A-F0FB7B62B0BD}"/>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Novelty and project contribution</a:t>
            </a:r>
          </a:p>
        </p:txBody>
      </p:sp>
      <p:sp>
        <p:nvSpPr>
          <p:cNvPr id="2" name="">
            <a:extLst xmlns:a="http://schemas.openxmlformats.org/drawingml/2006/main">
              <a:ext uri="{FF2B5EF4-FFF2-40B4-BE49-F238E27FC236}">
                <a16:creationId xmlns:a16="http://schemas.microsoft.com/office/drawing/2014/main" id="{E3461755-61CA-43CD-8471-EB55946A8A1B}"/>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8F196AAE-F109-48DD-8CD2-0C14D660FAF2}"/>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055317F-3ABD-4A3C-86BE-3920434F84D8}"/>
              </a:ext>
            </a:extLst>
          </p:cNvPr>
          <p:cNvSpPr>
            <a:spLocks xmlns:a="http://schemas.openxmlformats.org/drawingml/2006/main" noGrp="1"/>
          </p:cNvSpPr>
          <p:nvPr/>
        </p:nvSpPr>
        <p:spPr>
          <a:xfrm xmlns:a="http://schemas.openxmlformats.org/drawingml/2006/main">
            <a:off x="609600" y="1714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Unified practical workflow</a:t>
            </a:r>
          </a:p>
        </p:txBody>
      </p:sp>
      <p:sp>
        <p:nvSpPr>
          <p:cNvPr id="5" name="">
            <a:extLst xmlns:a="http://schemas.openxmlformats.org/drawingml/2006/main">
              <a:ext uri="{FF2B5EF4-FFF2-40B4-BE49-F238E27FC236}">
                <a16:creationId xmlns:a16="http://schemas.microsoft.com/office/drawing/2014/main" id="{93593061-11EA-4B53-85A9-CB2C3ECA65DB}"/>
              </a:ext>
            </a:extLst>
          </p:cNvPr>
          <p:cNvSpPr>
            <a:spLocks xmlns:a="http://schemas.openxmlformats.org/drawingml/2006/main" noGrp="1"/>
          </p:cNvSpPr>
          <p:nvPr/>
        </p:nvSpPr>
        <p:spPr>
          <a:xfrm xmlns:a="http://schemas.openxmlformats.org/drawingml/2006/main">
            <a:off x="609600" y="2228850"/>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Edit specifications, select targets, enter stdin, compile, and inspect results in one browser workspace.</a:t>
            </a:r>
          </a:p>
        </p:txBody>
      </p:sp>
      <p:sp>
        <p:nvSpPr>
          <p:cNvPr id="6" name="">
            <a:extLst xmlns:a="http://schemas.openxmlformats.org/drawingml/2006/main">
              <a:ext uri="{FF2B5EF4-FFF2-40B4-BE49-F238E27FC236}">
                <a16:creationId xmlns:a16="http://schemas.microsoft.com/office/drawing/2014/main" id="{538D96E6-CC46-4A33-B6A2-99421DA3B6A3}"/>
              </a:ext>
            </a:extLst>
          </p:cNvPr>
          <p:cNvSpPr>
            <a:spLocks xmlns:a="http://schemas.openxmlformats.org/drawingml/2006/main" noGrp="1"/>
          </p:cNvSpPr>
          <p:nvPr/>
        </p:nvSpPr>
        <p:spPr>
          <a:xfrm xmlns:a="http://schemas.openxmlformats.org/drawingml/2006/main">
            <a:off x="6400800" y="17145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Two complementary views</a:t>
            </a:r>
          </a:p>
        </p:txBody>
      </p:sp>
      <p:sp>
        <p:nvSpPr>
          <p:cNvPr id="7" name="">
            <a:extLst xmlns:a="http://schemas.openxmlformats.org/drawingml/2006/main">
              <a:ext uri="{FF2B5EF4-FFF2-40B4-BE49-F238E27FC236}">
                <a16:creationId xmlns:a16="http://schemas.microsoft.com/office/drawing/2014/main" id="{5612DEA1-1806-4C59-BD26-B79B1EB68B29}"/>
              </a:ext>
            </a:extLst>
          </p:cNvPr>
          <p:cNvSpPr>
            <a:spLocks xmlns:a="http://schemas.openxmlformats.org/drawingml/2006/main" noGrp="1"/>
          </p:cNvSpPr>
          <p:nvPr/>
        </p:nvSpPr>
        <p:spPr>
          <a:xfrm xmlns:a="http://schemas.openxmlformats.org/drawingml/2006/main">
            <a:off x="6400800" y="2228850"/>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Native execution shows actual program behavior. Input analysis explains a supported language subset.</a:t>
            </a:r>
          </a:p>
        </p:txBody>
      </p:sp>
      <p:sp>
        <p:nvSpPr>
          <p:cNvPr id="8" name="">
            <a:extLst xmlns:a="http://schemas.openxmlformats.org/drawingml/2006/main">
              <a:ext uri="{FF2B5EF4-FFF2-40B4-BE49-F238E27FC236}">
                <a16:creationId xmlns:a16="http://schemas.microsoft.com/office/drawing/2014/main" id="{C413BB7F-8165-4817-9F69-72C9CAE1393F}"/>
              </a:ext>
            </a:extLst>
          </p:cNvPr>
          <p:cNvSpPr>
            <a:spLocks xmlns:a="http://schemas.openxmlformats.org/drawingml/2006/main" noGrp="1"/>
          </p:cNvSpPr>
          <p:nvPr/>
        </p:nvSpPr>
        <p:spPr>
          <a:xfrm xmlns:a="http://schemas.openxmlformats.org/drawingml/2006/main">
            <a:off x="609600" y="37147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Persistent learning workspace</a:t>
            </a:r>
          </a:p>
        </p:txBody>
      </p:sp>
      <p:sp>
        <p:nvSpPr>
          <p:cNvPr id="9" name="">
            <a:extLst xmlns:a="http://schemas.openxmlformats.org/drawingml/2006/main">
              <a:ext uri="{FF2B5EF4-FFF2-40B4-BE49-F238E27FC236}">
                <a16:creationId xmlns:a16="http://schemas.microsoft.com/office/drawing/2014/main" id="{4F3E7DF3-B334-42DA-B6AD-AFD413843EF3}"/>
              </a:ext>
            </a:extLst>
          </p:cNvPr>
          <p:cNvSpPr>
            <a:spLocks xmlns:a="http://schemas.openxmlformats.org/drawingml/2006/main" noGrp="1"/>
          </p:cNvSpPr>
          <p:nvPr/>
        </p:nvSpPr>
        <p:spPr>
          <a:xfrm xmlns:a="http://schemas.openxmlformats.org/drawingml/2006/main">
            <a:off x="609600" y="4229100"/>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Browser drafts, ready-to-run examples, and source downloads support repeated experiments.</a:t>
            </a:r>
          </a:p>
        </p:txBody>
      </p:sp>
      <p:sp>
        <p:nvSpPr>
          <p:cNvPr id="10" name="">
            <a:extLst xmlns:a="http://schemas.openxmlformats.org/drawingml/2006/main">
              <a:ext uri="{FF2B5EF4-FFF2-40B4-BE49-F238E27FC236}">
                <a16:creationId xmlns:a16="http://schemas.microsoft.com/office/drawing/2014/main" id="{DC1D43EA-BB40-4248-B219-9685277AB144}"/>
              </a:ext>
            </a:extLst>
          </p:cNvPr>
          <p:cNvSpPr>
            <a:spLocks xmlns:a="http://schemas.openxmlformats.org/drawingml/2006/main" noGrp="1"/>
          </p:cNvSpPr>
          <p:nvPr/>
        </p:nvSpPr>
        <p:spPr>
          <a:xfrm xmlns:a="http://schemas.openxmlformats.org/drawingml/2006/main">
            <a:off x="6400800" y="37147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Visible intermediate forms</a:t>
            </a:r>
          </a:p>
        </p:txBody>
      </p:sp>
      <p:sp>
        <p:nvSpPr>
          <p:cNvPr id="11" name="">
            <a:extLst xmlns:a="http://schemas.openxmlformats.org/drawingml/2006/main">
              <a:ext uri="{FF2B5EF4-FFF2-40B4-BE49-F238E27FC236}">
                <a16:creationId xmlns:a16="http://schemas.microsoft.com/office/drawing/2014/main" id="{8DCED0FF-3809-43DC-8935-77A67A7D6AE2}"/>
              </a:ext>
            </a:extLst>
          </p:cNvPr>
          <p:cNvSpPr>
            <a:spLocks xmlns:a="http://schemas.openxmlformats.org/drawingml/2006/main" noGrp="1"/>
          </p:cNvSpPr>
          <p:nvPr/>
        </p:nvSpPr>
        <p:spPr>
          <a:xfrm xmlns:a="http://schemas.openxmlformats.org/drawingml/2006/main">
            <a:off x="6400800" y="4229100"/>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Students can relate AST structure to scoped symbols, TAC, optimized TAC, and basic blocks.</a:t>
            </a:r>
          </a:p>
        </p:txBody>
      </p:sp>
    </p:spTree>
    <p:extLst>
      <p:ext uri="{BB962C8B-B14F-4D97-AF65-F5344CB8AC3E}">
        <p14:creationId xmlns:p14="http://schemas.microsoft.com/office/powerpoint/2010/main" val="742755260"/>
      </p:ext>
    </p:extLst>
  </p:cSld>
</p:sld>
</file>

<file path=ppt/slides/slide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E11E555-FFDF-4C7B-8E7D-BD576B09E70C}"/>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System architecture: block diagram</a:t>
            </a:r>
          </a:p>
        </p:txBody>
      </p:sp>
      <p:sp>
        <p:nvSpPr>
          <p:cNvPr id="2" name="">
            <a:extLst xmlns:a="http://schemas.openxmlformats.org/drawingml/2006/main">
              <a:ext uri="{FF2B5EF4-FFF2-40B4-BE49-F238E27FC236}">
                <a16:creationId xmlns:a16="http://schemas.microsoft.com/office/drawing/2014/main" id="{4A5FED7D-18AF-42AD-B40D-53CDAD4C8E4E}"/>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60F3C1FC-D320-41A7-8228-8535F6C9A1D3}"/>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7958DC4-9D4C-4B42-86D8-3959515D5720}"/>
              </a:ext>
            </a:extLst>
          </p:cNvPr>
          <p:cNvSpPr>
            <a:spLocks xmlns:a="http://schemas.openxmlformats.org/drawingml/2006/main" noGrp="1"/>
          </p:cNvSpPr>
          <p:nvPr/>
        </p:nvSpPr>
        <p:spPr>
          <a:xfrm xmlns:a="http://schemas.openxmlformats.org/drawingml/2006/main">
            <a:off x="609600" y="1762125"/>
            <a:ext cx="3095625"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Browser workspace</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React + CodeMirror</a:t>
            </a:r>
          </a:p>
        </p:txBody>
      </p:sp>
      <p:sp>
        <p:nvSpPr>
          <p:cNvPr id="5" name="">
            <a:extLst xmlns:a="http://schemas.openxmlformats.org/drawingml/2006/main">
              <a:ext uri="{FF2B5EF4-FFF2-40B4-BE49-F238E27FC236}">
                <a16:creationId xmlns:a16="http://schemas.microsoft.com/office/drawing/2014/main" id="{B7D35C94-112A-45C9-BFFB-A77ED628000F}"/>
              </a:ext>
            </a:extLst>
          </p:cNvPr>
          <p:cNvSpPr>
            <a:spLocks xmlns:a="http://schemas.openxmlformats.org/drawingml/2006/main" noGrp="1"/>
          </p:cNvSpPr>
          <p:nvPr/>
        </p:nvSpPr>
        <p:spPr>
          <a:xfrm xmlns:a="http://schemas.openxmlformats.org/drawingml/2006/main">
            <a:off x="4552950" y="1762125"/>
            <a:ext cx="3095625" cy="1000125"/>
          </a:xfrm>
          <a:prstGeom xmlns:a="http://schemas.openxmlformats.org/drawingml/2006/main" prst="rect">
            <a:avLst/>
          </a:prstGeom>
          <a:solidFill xmlns:a="http://schemas.openxmlformats.org/drawingml/2006/main">
            <a:srgbClr val="007D78"/>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Backend API</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Node.js + Express</a:t>
            </a:r>
          </a:p>
        </p:txBody>
      </p:sp>
      <p:sp>
        <p:nvSpPr>
          <p:cNvPr id="6" name="">
            <a:extLst xmlns:a="http://schemas.openxmlformats.org/drawingml/2006/main">
              <a:ext uri="{FF2B5EF4-FFF2-40B4-BE49-F238E27FC236}">
                <a16:creationId xmlns:a16="http://schemas.microsoft.com/office/drawing/2014/main" id="{C961A4F2-70EF-41F5-A525-2E95A32040C7}"/>
              </a:ext>
            </a:extLst>
          </p:cNvPr>
          <p:cNvSpPr>
            <a:spLocks xmlns:a="http://schemas.openxmlformats.org/drawingml/2006/main" noGrp="1"/>
          </p:cNvSpPr>
          <p:nvPr/>
        </p:nvSpPr>
        <p:spPr>
          <a:xfrm xmlns:a="http://schemas.openxmlformats.org/drawingml/2006/main">
            <a:off x="8496300" y="1762125"/>
            <a:ext cx="3095625"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Native toolchain</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Flex + Bison + GCC</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3705225" y="2262188"/>
            <a:ext cx="847725" cy="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7648575" y="2262188"/>
            <a:ext cx="847725" cy="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9" name="">
            <a:extLst xmlns:a="http://schemas.openxmlformats.org/drawingml/2006/main">
              <a:ext uri="{FF2B5EF4-FFF2-40B4-BE49-F238E27FC236}">
                <a16:creationId xmlns:a16="http://schemas.microsoft.com/office/drawing/2014/main" id="{1D5AE403-4381-4441-9164-818A87923807}"/>
              </a:ext>
            </a:extLst>
          </p:cNvPr>
          <p:cNvSpPr>
            <a:spLocks xmlns:a="http://schemas.openxmlformats.org/drawingml/2006/main" noGrp="1"/>
          </p:cNvSpPr>
          <p:nvPr/>
        </p:nvSpPr>
        <p:spPr>
          <a:xfrm xmlns:a="http://schemas.openxmlformats.org/drawingml/2006/main">
            <a:off x="3714750" y="13811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9616A"/>
                </a:solidFill>
                <a:latin typeface="Arial"/>
                <a:ea typeface="Arial"/>
                <a:cs typeface="Arial"/>
              </a:defRPr>
            </a:pPr>
            <a:r>
              <a:rPr sz="1575" b="0">
                <a:solidFill>
                  <a:srgbClr val="49616A"/>
                </a:solidFill>
                <a:latin typeface="Arial"/>
                <a:ea typeface="Arial"/>
                <a:cs typeface="Arial"/>
              </a:rPr>
              <a:t>HTTP / JSON</a:t>
            </a:r>
          </a:p>
        </p:txBody>
      </p:sp>
      <p:sp>
        <p:nvSpPr>
          <p:cNvPr id="10" name="">
            <a:extLst xmlns:a="http://schemas.openxmlformats.org/drawingml/2006/main">
              <a:ext uri="{FF2B5EF4-FFF2-40B4-BE49-F238E27FC236}">
                <a16:creationId xmlns:a16="http://schemas.microsoft.com/office/drawing/2014/main" id="{DACD2EC1-D3FB-470D-9C1E-4AD3B62E49BB}"/>
              </a:ext>
            </a:extLst>
          </p:cNvPr>
          <p:cNvSpPr>
            <a:spLocks xmlns:a="http://schemas.openxmlformats.org/drawingml/2006/main" noGrp="1"/>
          </p:cNvSpPr>
          <p:nvPr/>
        </p:nvSpPr>
        <p:spPr>
          <a:xfrm xmlns:a="http://schemas.openxmlformats.org/drawingml/2006/main">
            <a:off x="609600" y="4114800"/>
            <a:ext cx="3095625"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Browser storage</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Saved drafts</a:t>
            </a:r>
          </a:p>
        </p:txBody>
      </p:sp>
      <p:sp>
        <p:nvSpPr>
          <p:cNvPr id="11" name="">
            <a:extLst xmlns:a="http://schemas.openxmlformats.org/drawingml/2006/main">
              <a:ext uri="{FF2B5EF4-FFF2-40B4-BE49-F238E27FC236}">
                <a16:creationId xmlns:a16="http://schemas.microsoft.com/office/drawing/2014/main" id="{D1351DF8-A1F8-48EA-8306-EBC57815DE7C}"/>
              </a:ext>
            </a:extLst>
          </p:cNvPr>
          <p:cNvSpPr>
            <a:spLocks xmlns:a="http://schemas.openxmlformats.org/drawingml/2006/main" noGrp="1"/>
          </p:cNvSpPr>
          <p:nvPr/>
        </p:nvSpPr>
        <p:spPr>
          <a:xfrm xmlns:a="http://schemas.openxmlformats.org/drawingml/2006/main">
            <a:off x="4552950" y="4114800"/>
            <a:ext cx="3095625"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Built-in analyzer</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Educational C subset</a:t>
            </a:r>
          </a:p>
        </p:txBody>
      </p:sp>
      <p:sp>
        <p:nvSpPr>
          <p:cNvPr id="12" name="">
            <a:extLst xmlns:a="http://schemas.openxmlformats.org/drawingml/2006/main">
              <a:ext uri="{FF2B5EF4-FFF2-40B4-BE49-F238E27FC236}">
                <a16:creationId xmlns:a16="http://schemas.microsoft.com/office/drawing/2014/main" id="{F31D5CC4-913B-4A67-ABB0-6F11D9AFEC41}"/>
              </a:ext>
            </a:extLst>
          </p:cNvPr>
          <p:cNvSpPr>
            <a:spLocks xmlns:a="http://schemas.openxmlformats.org/drawingml/2006/main" noGrp="1"/>
          </p:cNvSpPr>
          <p:nvPr/>
        </p:nvSpPr>
        <p:spPr>
          <a:xfrm xmlns:a="http://schemas.openxmlformats.org/drawingml/2006/main">
            <a:off x="8496300" y="4114800"/>
            <a:ext cx="3095625"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Temporary job folder</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Sources + executable</a:t>
            </a:r>
          </a:p>
        </p:txBody>
      </p:sp>
      <p:cxnSp>
        <p:nvCxnSpPr>
          <p:cNvPr id="29" name=""/>
          <p:cNvCxnSpPr>
            <a:stCxn xmlns:a="http://schemas.openxmlformats.org/drawingml/2006/main" id="4" idx="2"/>
            <a:endCxn xmlns:a="http://schemas.openxmlformats.org/drawingml/2006/main" id="10" idx="0"/>
          </p:cNvCxnSpPr>
          <p:nvPr/>
        </p:nvCxnSpPr>
        <p:spPr>
          <a:xfrm xmlns:a="http://schemas.openxmlformats.org/drawingml/2006/main">
            <a:off x="2157413" y="2762250"/>
            <a:ext cx="0" cy="135255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30" name=""/>
          <p:cNvCxnSpPr>
            <a:stCxn xmlns:a="http://schemas.openxmlformats.org/drawingml/2006/main" id="5" idx="2"/>
            <a:endCxn xmlns:a="http://schemas.openxmlformats.org/drawingml/2006/main" id="11" idx="0"/>
          </p:cNvCxnSpPr>
          <p:nvPr/>
        </p:nvCxnSpPr>
        <p:spPr>
          <a:xfrm xmlns:a="http://schemas.openxmlformats.org/drawingml/2006/main">
            <a:off x="6100763" y="2762250"/>
            <a:ext cx="0" cy="135255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31" name=""/>
          <p:cNvCxnSpPr>
            <a:stCxn xmlns:a="http://schemas.openxmlformats.org/drawingml/2006/main" id="6" idx="2"/>
            <a:endCxn xmlns:a="http://schemas.openxmlformats.org/drawingml/2006/main" id="12" idx="0"/>
          </p:cNvCxnSpPr>
          <p:nvPr/>
        </p:nvCxnSpPr>
        <p:spPr>
          <a:xfrm xmlns:a="http://schemas.openxmlformats.org/drawingml/2006/main">
            <a:off x="10044113" y="2762250"/>
            <a:ext cx="0" cy="135255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6" name="">
            <a:extLst xmlns:a="http://schemas.openxmlformats.org/drawingml/2006/main">
              <a:ext uri="{FF2B5EF4-FFF2-40B4-BE49-F238E27FC236}">
                <a16:creationId xmlns:a16="http://schemas.microsoft.com/office/drawing/2014/main" id="{8465DC51-D9C9-436B-9351-5B5666E0FEB7}"/>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Development: browser :3000, API :3001. Windows execution uses WSL Ubuntu.</a:t>
            </a:r>
          </a:p>
        </p:txBody>
      </p:sp>
    </p:spTree>
    <p:extLst>
      <p:ext uri="{BB962C8B-B14F-4D97-AF65-F5344CB8AC3E}">
        <p14:creationId xmlns:p14="http://schemas.microsoft.com/office/powerpoint/2010/main" val="232667743"/>
      </p:ext>
    </p:extLst>
  </p:cSld>
</p:sld>
</file>

<file path=ppt/slides/slide7.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DA4874F-5E7B-4E03-AF85-AAD0C2BE3E1E}"/>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Working flow: edit, compile, inspect</a:t>
            </a:r>
          </a:p>
        </p:txBody>
      </p:sp>
      <p:sp>
        <p:nvSpPr>
          <p:cNvPr id="2" name="">
            <a:extLst xmlns:a="http://schemas.openxmlformats.org/drawingml/2006/main">
              <a:ext uri="{FF2B5EF4-FFF2-40B4-BE49-F238E27FC236}">
                <a16:creationId xmlns:a16="http://schemas.microsoft.com/office/drawing/2014/main" id="{F84CF8D1-1DBB-416D-852D-79496B9AF019}"/>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658B8BD6-CC9A-4797-89FF-0DBD6ED38BED}"/>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3540F9A-3A52-486C-82B2-2C3E4A6577D6}"/>
              </a:ext>
            </a:extLst>
          </p:cNvPr>
          <p:cNvSpPr>
            <a:spLocks xmlns:a="http://schemas.openxmlformats.org/drawingml/2006/main" noGrp="1"/>
          </p:cNvSpPr>
          <p:nvPr/>
        </p:nvSpPr>
        <p:spPr>
          <a:xfrm xmlns:a="http://schemas.openxmlformats.org/drawingml/2006/main">
            <a:off x="609600" y="1714500"/>
            <a:ext cx="2714625"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Edit or upload</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.l / .y + input</a:t>
            </a:r>
          </a:p>
        </p:txBody>
      </p:sp>
      <p:sp>
        <p:nvSpPr>
          <p:cNvPr id="5" name="">
            <a:extLst xmlns:a="http://schemas.openxmlformats.org/drawingml/2006/main">
              <a:ext uri="{FF2B5EF4-FFF2-40B4-BE49-F238E27FC236}">
                <a16:creationId xmlns:a16="http://schemas.microsoft.com/office/drawing/2014/main" id="{CF307072-3A5A-415D-ABD3-0C2CF47EABAB}"/>
              </a:ext>
            </a:extLst>
          </p:cNvPr>
          <p:cNvSpPr>
            <a:spLocks xmlns:a="http://schemas.openxmlformats.org/drawingml/2006/main" noGrp="1"/>
          </p:cNvSpPr>
          <p:nvPr/>
        </p:nvSpPr>
        <p:spPr>
          <a:xfrm xmlns:a="http://schemas.openxmlformats.org/drawingml/2006/main">
            <a:off x="4657725" y="1714500"/>
            <a:ext cx="2714625"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Choose mode</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and source targets</a:t>
            </a:r>
          </a:p>
        </p:txBody>
      </p:sp>
      <p:sp>
        <p:nvSpPr>
          <p:cNvPr id="6" name="">
            <a:extLst xmlns:a="http://schemas.openxmlformats.org/drawingml/2006/main">
              <a:ext uri="{FF2B5EF4-FFF2-40B4-BE49-F238E27FC236}">
                <a16:creationId xmlns:a16="http://schemas.microsoft.com/office/drawing/2014/main" id="{F4942656-0DD6-4149-B650-8AF9E9FF2632}"/>
              </a:ext>
            </a:extLst>
          </p:cNvPr>
          <p:cNvSpPr>
            <a:spLocks xmlns:a="http://schemas.openxmlformats.org/drawingml/2006/main" noGrp="1"/>
          </p:cNvSpPr>
          <p:nvPr/>
        </p:nvSpPr>
        <p:spPr>
          <a:xfrm xmlns:a="http://schemas.openxmlformats.org/drawingml/2006/main">
            <a:off x="8705850" y="1714500"/>
            <a:ext cx="2857500"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Compile request</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Validate fields</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3324225" y="2166938"/>
            <a:ext cx="1333500" cy="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7372350" y="2166938"/>
            <a:ext cx="1333500" cy="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9" name="">
            <a:extLst xmlns:a="http://schemas.openxmlformats.org/drawingml/2006/main">
              <a:ext uri="{FF2B5EF4-FFF2-40B4-BE49-F238E27FC236}">
                <a16:creationId xmlns:a16="http://schemas.microsoft.com/office/drawing/2014/main" id="{2FA131AE-262F-490B-9472-F04A06F4D9D3}"/>
              </a:ext>
            </a:extLst>
          </p:cNvPr>
          <p:cNvSpPr>
            <a:spLocks xmlns:a="http://schemas.openxmlformats.org/drawingml/2006/main" noGrp="1"/>
          </p:cNvSpPr>
          <p:nvPr/>
        </p:nvSpPr>
        <p:spPr>
          <a:xfrm xmlns:a="http://schemas.openxmlformats.org/drawingml/2006/main">
            <a:off x="8705850" y="3476625"/>
            <a:ext cx="2857500"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Analyze input</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Built-in parser</a:t>
            </a:r>
          </a:p>
        </p:txBody>
      </p:sp>
      <p:sp>
        <p:nvSpPr>
          <p:cNvPr id="10" name="">
            <a:extLst xmlns:a="http://schemas.openxmlformats.org/drawingml/2006/main">
              <a:ext uri="{FF2B5EF4-FFF2-40B4-BE49-F238E27FC236}">
                <a16:creationId xmlns:a16="http://schemas.microsoft.com/office/drawing/2014/main" id="{4E014CCB-6FE6-4517-81BA-4859F8715AF0}"/>
              </a:ext>
            </a:extLst>
          </p:cNvPr>
          <p:cNvSpPr>
            <a:spLocks xmlns:a="http://schemas.openxmlformats.org/drawingml/2006/main" noGrp="1"/>
          </p:cNvSpPr>
          <p:nvPr/>
        </p:nvSpPr>
        <p:spPr>
          <a:xfrm xmlns:a="http://schemas.openxmlformats.org/drawingml/2006/main">
            <a:off x="4657725" y="3476625"/>
            <a:ext cx="2714625"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Generate C</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Build + run program</a:t>
            </a:r>
          </a:p>
        </p:txBody>
      </p:sp>
      <p:sp>
        <p:nvSpPr>
          <p:cNvPr id="11" name="">
            <a:extLst xmlns:a="http://schemas.openxmlformats.org/drawingml/2006/main">
              <a:ext uri="{FF2B5EF4-FFF2-40B4-BE49-F238E27FC236}">
                <a16:creationId xmlns:a16="http://schemas.microsoft.com/office/drawing/2014/main" id="{88C76D2E-ADF6-4BED-B5C0-D2FBC6D0AD49}"/>
              </a:ext>
            </a:extLst>
          </p:cNvPr>
          <p:cNvSpPr>
            <a:spLocks xmlns:a="http://schemas.openxmlformats.org/drawingml/2006/main" noGrp="1"/>
          </p:cNvSpPr>
          <p:nvPr/>
        </p:nvSpPr>
        <p:spPr>
          <a:xfrm xmlns:a="http://schemas.openxmlformats.org/drawingml/2006/main">
            <a:off x="609600" y="3476625"/>
            <a:ext cx="2714625" cy="9048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Return JSON</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Clean temporary files</a:t>
            </a:r>
          </a:p>
        </p:txBody>
      </p:sp>
      <p:cxnSp>
        <p:nvCxnSpPr>
          <p:cNvPr id="28" name=""/>
          <p:cNvCxnSpPr>
            <a:stCxn xmlns:a="http://schemas.openxmlformats.org/drawingml/2006/main" id="6" idx="2"/>
            <a:endCxn xmlns:a="http://schemas.openxmlformats.org/drawingml/2006/main" id="9" idx="0"/>
          </p:cNvCxnSpPr>
          <p:nvPr/>
        </p:nvCxnSpPr>
        <p:spPr>
          <a:xfrm xmlns:a="http://schemas.openxmlformats.org/drawingml/2006/main">
            <a:off x="10134600" y="2619375"/>
            <a:ext cx="0" cy="85725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7372350" y="3929063"/>
            <a:ext cx="1333500" cy="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30" name=""/>
          <p:cNvCxnSpPr>
            <a:stCxn xmlns:a="http://schemas.openxmlformats.org/drawingml/2006/main" id="10" idx="1"/>
            <a:endCxn xmlns:a="http://schemas.openxmlformats.org/drawingml/2006/main" id="11" idx="3"/>
          </p:cNvCxnSpPr>
          <p:nvPr/>
        </p:nvCxnSpPr>
        <p:spPr>
          <a:xfrm xmlns:a="http://schemas.openxmlformats.org/drawingml/2006/main" flipH="1">
            <a:off x="3324225" y="3929063"/>
            <a:ext cx="1333500" cy="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5" name="">
            <a:extLst xmlns:a="http://schemas.openxmlformats.org/drawingml/2006/main">
              <a:ext uri="{FF2B5EF4-FFF2-40B4-BE49-F238E27FC236}">
                <a16:creationId xmlns:a16="http://schemas.microsoft.com/office/drawing/2014/main" id="{0297968C-C76A-4FB0-82D9-5F40CAF68D1E}"/>
              </a:ext>
            </a:extLst>
          </p:cNvPr>
          <p:cNvSpPr>
            <a:spLocks xmlns:a="http://schemas.openxmlformats.org/drawingml/2006/main" noGrp="1"/>
          </p:cNvSpPr>
          <p:nvPr/>
        </p:nvSpPr>
        <p:spPr>
          <a:xfrm xmlns:a="http://schemas.openxmlformats.org/drawingml/2006/main">
            <a:off x="609600" y="5095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Results: native console + educational analysis tabs</a:t>
            </a:r>
          </a:p>
        </p:txBody>
      </p:sp>
      <p:sp>
        <p:nvSpPr>
          <p:cNvPr id="16" name="">
            <a:extLst xmlns:a="http://schemas.openxmlformats.org/drawingml/2006/main">
              <a:ext uri="{FF2B5EF4-FFF2-40B4-BE49-F238E27FC236}">
                <a16:creationId xmlns:a16="http://schemas.microsoft.com/office/drawing/2014/main" id="{3E33221D-92D1-47E6-AE9D-60D1A2DB4164}"/>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Invalid requests stop at validation. Build failures return the failing phase and available analysis.</a:t>
            </a:r>
          </a:p>
        </p:txBody>
      </p:sp>
    </p:spTree>
    <p:extLst>
      <p:ext uri="{BB962C8B-B14F-4D97-AF65-F5344CB8AC3E}">
        <p14:creationId xmlns:p14="http://schemas.microsoft.com/office/powerpoint/2010/main" val="1152944585"/>
      </p:ext>
    </p:extLst>
  </p:cSld>
</p:sld>
</file>

<file path=ppt/slides/slide8.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299047-3395-4769-91CE-6F8B8B610932}"/>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Where the data is stored</a:t>
            </a:r>
          </a:p>
        </p:txBody>
      </p:sp>
      <p:sp>
        <p:nvSpPr>
          <p:cNvPr id="2" name="">
            <a:extLst xmlns:a="http://schemas.openxmlformats.org/drawingml/2006/main">
              <a:ext uri="{FF2B5EF4-FFF2-40B4-BE49-F238E27FC236}">
                <a16:creationId xmlns:a16="http://schemas.microsoft.com/office/drawing/2014/main" id="{CD7A8D91-C82A-4F73-B6AD-6E22382B1FE7}"/>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50BB5A34-F5CB-42D9-864D-3FE97CDE3AC7}"/>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08</a:t>
            </a:r>
          </a:p>
        </p:txBody>
      </p:sp>
      <p:graphicFrame>
        <p:nvGraphicFramePr>
          <p:cNvPr id="9" name=""/>
          <p:cNvGraphicFramePr/>
          <p:nvPr/>
        </p:nvGraphicFramePr>
        <p:xfrm>
          <a:off xmlns:a="http://schemas.openxmlformats.org/drawingml/2006/main" x="609600" y="1571625"/>
          <a:ext xmlns:a="http://schemas.openxmlformats.org/drawingml/2006/main" cx="10972800" cy="3886200"/>
        </p:xfrm>
        <a:graphic xmlns:a="http://schemas.openxmlformats.org/drawingml/2006/main">
          <a:graphicData uri="http://schemas.openxmlformats.org/drawingml/2006/table">
            <a:tbl>
              <a:tblPr/>
              <a:tblGrid>
                <a:gridCol w="3238500"/>
                <a:gridCol w="4619625"/>
                <a:gridCol w="3114675"/>
              </a:tblGrid>
              <a:tr h="571500">
                <a:tc>
                  <a:txBody>
                    <a:bodyPr/>
                    <a:lstStyle/>
                    <a:p>
                      <a:r>
                        <a:rPr sz="1725" b="1">
                          <a:solidFill>
                            <a:srgbClr val="FFFFFF"/>
                          </a:solidFill>
                          <a:latin typeface="Arial"/>
                          <a:ea typeface="Arial"/>
                          <a:cs typeface="Arial"/>
                        </a:rPr>
                        <a:t>Data</a:t>
                      </a:r>
                    </a:p>
                  </a:txBody>
                  <a:tcPr marL="91440" marR="91440" marT="45720" marB="45720">
                    <a:solidFill>
                      <a:srgbClr val="092D38"/>
                    </a:solidFill>
                  </a:tcPr>
                </a:tc>
                <a:tc>
                  <a:txBody>
                    <a:bodyPr/>
                    <a:lstStyle/>
                    <a:p>
                      <a:r>
                        <a:rPr sz="1725" b="1">
                          <a:solidFill>
                            <a:srgbClr val="FFFFFF"/>
                          </a:solidFill>
                          <a:latin typeface="Arial"/>
                          <a:ea typeface="Arial"/>
                          <a:cs typeface="Arial"/>
                        </a:rPr>
                        <a:t>Storage location</a:t>
                      </a:r>
                    </a:p>
                  </a:txBody>
                  <a:tcPr marL="91440" marR="91440" marT="45720" marB="45720">
                    <a:solidFill>
                      <a:srgbClr val="092D38"/>
                    </a:solidFill>
                  </a:tcPr>
                </a:tc>
                <a:tc>
                  <a:txBody>
                    <a:bodyPr/>
                    <a:lstStyle/>
                    <a:p>
                      <a:r>
                        <a:rPr sz="1725" b="1">
                          <a:solidFill>
                            <a:srgbClr val="FFFFFF"/>
                          </a:solidFill>
                          <a:latin typeface="Arial"/>
                          <a:ea typeface="Arial"/>
                          <a:cs typeface="Arial"/>
                        </a:rPr>
                        <a:t>Lifetime</a:t>
                      </a:r>
                    </a:p>
                  </a:txBody>
                  <a:tcPr marL="91440" marR="91440" marT="45720" marB="45720">
                    <a:solidFill>
                      <a:srgbClr val="092D38"/>
                    </a:solidFill>
                  </a:tcPr>
                </a:tc>
              </a:tr>
              <a:tr h="828675">
                <a:tc>
                  <a:txBody>
                    <a:bodyPr/>
                    <a:lstStyle/>
                    <a:p>
                      <a:r>
                        <a:rPr sz="1725" b="0">
                          <a:solidFill>
                            <a:srgbClr val="102B36"/>
                          </a:solidFill>
                          <a:latin typeface="Arial"/>
                          <a:ea typeface="Arial"/>
                          <a:cs typeface="Arial"/>
                        </a:rPr>
                        <a:t>Source drafts, input, targets</a:t>
                      </a:r>
                    </a:p>
                  </a:txBody>
                  <a:tcPr marL="91440" marR="91440" marT="45720" marB="45720">
                    <a:solidFill>
                      <a:srgbClr val="FFFFFF"/>
                    </a:solidFill>
                  </a:tcPr>
                </a:tc>
                <a:tc>
                  <a:txBody>
                    <a:bodyPr/>
                    <a:lstStyle/>
                    <a:p>
                      <a:r>
                        <a:rPr sz="1725" b="0">
                          <a:solidFill>
                            <a:srgbClr val="102B36"/>
                          </a:solidFill>
                          <a:latin typeface="Arial"/>
                          <a:ea typeface="Arial"/>
                          <a:cs typeface="Arial"/>
                        </a:rPr>
                        <a:t>Browser localStorage</a:t>
                      </a:r>
                    </a:p>
                    <a:p>
                      <a:r>
                        <a:rPr sz="1725" b="0">
                          <a:solidFill>
                            <a:srgbClr val="102B36"/>
                          </a:solidFill>
                          <a:latin typeface="Arial"/>
                          <a:ea typeface="Arial"/>
                          <a:cs typeface="Arial"/>
                        </a:rPr>
                        <a:t>lexora.workspace.v2</a:t>
                      </a:r>
                    </a:p>
                  </a:txBody>
                  <a:tcPr marL="91440" marR="91440" marT="45720" marB="45720">
                    <a:solidFill>
                      <a:srgbClr val="FFFFFF"/>
                    </a:solidFill>
                  </a:tcPr>
                </a:tc>
                <a:tc>
                  <a:txBody>
                    <a:bodyPr/>
                    <a:lstStyle/>
                    <a:p>
                      <a:r>
                        <a:rPr sz="1725" b="0">
                          <a:solidFill>
                            <a:srgbClr val="102B36"/>
                          </a:solidFill>
                          <a:latin typeface="Arial"/>
                          <a:ea typeface="Arial"/>
                          <a:cs typeface="Arial"/>
                        </a:rPr>
                        <a:t>Across reloads, until cleared</a:t>
                      </a:r>
                    </a:p>
                  </a:txBody>
                  <a:tcPr marL="91440" marR="91440" marT="45720" marB="45720">
                    <a:solidFill>
                      <a:srgbClr val="FFFFFF"/>
                    </a:solidFill>
                  </a:tcPr>
                </a:tc>
              </a:tr>
              <a:tr h="828675">
                <a:tc>
                  <a:txBody>
                    <a:bodyPr/>
                    <a:lstStyle/>
                    <a:p>
                      <a:r>
                        <a:rPr sz="1725" b="0">
                          <a:solidFill>
                            <a:srgbClr val="102B36"/>
                          </a:solidFill>
                          <a:latin typeface="Arial"/>
                          <a:ea typeface="Arial"/>
                          <a:cs typeface="Arial"/>
                        </a:rPr>
                        <a:t>Compilation files and binary</a:t>
                      </a:r>
                    </a:p>
                  </a:txBody>
                  <a:tcPr marL="91440" marR="91440" marT="45720" marB="45720">
                    <a:solidFill>
                      <a:srgbClr val="F6F8F4"/>
                    </a:solidFill>
                  </a:tcPr>
                </a:tc>
                <a:tc>
                  <a:txBody>
                    <a:bodyPr/>
                    <a:lstStyle/>
                    <a:p>
                      <a:r>
                        <a:rPr sz="1725" b="0">
                          <a:solidFill>
                            <a:srgbClr val="102B36"/>
                          </a:solidFill>
                          <a:latin typeface="Arial"/>
                          <a:ea typeface="Arial"/>
                          <a:cs typeface="Arial"/>
                        </a:rPr>
                        <a:t>Backend OS temporary folder</a:t>
                      </a:r>
                    </a:p>
                    <a:p>
                      <a:r>
                        <a:rPr sz="1725" b="0">
                          <a:solidFill>
                            <a:srgbClr val="102B36"/>
                          </a:solidFill>
                          <a:latin typeface="Arial"/>
                          <a:ea typeface="Arial"/>
                          <a:cs typeface="Arial"/>
                        </a:rPr>
                        <a:t>lexora-&lt;UUID&gt;</a:t>
                      </a:r>
                    </a:p>
                  </a:txBody>
                  <a:tcPr marL="91440" marR="91440" marT="45720" marB="45720">
                    <a:solidFill>
                      <a:srgbClr val="F6F8F4"/>
                    </a:solidFill>
                  </a:tcPr>
                </a:tc>
                <a:tc>
                  <a:txBody>
                    <a:bodyPr/>
                    <a:lstStyle/>
                    <a:p>
                      <a:r>
                        <a:rPr sz="1725" b="0">
                          <a:solidFill>
                            <a:srgbClr val="102B36"/>
                          </a:solidFill>
                          <a:latin typeface="Arial"/>
                          <a:ea typeface="Arial"/>
                          <a:cs typeface="Arial"/>
                        </a:rPr>
                        <a:t>One compilation request</a:t>
                      </a:r>
                    </a:p>
                  </a:txBody>
                  <a:tcPr marL="91440" marR="91440" marT="45720" marB="45720">
                    <a:solidFill>
                      <a:srgbClr val="F6F8F4"/>
                    </a:solidFill>
                  </a:tcPr>
                </a:tc>
              </a:tr>
              <a:tr h="828675">
                <a:tc>
                  <a:txBody>
                    <a:bodyPr/>
                    <a:lstStyle/>
                    <a:p>
                      <a:r>
                        <a:rPr sz="1725" b="0">
                          <a:solidFill>
                            <a:srgbClr val="102B36"/>
                          </a:solidFill>
                          <a:latin typeface="Arial"/>
                          <a:ea typeface="Arial"/>
                          <a:cs typeface="Arial"/>
                        </a:rPr>
                        <a:t>Console and analysis results</a:t>
                      </a:r>
                    </a:p>
                  </a:txBody>
                  <a:tcPr marL="91440" marR="91440" marT="45720" marB="45720">
                    <a:solidFill>
                      <a:srgbClr val="FFFFFF"/>
                    </a:solidFill>
                  </a:tcPr>
                </a:tc>
                <a:tc>
                  <a:txBody>
                    <a:bodyPr/>
                    <a:lstStyle/>
                    <a:p>
                      <a:r>
                        <a:rPr sz="1725" b="0">
                          <a:solidFill>
                            <a:srgbClr val="102B36"/>
                          </a:solidFill>
                          <a:latin typeface="Arial"/>
                          <a:ea typeface="Arial"/>
                          <a:cs typeface="Arial"/>
                        </a:rPr>
                        <a:t>Backend memory, then React state</a:t>
                      </a:r>
                    </a:p>
                  </a:txBody>
                  <a:tcPr marL="91440" marR="91440" marT="45720" marB="45720">
                    <a:solidFill>
                      <a:srgbClr val="FFFFFF"/>
                    </a:solidFill>
                  </a:tcPr>
                </a:tc>
                <a:tc>
                  <a:txBody>
                    <a:bodyPr/>
                    <a:lstStyle/>
                    <a:p>
                      <a:r>
                        <a:rPr sz="1725" b="0">
                          <a:solidFill>
                            <a:srgbClr val="102B36"/>
                          </a:solidFill>
                          <a:latin typeface="Arial"/>
                          <a:ea typeface="Arial"/>
                          <a:cs typeface="Arial"/>
                        </a:rPr>
                        <a:t>Current run / page session</a:t>
                      </a:r>
                    </a:p>
                  </a:txBody>
                  <a:tcPr marL="91440" marR="91440" marT="45720" marB="45720">
                    <a:solidFill>
                      <a:srgbClr val="FFFFFF"/>
                    </a:solidFill>
                  </a:tcPr>
                </a:tc>
              </a:tr>
              <a:tr h="828675">
                <a:tc>
                  <a:txBody>
                    <a:bodyPr/>
                    <a:lstStyle/>
                    <a:p>
                      <a:r>
                        <a:rPr sz="1725" b="0">
                          <a:solidFill>
                            <a:srgbClr val="102B36"/>
                          </a:solidFill>
                          <a:latin typeface="Arial"/>
                          <a:ea typeface="Arial"/>
                          <a:cs typeface="Arial"/>
                        </a:rPr>
                        <a:t>Exported source and input</a:t>
                      </a:r>
                    </a:p>
                  </a:txBody>
                  <a:tcPr marL="91440" marR="91440" marT="45720" marB="45720">
                    <a:solidFill>
                      <a:srgbClr val="F6F8F4"/>
                    </a:solidFill>
                  </a:tcPr>
                </a:tc>
                <a:tc>
                  <a:txBody>
                    <a:bodyPr/>
                    <a:lstStyle/>
                    <a:p>
                      <a:r>
                        <a:rPr sz="1725" b="0">
                          <a:solidFill>
                            <a:srgbClr val="102B36"/>
                          </a:solidFill>
                          <a:latin typeface="Arial"/>
                          <a:ea typeface="Arial"/>
                          <a:cs typeface="Arial"/>
                        </a:rPr>
                        <a:t>User-selected download location</a:t>
                      </a:r>
                    </a:p>
                  </a:txBody>
                  <a:tcPr marL="91440" marR="91440" marT="45720" marB="45720">
                    <a:solidFill>
                      <a:srgbClr val="F6F8F4"/>
                    </a:solidFill>
                  </a:tcPr>
                </a:tc>
                <a:tc>
                  <a:txBody>
                    <a:bodyPr/>
                    <a:lstStyle/>
                    <a:p>
                      <a:r>
                        <a:rPr sz="1725" b="0">
                          <a:solidFill>
                            <a:srgbClr val="102B36"/>
                          </a:solidFill>
                          <a:latin typeface="Arial"/>
                          <a:ea typeface="Arial"/>
                          <a:cs typeface="Arial"/>
                        </a:rPr>
                        <a:t>Until the user deletes them</a:t>
                      </a:r>
                    </a:p>
                  </a:txBody>
                  <a:tcPr marL="91440" marR="91440" marT="45720" marB="45720">
                    <a:solidFill>
                      <a:srgbClr val="F6F8F4"/>
                    </a:solidFill>
                  </a:tcPr>
                </a:tc>
              </a:tr>
            </a:tbl>
          </a:graphicData>
        </a:graphic>
      </p:graphicFrame>
      <p:sp>
        <p:nvSpPr>
          <p:cNvPr id="5" name="">
            <a:extLst xmlns:a="http://schemas.openxmlformats.org/drawingml/2006/main">
              <a:ext uri="{FF2B5EF4-FFF2-40B4-BE49-F238E27FC236}">
                <a16:creationId xmlns:a16="http://schemas.microsoft.com/office/drawing/2014/main" id="{BB9BE772-39FF-47E5-A939-0A5718EF7E52}"/>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No application database. Browser drafts and downloaded files are the persistent copies.</a:t>
            </a:r>
          </a:p>
        </p:txBody>
      </p:sp>
    </p:spTree>
    <p:extLst>
      <p:ext uri="{BB962C8B-B14F-4D97-AF65-F5344CB8AC3E}">
        <p14:creationId xmlns:p14="http://schemas.microsoft.com/office/powerpoint/2010/main" val="2029435234"/>
      </p:ext>
    </p:extLst>
  </p:cSld>
</p:sld>
</file>

<file path=ppt/slides/slide9.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7C71D1-3941-4E97-828A-C2085B4CF832}"/>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Compilation location and file lifecycle</a:t>
            </a:r>
          </a:p>
        </p:txBody>
      </p:sp>
      <p:sp>
        <p:nvSpPr>
          <p:cNvPr id="2" name="">
            <a:extLst xmlns:a="http://schemas.openxmlformats.org/drawingml/2006/main">
              <a:ext uri="{FF2B5EF4-FFF2-40B4-BE49-F238E27FC236}">
                <a16:creationId xmlns:a16="http://schemas.microsoft.com/office/drawing/2014/main" id="{0FBE7304-F380-4B1A-B630-03949C71BCCC}"/>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B1BC442A-E830-4608-8B2B-AEB49688FD1D}"/>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BE2EEB7D-8CBA-4746-84AF-D2EE9A11C54E}"/>
              </a:ext>
            </a:extLst>
          </p:cNvPr>
          <p:cNvSpPr>
            <a:spLocks xmlns:a="http://schemas.openxmlformats.org/drawingml/2006/main" noGrp="1"/>
          </p:cNvSpPr>
          <p:nvPr/>
        </p:nvSpPr>
        <p:spPr>
          <a:xfrm xmlns:a="http://schemas.openxmlformats.org/drawingml/2006/main">
            <a:off x="609600" y="1581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D78"/>
                </a:solidFill>
                <a:latin typeface="Arial"/>
                <a:ea typeface="Arial"/>
                <a:cs typeface="Arial"/>
              </a:defRPr>
            </a:pPr>
            <a:r>
              <a:rPr sz="2550" b="1">
                <a:solidFill>
                  <a:srgbClr val="007D78"/>
                </a:solidFill>
                <a:latin typeface="Arial"/>
                <a:ea typeface="Arial"/>
                <a:cs typeface="Arial"/>
              </a:rPr>
              <a:t>A fresh directory for each request</a:t>
            </a:r>
          </a:p>
        </p:txBody>
      </p:sp>
      <p:sp>
        <p:nvSpPr>
          <p:cNvPr id="5" name="">
            <a:extLst xmlns:a="http://schemas.openxmlformats.org/drawingml/2006/main">
              <a:ext uri="{FF2B5EF4-FFF2-40B4-BE49-F238E27FC236}">
                <a16:creationId xmlns:a16="http://schemas.microsoft.com/office/drawing/2014/main" id="{E15B0963-ED5E-47B6-9FB7-9DCA5095827C}"/>
              </a:ext>
            </a:extLst>
          </p:cNvPr>
          <p:cNvSpPr>
            <a:spLocks xmlns:a="http://schemas.openxmlformats.org/drawingml/2006/main" noGrp="1"/>
          </p:cNvSpPr>
          <p:nvPr/>
        </p:nvSpPr>
        <p:spPr>
          <a:xfrm xmlns:a="http://schemas.openxmlformats.org/drawingml/2006/main">
            <a:off x="609600" y="22383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B36"/>
                </a:solidFill>
                <a:latin typeface="Arial"/>
                <a:ea typeface="Arial"/>
                <a:cs typeface="Arial"/>
              </a:defRPr>
            </a:pPr>
            <a:r>
              <a:rPr sz="2550" b="1">
                <a:solidFill>
                  <a:srgbClr val="102B36"/>
                </a:solidFill>
                <a:latin typeface="Arial"/>
                <a:ea typeface="Arial"/>
                <a:cs typeface="Arial"/>
              </a:rPr>
              <a:t>os.tmpdir() / lexora-&lt;UUID&gt;</a:t>
            </a:r>
          </a:p>
        </p:txBody>
      </p:sp>
      <p:sp>
        <p:nvSpPr>
          <p:cNvPr id="6" name="">
            <a:extLst xmlns:a="http://schemas.openxmlformats.org/drawingml/2006/main">
              <a:ext uri="{FF2B5EF4-FFF2-40B4-BE49-F238E27FC236}">
                <a16:creationId xmlns:a16="http://schemas.microsoft.com/office/drawing/2014/main" id="{9ADFF5AB-52F6-45B6-9F29-76843F74144C}"/>
              </a:ext>
            </a:extLst>
          </p:cNvPr>
          <p:cNvSpPr>
            <a:spLocks xmlns:a="http://schemas.openxmlformats.org/drawingml/2006/main" noGrp="1"/>
          </p:cNvSpPr>
          <p:nvPr/>
        </p:nvSpPr>
        <p:spPr>
          <a:xfrm xmlns:a="http://schemas.openxmlformats.org/drawingml/2006/main">
            <a:off x="609600" y="3028950"/>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B36"/>
                </a:solidFill>
                <a:latin typeface="Arial"/>
                <a:ea typeface="Arial"/>
                <a:cs typeface="Arial"/>
              </a:defRPr>
            </a:pPr>
            <a:r>
              <a:rPr sz="2175" b="0">
                <a:solidFill>
                  <a:srgbClr val="102B36"/>
                </a:solidFill>
                <a:latin typeface="Arial"/>
                <a:ea typeface="Arial"/>
                <a:cs typeface="Arial"/>
              </a:rPr>
              <a:t>lex.l     parser.y     input.txt</a:t>
            </a:r>
          </a:p>
          <a:p xmlns:a="http://schemas.openxmlformats.org/drawingml/2006/main">
            <a:pPr>
              <a:defRPr sz="2175" b="0">
                <a:solidFill>
                  <a:srgbClr val="102B36"/>
                </a:solidFill>
                <a:latin typeface="Arial"/>
                <a:ea typeface="Arial"/>
                <a:cs typeface="Arial"/>
              </a:defRPr>
            </a:pPr>
            <a:r>
              <a:rPr sz="2175" b="0">
                <a:solidFill>
                  <a:srgbClr val="102B36"/>
                </a:solidFill>
                <a:latin typeface="Arial"/>
                <a:ea typeface="Arial"/>
                <a:cs typeface="Arial"/>
              </a:rPr>
              <a:t>lex.yy.c     parser.tab.c     parser.tab.h</a:t>
            </a:r>
          </a:p>
          <a:p xmlns:a="http://schemas.openxmlformats.org/drawingml/2006/main">
            <a:pPr>
              <a:defRPr sz="2175" b="0">
                <a:solidFill>
                  <a:srgbClr val="102B36"/>
                </a:solidFill>
                <a:latin typeface="Arial"/>
                <a:ea typeface="Arial"/>
                <a:cs typeface="Arial"/>
              </a:defRPr>
            </a:pPr>
            <a:r>
              <a:rPr sz="2175" b="0">
                <a:solidFill>
                  <a:srgbClr val="102B36"/>
                </a:solidFill>
                <a:latin typeface="Arial"/>
                <a:ea typeface="Arial"/>
                <a:cs typeface="Arial"/>
              </a:rPr>
              <a:t>compiler</a:t>
            </a:r>
          </a:p>
        </p:txBody>
      </p:sp>
      <p:sp>
        <p:nvSpPr>
          <p:cNvPr id="7" name="">
            <a:extLst xmlns:a="http://schemas.openxmlformats.org/drawingml/2006/main">
              <a:ext uri="{FF2B5EF4-FFF2-40B4-BE49-F238E27FC236}">
                <a16:creationId xmlns:a16="http://schemas.microsoft.com/office/drawing/2014/main" id="{EB823B9C-C72D-4100-843A-0FD4553F0021}"/>
              </a:ext>
            </a:extLst>
          </p:cNvPr>
          <p:cNvSpPr>
            <a:spLocks xmlns:a="http://schemas.openxmlformats.org/drawingml/2006/main" noGrp="1"/>
          </p:cNvSpPr>
          <p:nvPr/>
        </p:nvSpPr>
        <p:spPr>
          <a:xfrm xmlns:a="http://schemas.openxmlformats.org/drawingml/2006/main">
            <a:off x="609600" y="48196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On Windows, WSL accesses the same folder through /mnt/c/...</a:t>
            </a:r>
          </a:p>
        </p:txBody>
      </p:sp>
      <p:sp>
        <p:nvSpPr>
          <p:cNvPr id="8" name="">
            <a:extLst xmlns:a="http://schemas.openxmlformats.org/drawingml/2006/main">
              <a:ext uri="{FF2B5EF4-FFF2-40B4-BE49-F238E27FC236}">
                <a16:creationId xmlns:a16="http://schemas.microsoft.com/office/drawing/2014/main" id="{60E7E866-0119-4625-A3D2-035934DB9C4A}"/>
              </a:ext>
            </a:extLst>
          </p:cNvPr>
          <p:cNvSpPr>
            <a:spLocks xmlns:a="http://schemas.openxmlformats.org/drawingml/2006/main" noGrp="1"/>
          </p:cNvSpPr>
          <p:nvPr/>
        </p:nvSpPr>
        <p:spPr>
          <a:xfrm xmlns:a="http://schemas.openxmlformats.org/drawingml/2006/main">
            <a:off x="609600" y="5429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After the result is assembled, the backend attempts to delete the whole job folder.</a:t>
            </a:r>
          </a:p>
        </p:txBody>
      </p:sp>
    </p:spTree>
    <p:extLst>
      <p:ext uri="{BB962C8B-B14F-4D97-AF65-F5344CB8AC3E}">
        <p14:creationId xmlns:p14="http://schemas.microsoft.com/office/powerpoint/2010/main" val="844217115"/>
      </p:ext>
    </p:extLst>
  </p:cSld>
</p:sld>
</file>

<file path=ppt/slides/slide10.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5FBDEA-6C04-48C1-9C05-825392C69F6C}"/>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How Lex and Yacc become an executable</a:t>
            </a:r>
          </a:p>
        </p:txBody>
      </p:sp>
      <p:sp>
        <p:nvSpPr>
          <p:cNvPr id="2" name="">
            <a:extLst xmlns:a="http://schemas.openxmlformats.org/drawingml/2006/main">
              <a:ext uri="{FF2B5EF4-FFF2-40B4-BE49-F238E27FC236}">
                <a16:creationId xmlns:a16="http://schemas.microsoft.com/office/drawing/2014/main" id="{0A4F8639-D132-4584-B835-C9E829F0936C}"/>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EEE8EED7-5B46-4B22-94F6-F075672024F4}"/>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10</a:t>
            </a:r>
          </a:p>
        </p:txBody>
      </p:sp>
      <p:graphicFrame>
        <p:nvGraphicFramePr>
          <p:cNvPr id="9" name=""/>
          <p:cNvGraphicFramePr/>
          <p:nvPr/>
        </p:nvGraphicFramePr>
        <p:xfrm>
          <a:off xmlns:a="http://schemas.openxmlformats.org/drawingml/2006/main" x="609600" y="1543050"/>
          <a:ext xmlns:a="http://schemas.openxmlformats.org/drawingml/2006/main" cx="10972800" cy="4114800"/>
        </p:xfrm>
        <a:graphic xmlns:a="http://schemas.openxmlformats.org/drawingml/2006/main">
          <a:graphicData uri="http://schemas.openxmlformats.org/drawingml/2006/table">
            <a:tbl>
              <a:tblPr/>
              <a:tblGrid>
                <a:gridCol w="2190750"/>
                <a:gridCol w="3667125"/>
                <a:gridCol w="5114925"/>
              </a:tblGrid>
              <a:tr h="571500">
                <a:tc>
                  <a:txBody>
                    <a:bodyPr/>
                    <a:lstStyle/>
                    <a:p>
                      <a:r>
                        <a:rPr sz="1725" b="1">
                          <a:solidFill>
                            <a:srgbClr val="FFFFFF"/>
                          </a:solidFill>
                          <a:latin typeface="Arial"/>
                          <a:ea typeface="Arial"/>
                          <a:cs typeface="Arial"/>
                        </a:rPr>
                        <a:t>Stage</a:t>
                      </a:r>
                    </a:p>
                  </a:txBody>
                  <a:tcPr marL="91440" marR="91440" marT="45720" marB="45720">
                    <a:solidFill>
                      <a:srgbClr val="092D38"/>
                    </a:solidFill>
                  </a:tcPr>
                </a:tc>
                <a:tc>
                  <a:txBody>
                    <a:bodyPr/>
                    <a:lstStyle/>
                    <a:p>
                      <a:r>
                        <a:rPr sz="1725" b="1">
                          <a:solidFill>
                            <a:srgbClr val="FFFFFF"/>
                          </a:solidFill>
                          <a:latin typeface="Arial"/>
                          <a:ea typeface="Arial"/>
                          <a:cs typeface="Arial"/>
                        </a:rPr>
                        <a:t>Input</a:t>
                      </a:r>
                    </a:p>
                  </a:txBody>
                  <a:tcPr marL="91440" marR="91440" marT="45720" marB="45720">
                    <a:solidFill>
                      <a:srgbClr val="092D38"/>
                    </a:solidFill>
                  </a:tcPr>
                </a:tc>
                <a:tc>
                  <a:txBody>
                    <a:bodyPr/>
                    <a:lstStyle/>
                    <a:p>
                      <a:r>
                        <a:rPr sz="1725" b="1">
                          <a:solidFill>
                            <a:srgbClr val="FFFFFF"/>
                          </a:solidFill>
                          <a:latin typeface="Arial"/>
                          <a:ea typeface="Arial"/>
                          <a:cs typeface="Arial"/>
                        </a:rPr>
                        <a:t>Generated output / action</a:t>
                      </a:r>
                    </a:p>
                  </a:txBody>
                  <a:tcPr marL="91440" marR="91440" marT="45720" marB="45720">
                    <a:solidFill>
                      <a:srgbClr val="092D38"/>
                    </a:solidFill>
                  </a:tcPr>
                </a:tc>
              </a:tr>
              <a:tr h="708660">
                <a:tc>
                  <a:txBody>
                    <a:bodyPr/>
                    <a:lstStyle/>
                    <a:p>
                      <a:r>
                        <a:rPr sz="1725" b="0">
                          <a:solidFill>
                            <a:srgbClr val="102B36"/>
                          </a:solidFill>
                          <a:latin typeface="Arial"/>
                          <a:ea typeface="Arial"/>
                          <a:cs typeface="Arial"/>
                        </a:rPr>
                        <a:t>1. Flex</a:t>
                      </a:r>
                    </a:p>
                  </a:txBody>
                  <a:tcPr marL="91440" marR="91440" marT="45720" marB="45720">
                    <a:solidFill>
                      <a:srgbClr val="FFFFFF"/>
                    </a:solidFill>
                  </a:tcPr>
                </a:tc>
                <a:tc>
                  <a:txBody>
                    <a:bodyPr/>
                    <a:lstStyle/>
                    <a:p>
                      <a:r>
                        <a:rPr sz="1725" b="0">
                          <a:solidFill>
                            <a:srgbClr val="102B36"/>
                          </a:solidFill>
                          <a:latin typeface="Arial"/>
                          <a:ea typeface="Arial"/>
                          <a:cs typeface="Arial"/>
                        </a:rPr>
                        <a:t>lex.l</a:t>
                      </a:r>
                    </a:p>
                  </a:txBody>
                  <a:tcPr marL="91440" marR="91440" marT="45720" marB="45720">
                    <a:solidFill>
                      <a:srgbClr val="FFFFFF"/>
                    </a:solidFill>
                  </a:tcPr>
                </a:tc>
                <a:tc>
                  <a:txBody>
                    <a:bodyPr/>
                    <a:lstStyle/>
                    <a:p>
                      <a:r>
                        <a:rPr sz="1725" b="0">
                          <a:solidFill>
                            <a:srgbClr val="102B36"/>
                          </a:solidFill>
                          <a:latin typeface="Arial"/>
                          <a:ea typeface="Arial"/>
                          <a:cs typeface="Arial"/>
                        </a:rPr>
                        <a:t>lex.yy.c scanner source</a:t>
                      </a:r>
                    </a:p>
                  </a:txBody>
                  <a:tcPr marL="91440" marR="91440" marT="45720" marB="45720">
                    <a:solidFill>
                      <a:srgbClr val="FFFFFF"/>
                    </a:solidFill>
                  </a:tcPr>
                </a:tc>
              </a:tr>
              <a:tr h="708660">
                <a:tc>
                  <a:txBody>
                    <a:bodyPr/>
                    <a:lstStyle/>
                    <a:p>
                      <a:r>
                        <a:rPr sz="1725" b="0">
                          <a:solidFill>
                            <a:srgbClr val="102B36"/>
                          </a:solidFill>
                          <a:latin typeface="Arial"/>
                          <a:ea typeface="Arial"/>
                          <a:cs typeface="Arial"/>
                        </a:rPr>
                        <a:t>2. Bison</a:t>
                      </a:r>
                    </a:p>
                  </a:txBody>
                  <a:tcPr marL="91440" marR="91440" marT="45720" marB="45720">
                    <a:solidFill>
                      <a:srgbClr val="F6F8F4"/>
                    </a:solidFill>
                  </a:tcPr>
                </a:tc>
                <a:tc>
                  <a:txBody>
                    <a:bodyPr/>
                    <a:lstStyle/>
                    <a:p>
                      <a:r>
                        <a:rPr sz="1725" b="0">
                          <a:solidFill>
                            <a:srgbClr val="102B36"/>
                          </a:solidFill>
                          <a:latin typeface="Arial"/>
                          <a:ea typeface="Arial"/>
                          <a:cs typeface="Arial"/>
                        </a:rPr>
                        <a:t>parser.y</a:t>
                      </a:r>
                    </a:p>
                  </a:txBody>
                  <a:tcPr marL="91440" marR="91440" marT="45720" marB="45720">
                    <a:solidFill>
                      <a:srgbClr val="F6F8F4"/>
                    </a:solidFill>
                  </a:tcPr>
                </a:tc>
                <a:tc>
                  <a:txBody>
                    <a:bodyPr/>
                    <a:lstStyle/>
                    <a:p>
                      <a:r>
                        <a:rPr sz="1725" b="0">
                          <a:solidFill>
                            <a:srgbClr val="102B36"/>
                          </a:solidFill>
                          <a:latin typeface="Arial"/>
                          <a:ea typeface="Arial"/>
                          <a:cs typeface="Arial"/>
                        </a:rPr>
                        <a:t>parser.tab.c and parser.tab.h</a:t>
                      </a:r>
                    </a:p>
                  </a:txBody>
                  <a:tcPr marL="91440" marR="91440" marT="45720" marB="45720">
                    <a:solidFill>
                      <a:srgbClr val="F6F8F4"/>
                    </a:solidFill>
                  </a:tcPr>
                </a:tc>
              </a:tr>
              <a:tr h="708660">
                <a:tc>
                  <a:txBody>
                    <a:bodyPr/>
                    <a:lstStyle/>
                    <a:p>
                      <a:r>
                        <a:rPr sz="1725" b="0">
                          <a:solidFill>
                            <a:srgbClr val="102B36"/>
                          </a:solidFill>
                          <a:latin typeface="Arial"/>
                          <a:ea typeface="Arial"/>
                          <a:cs typeface="Arial"/>
                        </a:rPr>
                        <a:t>3. Header alignment</a:t>
                      </a:r>
                    </a:p>
                  </a:txBody>
                  <a:tcPr marL="91440" marR="91440" marT="45720" marB="45720">
                    <a:solidFill>
                      <a:srgbClr val="FFFFFF"/>
                    </a:solidFill>
                  </a:tcPr>
                </a:tc>
                <a:tc>
                  <a:txBody>
                    <a:bodyPr/>
                    <a:lstStyle/>
                    <a:p>
                      <a:r>
                        <a:rPr sz="1725" b="0">
                          <a:solidFill>
                            <a:srgbClr val="102B36"/>
                          </a:solidFill>
                          <a:latin typeface="Arial"/>
                          <a:ea typeface="Arial"/>
                          <a:cs typeface="Arial"/>
                        </a:rPr>
                        <a:t>Lexer header references</a:t>
                      </a:r>
                    </a:p>
                  </a:txBody>
                  <a:tcPr marL="91440" marR="91440" marT="45720" marB="45720">
                    <a:solidFill>
                      <a:srgbClr val="FFFFFF"/>
                    </a:solidFill>
                  </a:tcPr>
                </a:tc>
                <a:tc>
                  <a:txBody>
                    <a:bodyPr/>
                    <a:lstStyle/>
                    <a:p>
                      <a:r>
                        <a:rPr sz="1725" b="0">
                          <a:solidFill>
                            <a:srgbClr val="102B36"/>
                          </a:solidFill>
                          <a:latin typeface="Arial"/>
                          <a:ea typeface="Arial"/>
                          <a:cs typeface="Arial"/>
                        </a:rPr>
                        <a:t>Regenerate lexer using parser.tab.h</a:t>
                      </a:r>
                    </a:p>
                  </a:txBody>
                  <a:tcPr marL="91440" marR="91440" marT="45720" marB="45720">
                    <a:solidFill>
                      <a:srgbClr val="FFFFFF"/>
                    </a:solidFill>
                  </a:tcPr>
                </a:tc>
              </a:tr>
              <a:tr h="708660">
                <a:tc>
                  <a:txBody>
                    <a:bodyPr/>
                    <a:lstStyle/>
                    <a:p>
                      <a:r>
                        <a:rPr sz="1725" b="0">
                          <a:solidFill>
                            <a:srgbClr val="102B36"/>
                          </a:solidFill>
                          <a:latin typeface="Arial"/>
                          <a:ea typeface="Arial"/>
                          <a:cs typeface="Arial"/>
                        </a:rPr>
                        <a:t>4. GCC</a:t>
                      </a:r>
                    </a:p>
                  </a:txBody>
                  <a:tcPr marL="91440" marR="91440" marT="45720" marB="45720">
                    <a:solidFill>
                      <a:srgbClr val="F6F8F4"/>
                    </a:solidFill>
                  </a:tcPr>
                </a:tc>
                <a:tc>
                  <a:txBody>
                    <a:bodyPr/>
                    <a:lstStyle/>
                    <a:p>
                      <a:r>
                        <a:rPr sz="1725" b="0">
                          <a:solidFill>
                            <a:srgbClr val="102B36"/>
                          </a:solidFill>
                          <a:latin typeface="Arial"/>
                          <a:ea typeface="Arial"/>
                          <a:cs typeface="Arial"/>
                        </a:rPr>
                        <a:t>Generated C files</a:t>
                      </a:r>
                    </a:p>
                  </a:txBody>
                  <a:tcPr marL="91440" marR="91440" marT="45720" marB="45720">
                    <a:solidFill>
                      <a:srgbClr val="F6F8F4"/>
                    </a:solidFill>
                  </a:tcPr>
                </a:tc>
                <a:tc>
                  <a:txBody>
                    <a:bodyPr/>
                    <a:lstStyle/>
                    <a:p>
                      <a:r>
                        <a:rPr sz="1725" b="0">
                          <a:solidFill>
                            <a:srgbClr val="102B36"/>
                          </a:solidFill>
                          <a:latin typeface="Arial"/>
                          <a:ea typeface="Arial"/>
                          <a:cs typeface="Arial"/>
                        </a:rPr>
                        <a:t>Link libraries and create compiler</a:t>
                      </a:r>
                    </a:p>
                  </a:txBody>
                  <a:tcPr marL="91440" marR="91440" marT="45720" marB="45720">
                    <a:solidFill>
                      <a:srgbClr val="F6F8F4"/>
                    </a:solidFill>
                  </a:tcPr>
                </a:tc>
              </a:tr>
              <a:tr h="708660">
                <a:tc>
                  <a:txBody>
                    <a:bodyPr/>
                    <a:lstStyle/>
                    <a:p>
                      <a:r>
                        <a:rPr sz="1725" b="0">
                          <a:solidFill>
                            <a:srgbClr val="102B36"/>
                          </a:solidFill>
                          <a:latin typeface="Arial"/>
                          <a:ea typeface="Arial"/>
                          <a:cs typeface="Arial"/>
                        </a:rPr>
                        <a:t>5. Execution</a:t>
                      </a:r>
                    </a:p>
                  </a:txBody>
                  <a:tcPr marL="91440" marR="91440" marT="45720" marB="45720">
                    <a:solidFill>
                      <a:srgbClr val="FFFFFF"/>
                    </a:solidFill>
                  </a:tcPr>
                </a:tc>
                <a:tc>
                  <a:txBody>
                    <a:bodyPr/>
                    <a:lstStyle/>
                    <a:p>
                      <a:r>
                        <a:rPr sz="1725" b="0">
                          <a:solidFill>
                            <a:srgbClr val="102B36"/>
                          </a:solidFill>
                          <a:latin typeface="Arial"/>
                          <a:ea typeface="Arial"/>
                          <a:cs typeface="Arial"/>
                        </a:rPr>
                        <a:t>compiler + input.txt</a:t>
                      </a:r>
                    </a:p>
                  </a:txBody>
                  <a:tcPr marL="91440" marR="91440" marT="45720" marB="45720">
                    <a:solidFill>
                      <a:srgbClr val="FFFFFF"/>
                    </a:solidFill>
                  </a:tcPr>
                </a:tc>
                <a:tc>
                  <a:txBody>
                    <a:bodyPr/>
                    <a:lstStyle/>
                    <a:p>
                      <a:r>
                        <a:rPr sz="1725" b="0">
                          <a:solidFill>
                            <a:srgbClr val="102B36"/>
                          </a:solidFill>
                          <a:latin typeface="Arial"/>
                          <a:ea typeface="Arial"/>
                          <a:cs typeface="Arial"/>
                        </a:rPr>
                        <a:t>Capture stdout, stderr, and exit code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3573788-4565-4D7B-B7E1-6064FDC6AAFD}"/>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Lex-only skips Bison. Yacc-only must provide its own yylex() and main().</a:t>
            </a:r>
          </a:p>
        </p:txBody>
      </p:sp>
    </p:spTree>
    <p:extLst>
      <p:ext uri="{BB962C8B-B14F-4D97-AF65-F5344CB8AC3E}">
        <p14:creationId xmlns:p14="http://schemas.microsoft.com/office/powerpoint/2010/main" val="69346205"/>
      </p:ext>
    </p:extLst>
  </p:cSld>
</p:sld>
</file>

<file path=ppt/slides/slide11.xml><?xml version="1.0" encoding="utf-8"?>
<p:sld xmlns:p="http://schemas.openxmlformats.org/presentationml/2006/main">
  <p:cSld>
    <p:bg>
      <p:bgPr>
        <a:solidFill xmlns:a="http://schemas.openxmlformats.org/drawingml/2006/main">
          <a:srgbClr val="092D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B17072-E016-47D3-BD39-4ED78F7DD4BA}"/>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Native execution and educational analysis</a:t>
            </a:r>
          </a:p>
        </p:txBody>
      </p:sp>
      <p:sp>
        <p:nvSpPr>
          <p:cNvPr id="2" name="">
            <a:extLst xmlns:a="http://schemas.openxmlformats.org/drawingml/2006/main">
              <a:ext uri="{FF2B5EF4-FFF2-40B4-BE49-F238E27FC236}">
                <a16:creationId xmlns:a16="http://schemas.microsoft.com/office/drawing/2014/main" id="{B599EB53-C4F6-4890-A791-E5F07E99D8DC}"/>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DE4DD"/>
                </a:solidFill>
                <a:latin typeface="Arial"/>
                <a:ea typeface="Arial"/>
                <a:cs typeface="Arial"/>
              </a:defRPr>
            </a:pPr>
            <a:r>
              <a:rPr sz="1125" b="1">
                <a:solidFill>
                  <a:srgbClr val="BDE4DD"/>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57666386-48B7-44F7-AE01-62D0D3ACAC50}"/>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DE4DD"/>
                </a:solidFill>
                <a:latin typeface="Arial"/>
                <a:ea typeface="Arial"/>
                <a:cs typeface="Arial"/>
              </a:defRPr>
            </a:pPr>
            <a:r>
              <a:rPr sz="1125" b="0">
                <a:solidFill>
                  <a:srgbClr val="BDE4DD"/>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CE4D301-0BEA-4028-A40A-7DB346878763}"/>
              </a:ext>
            </a:extLst>
          </p:cNvPr>
          <p:cNvSpPr>
            <a:spLocks xmlns:a="http://schemas.openxmlformats.org/drawingml/2006/main" noGrp="1"/>
          </p:cNvSpPr>
          <p:nvPr/>
        </p:nvSpPr>
        <p:spPr>
          <a:xfrm xmlns:a="http://schemas.openxmlformats.org/drawingml/2006/main">
            <a:off x="609600" y="16859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DE4DD"/>
                </a:solidFill>
                <a:latin typeface="Arial"/>
                <a:ea typeface="Arial"/>
                <a:cs typeface="Arial"/>
              </a:defRPr>
            </a:pPr>
            <a:r>
              <a:rPr sz="2550" b="1">
                <a:solidFill>
                  <a:srgbClr val="BDE4DD"/>
                </a:solidFill>
                <a:latin typeface="Arial"/>
                <a:ea typeface="Arial"/>
                <a:cs typeface="Arial"/>
              </a:rPr>
              <a:t>Native program</a:t>
            </a:r>
          </a:p>
        </p:txBody>
      </p:sp>
      <p:sp>
        <p:nvSpPr>
          <p:cNvPr id="5" name="">
            <a:extLst xmlns:a="http://schemas.openxmlformats.org/drawingml/2006/main">
              <a:ext uri="{FF2B5EF4-FFF2-40B4-BE49-F238E27FC236}">
                <a16:creationId xmlns:a16="http://schemas.microsoft.com/office/drawing/2014/main" id="{4941B7AF-AFED-4A46-828B-7FEB494D2373}"/>
              </a:ext>
            </a:extLst>
          </p:cNvPr>
          <p:cNvSpPr>
            <a:spLocks xmlns:a="http://schemas.openxmlformats.org/drawingml/2006/main" noGrp="1"/>
          </p:cNvSpPr>
          <p:nvPr/>
        </p:nvSpPr>
        <p:spPr>
          <a:xfrm xmlns:a="http://schemas.openxmlformats.org/drawingml/2006/main">
            <a:off x="609600" y="2457450"/>
            <a:ext cx="5095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Your .l and .y rules</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Flex / Bison generated C</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GCC executable</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Actual stdout and diagnostics</a:t>
            </a:r>
          </a:p>
        </p:txBody>
      </p:sp>
      <p:sp>
        <p:nvSpPr>
          <p:cNvPr id="6" name="">
            <a:extLst xmlns:a="http://schemas.openxmlformats.org/drawingml/2006/main">
              <a:ext uri="{FF2B5EF4-FFF2-40B4-BE49-F238E27FC236}">
                <a16:creationId xmlns:a16="http://schemas.microsoft.com/office/drawing/2014/main" id="{72728F95-E4AD-417F-82D4-923D0C38979E}"/>
              </a:ext>
            </a:extLst>
          </p:cNvPr>
          <p:cNvSpPr>
            <a:spLocks xmlns:a="http://schemas.openxmlformats.org/drawingml/2006/main" noGrp="1"/>
          </p:cNvSpPr>
          <p:nvPr/>
        </p:nvSpPr>
        <p:spPr>
          <a:xfrm xmlns:a="http://schemas.openxmlformats.org/drawingml/2006/main">
            <a:off x="6400800" y="16859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DE4DD"/>
                </a:solidFill>
                <a:latin typeface="Arial"/>
                <a:ea typeface="Arial"/>
                <a:cs typeface="Arial"/>
              </a:defRPr>
            </a:pPr>
            <a:r>
              <a:rPr sz="2550" b="1">
                <a:solidFill>
                  <a:srgbClr val="BDE4DD"/>
                </a:solidFill>
                <a:latin typeface="Arial"/>
                <a:ea typeface="Arial"/>
                <a:cs typeface="Arial"/>
              </a:rPr>
              <a:t>Educational analyzer</a:t>
            </a:r>
          </a:p>
        </p:txBody>
      </p:sp>
      <p:sp>
        <p:nvSpPr>
          <p:cNvPr id="7" name="">
            <a:extLst xmlns:a="http://schemas.openxmlformats.org/drawingml/2006/main">
              <a:ext uri="{FF2B5EF4-FFF2-40B4-BE49-F238E27FC236}">
                <a16:creationId xmlns:a16="http://schemas.microsoft.com/office/drawing/2014/main" id="{357772E5-E200-4DA1-BB7B-2BC145A25D0F}"/>
              </a:ext>
            </a:extLst>
          </p:cNvPr>
          <p:cNvSpPr>
            <a:spLocks xmlns:a="http://schemas.openxmlformats.org/drawingml/2006/main" noGrp="1"/>
          </p:cNvSpPr>
          <p:nvPr/>
        </p:nvSpPr>
        <p:spPr>
          <a:xfrm xmlns:a="http://schemas.openxmlformats.org/drawingml/2006/main">
            <a:off x="6400800" y="2457450"/>
            <a:ext cx="5143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The same program input</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Lexora’s built-in C subset</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AST, symbols, and TAC</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Optimization and basic blocks</a:t>
            </a:r>
          </a:p>
        </p:txBody>
      </p:sp>
      <p:sp>
        <p:nvSpPr>
          <p:cNvPr id="8" name="">
            <a:extLst xmlns:a="http://schemas.openxmlformats.org/drawingml/2006/main">
              <a:ext uri="{FF2B5EF4-FFF2-40B4-BE49-F238E27FC236}">
                <a16:creationId xmlns:a16="http://schemas.microsoft.com/office/drawing/2014/main" id="{5406FAB2-7732-4476-A5A4-61AFDB767D7E}"/>
              </a:ext>
            </a:extLst>
          </p:cNvPr>
          <p:cNvSpPr>
            <a:spLocks xmlns:a="http://schemas.openxmlformats.org/drawingml/2006/main" noGrp="1"/>
          </p:cNvSpPr>
          <p:nvPr/>
        </p:nvSpPr>
        <p:spPr>
          <a:xfrm xmlns:a="http://schemas.openxmlformats.org/drawingml/2006/main">
            <a:off x="609600" y="5438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DE4DD"/>
                </a:solidFill>
                <a:latin typeface="Arial"/>
                <a:ea typeface="Arial"/>
                <a:cs typeface="Arial"/>
              </a:defRPr>
            </a:pPr>
            <a:r>
              <a:rPr sz="2025" b="1">
                <a:solidFill>
                  <a:srgbClr val="BDE4DD"/>
                </a:solidFill>
                <a:latin typeface="Arial"/>
                <a:ea typeface="Arial"/>
                <a:cs typeface="Arial"/>
              </a:rPr>
              <a:t>The displayed educational TAC does not become the native executable.</a:t>
            </a:r>
          </a:p>
        </p:txBody>
      </p:sp>
    </p:spTree>
    <p:extLst>
      <p:ext uri="{BB962C8B-B14F-4D97-AF65-F5344CB8AC3E}">
        <p14:creationId xmlns:p14="http://schemas.microsoft.com/office/powerpoint/2010/main" val="1952675971"/>
      </p:ext>
    </p:extLst>
  </p:cSld>
</p:sld>
</file>

<file path=ppt/slides/slide1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A798628-888D-46E9-8AFD-EF7867B8F7F5}"/>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Educational analysis pipeline</a:t>
            </a:r>
          </a:p>
        </p:txBody>
      </p:sp>
      <p:sp>
        <p:nvSpPr>
          <p:cNvPr id="2" name="">
            <a:extLst xmlns:a="http://schemas.openxmlformats.org/drawingml/2006/main">
              <a:ext uri="{FF2B5EF4-FFF2-40B4-BE49-F238E27FC236}">
                <a16:creationId xmlns:a16="http://schemas.microsoft.com/office/drawing/2014/main" id="{648CE248-9254-41B7-86D7-C3D371EE0B1D}"/>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7BCF48FA-7487-4B93-A82E-FFFF2E289242}"/>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D72E286-6DB8-4C51-9EE6-C72EC93F4C00}"/>
              </a:ext>
            </a:extLst>
          </p:cNvPr>
          <p:cNvSpPr>
            <a:spLocks xmlns:a="http://schemas.openxmlformats.org/drawingml/2006/main" noGrp="1"/>
          </p:cNvSpPr>
          <p:nvPr/>
        </p:nvSpPr>
        <p:spPr>
          <a:xfrm xmlns:a="http://schemas.openxmlformats.org/drawingml/2006/main">
            <a:off x="609600" y="1714500"/>
            <a:ext cx="2381250" cy="85725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Program input</a:t>
            </a:r>
          </a:p>
        </p:txBody>
      </p:sp>
      <p:sp>
        <p:nvSpPr>
          <p:cNvPr id="5" name="">
            <a:extLst xmlns:a="http://schemas.openxmlformats.org/drawingml/2006/main">
              <a:ext uri="{FF2B5EF4-FFF2-40B4-BE49-F238E27FC236}">
                <a16:creationId xmlns:a16="http://schemas.microsoft.com/office/drawing/2014/main" id="{6554AEEC-CB66-49CD-AA65-73C63CBA053D}"/>
              </a:ext>
            </a:extLst>
          </p:cNvPr>
          <p:cNvSpPr>
            <a:spLocks xmlns:a="http://schemas.openxmlformats.org/drawingml/2006/main" noGrp="1"/>
          </p:cNvSpPr>
          <p:nvPr/>
        </p:nvSpPr>
        <p:spPr>
          <a:xfrm xmlns:a="http://schemas.openxmlformats.org/drawingml/2006/main">
            <a:off x="4895850" y="1714500"/>
            <a:ext cx="2381250" cy="85725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Tokens</a:t>
            </a:r>
          </a:p>
        </p:txBody>
      </p:sp>
      <p:sp>
        <p:nvSpPr>
          <p:cNvPr id="6" name="">
            <a:extLst xmlns:a="http://schemas.openxmlformats.org/drawingml/2006/main">
              <a:ext uri="{FF2B5EF4-FFF2-40B4-BE49-F238E27FC236}">
                <a16:creationId xmlns:a16="http://schemas.microsoft.com/office/drawing/2014/main" id="{BEAFAF3E-78FB-4DBD-BE5C-DF023C750882}"/>
              </a:ext>
            </a:extLst>
          </p:cNvPr>
          <p:cNvSpPr>
            <a:spLocks xmlns:a="http://schemas.openxmlformats.org/drawingml/2006/main" noGrp="1"/>
          </p:cNvSpPr>
          <p:nvPr/>
        </p:nvSpPr>
        <p:spPr>
          <a:xfrm xmlns:a="http://schemas.openxmlformats.org/drawingml/2006/main">
            <a:off x="9182100" y="1714500"/>
            <a:ext cx="2381250" cy="857250"/>
          </a:xfrm>
          <a:prstGeom xmlns:a="http://schemas.openxmlformats.org/drawingml/2006/main" prst="rect">
            <a:avLst/>
          </a:prstGeom>
          <a:solidFill xmlns:a="http://schemas.openxmlformats.org/drawingml/2006/main">
            <a:srgbClr val="007D78"/>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AST</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2990850" y="2143125"/>
            <a:ext cx="1905000" cy="0"/>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277100" y="2143125"/>
            <a:ext cx="1905000" cy="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9" name="">
            <a:extLst xmlns:a="http://schemas.openxmlformats.org/drawingml/2006/main">
              <a:ext uri="{FF2B5EF4-FFF2-40B4-BE49-F238E27FC236}">
                <a16:creationId xmlns:a16="http://schemas.microsoft.com/office/drawing/2014/main" id="{996C1707-D8D0-49D4-940F-8DB630707D63}"/>
              </a:ext>
            </a:extLst>
          </p:cNvPr>
          <p:cNvSpPr>
            <a:spLocks xmlns:a="http://schemas.openxmlformats.org/drawingml/2006/main" noGrp="1"/>
          </p:cNvSpPr>
          <p:nvPr/>
        </p:nvSpPr>
        <p:spPr>
          <a:xfrm xmlns:a="http://schemas.openxmlformats.org/drawingml/2006/main">
            <a:off x="9182100" y="4000500"/>
            <a:ext cx="2381250"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Symbol table</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Scope checks</a:t>
            </a:r>
          </a:p>
        </p:txBody>
      </p:sp>
      <p:cxnSp>
        <p:nvCxnSpPr>
          <p:cNvPr id="25" name=""/>
          <p:cNvCxnSpPr>
            <a:stCxn xmlns:a="http://schemas.openxmlformats.org/drawingml/2006/main" id="6" idx="2"/>
            <a:endCxn xmlns:a="http://schemas.openxmlformats.org/drawingml/2006/main" id="9" idx="0"/>
          </p:cNvCxnSpPr>
          <p:nvPr/>
        </p:nvCxnSpPr>
        <p:spPr>
          <a:xfrm xmlns:a="http://schemas.openxmlformats.org/drawingml/2006/main">
            <a:off x="10372725" y="2571750"/>
            <a:ext cx="0" cy="142875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1" name="">
            <a:extLst xmlns:a="http://schemas.openxmlformats.org/drawingml/2006/main">
              <a:ext uri="{FF2B5EF4-FFF2-40B4-BE49-F238E27FC236}">
                <a16:creationId xmlns:a16="http://schemas.microsoft.com/office/drawing/2014/main" id="{54AA6F0C-2188-424D-841B-1D6B50D91F95}"/>
              </a:ext>
            </a:extLst>
          </p:cNvPr>
          <p:cNvSpPr>
            <a:spLocks xmlns:a="http://schemas.openxmlformats.org/drawingml/2006/main" noGrp="1"/>
          </p:cNvSpPr>
          <p:nvPr/>
        </p:nvSpPr>
        <p:spPr>
          <a:xfrm xmlns:a="http://schemas.openxmlformats.org/drawingml/2006/main">
            <a:off x="4895850" y="4000500"/>
            <a:ext cx="2381250"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Three-address</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code (TAC)</a:t>
            </a:r>
          </a:p>
        </p:txBody>
      </p:sp>
      <p:cxnSp>
        <p:nvCxnSpPr>
          <p:cNvPr id="27" name=""/>
          <p:cNvCxnSpPr>
            <a:stCxn xmlns:a="http://schemas.openxmlformats.org/drawingml/2006/main" id="6" idx="2"/>
            <a:endCxn xmlns:a="http://schemas.openxmlformats.org/drawingml/2006/main" id="11" idx="0"/>
          </p:cNvCxnSpPr>
          <p:nvPr/>
        </p:nvCxnSpPr>
        <p:spPr>
          <a:xfrm xmlns:a="http://schemas.openxmlformats.org/drawingml/2006/main" flipH="1">
            <a:off x="6086475" y="2571750"/>
            <a:ext cx="4286250" cy="1428750"/>
          </a:xfrm>
          <a:prstGeom xmlns:a="http://schemas.openxmlformats.org/drawingml/2006/main" prst="bentConnector4">
            <a:avLst>
              <a:gd name="adj1" fmla="val 0"/>
              <a:gd name="adj2" fmla="val 50000"/>
            </a:avLst>
          </a:prstGeom>
          <a:ln xmlns:a="http://schemas.openxmlformats.org/drawingml/2006/main" w="23813">
            <a:solidFill>
              <a:srgbClr val="007D78"/>
            </a:solidFill>
            <a:tailEnd type="triangle" w="med" len="med"/>
          </a:ln>
        </p:spPr>
      </p:cxnSp>
      <p:sp>
        <p:nvSpPr>
          <p:cNvPr id="13" name="">
            <a:extLst xmlns:a="http://schemas.openxmlformats.org/drawingml/2006/main">
              <a:ext uri="{FF2B5EF4-FFF2-40B4-BE49-F238E27FC236}">
                <a16:creationId xmlns:a16="http://schemas.microsoft.com/office/drawing/2014/main" id="{8214B7EA-9C9C-456B-AA24-8DFF96C85030}"/>
              </a:ext>
            </a:extLst>
          </p:cNvPr>
          <p:cNvSpPr>
            <a:spLocks xmlns:a="http://schemas.openxmlformats.org/drawingml/2006/main" noGrp="1"/>
          </p:cNvSpPr>
          <p:nvPr/>
        </p:nvSpPr>
        <p:spPr>
          <a:xfrm xmlns:a="http://schemas.openxmlformats.org/drawingml/2006/main">
            <a:off x="609600" y="4000500"/>
            <a:ext cx="2381250" cy="100012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Optimized TAC</a:t>
            </a:r>
          </a:p>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and basic blocks</a:t>
            </a:r>
          </a:p>
        </p:txBody>
      </p:sp>
      <p:cxnSp>
        <p:nvCxnSpPr>
          <p:cNvPr id="29" name=""/>
          <p:cNvCxnSpPr>
            <a:stCxn xmlns:a="http://schemas.openxmlformats.org/drawingml/2006/main" id="11" idx="1"/>
            <a:endCxn xmlns:a="http://schemas.openxmlformats.org/drawingml/2006/main" id="13" idx="3"/>
          </p:cNvCxnSpPr>
          <p:nvPr/>
        </p:nvCxnSpPr>
        <p:spPr>
          <a:xfrm xmlns:a="http://schemas.openxmlformats.org/drawingml/2006/main" flipH="1">
            <a:off x="2990850" y="4500563"/>
            <a:ext cx="1905000" cy="0"/>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5" name="">
            <a:extLst xmlns:a="http://schemas.openxmlformats.org/drawingml/2006/main">
              <a:ext uri="{FF2B5EF4-FFF2-40B4-BE49-F238E27FC236}">
                <a16:creationId xmlns:a16="http://schemas.microsoft.com/office/drawing/2014/main" id="{9A32E67B-59D6-46C0-B46C-B6E26A02E0EA}"/>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The optimizer transforms TAC. Basic-block detection partitions the original TAC.</a:t>
            </a:r>
          </a:p>
        </p:txBody>
      </p:sp>
    </p:spTree>
    <p:extLst>
      <p:ext uri="{BB962C8B-B14F-4D97-AF65-F5344CB8AC3E}">
        <p14:creationId xmlns:p14="http://schemas.microsoft.com/office/powerpoint/2010/main" val="980671123"/>
      </p:ext>
    </p:extLst>
  </p:cSld>
</p:sld>
</file>

<file path=ppt/slides/slide13.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56C03D7-EDBC-44F2-B96A-9174CDE432F0}"/>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Worked example: syntax and symbols</a:t>
            </a:r>
          </a:p>
        </p:txBody>
      </p:sp>
      <p:sp>
        <p:nvSpPr>
          <p:cNvPr id="2" name="">
            <a:extLst xmlns:a="http://schemas.openxmlformats.org/drawingml/2006/main">
              <a:ext uri="{FF2B5EF4-FFF2-40B4-BE49-F238E27FC236}">
                <a16:creationId xmlns:a16="http://schemas.microsoft.com/office/drawing/2014/main" id="{B786C302-6150-4DFC-AE89-6390A7F9746A}"/>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D033B736-518B-40AF-8F80-C42C03D32FAF}"/>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DF8F07F-58F0-49BD-ABE9-81B73D357AE0}"/>
              </a:ext>
            </a:extLst>
          </p:cNvPr>
          <p:cNvSpPr>
            <a:spLocks xmlns:a="http://schemas.openxmlformats.org/drawingml/2006/main" noGrp="1"/>
          </p:cNvSpPr>
          <p:nvPr/>
        </p:nvSpPr>
        <p:spPr>
          <a:xfrm xmlns:a="http://schemas.openxmlformats.org/drawingml/2006/main">
            <a:off x="609600" y="1495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D78"/>
                </a:solidFill>
                <a:latin typeface="Arial"/>
                <a:ea typeface="Arial"/>
                <a:cs typeface="Arial"/>
              </a:defRPr>
            </a:pPr>
            <a:r>
              <a:rPr sz="2700" b="1">
                <a:solidFill>
                  <a:srgbClr val="007D78"/>
                </a:solidFill>
                <a:latin typeface="Arial"/>
                <a:ea typeface="Arial"/>
                <a:cs typeface="Arial"/>
              </a:rPr>
              <a:t>int x = 2 + 3 * 4;</a:t>
            </a:r>
          </a:p>
        </p:txBody>
      </p:sp>
      <p:sp>
        <p:nvSpPr>
          <p:cNvPr id="5" name="">
            <a:extLst xmlns:a="http://schemas.openxmlformats.org/drawingml/2006/main">
              <a:ext uri="{FF2B5EF4-FFF2-40B4-BE49-F238E27FC236}">
                <a16:creationId xmlns:a16="http://schemas.microsoft.com/office/drawing/2014/main" id="{D5251B64-D972-4933-89E2-81A09582F572}"/>
              </a:ext>
            </a:extLst>
          </p:cNvPr>
          <p:cNvSpPr>
            <a:spLocks xmlns:a="http://schemas.openxmlformats.org/drawingml/2006/main" noGrp="1"/>
          </p:cNvSpPr>
          <p:nvPr/>
        </p:nvSpPr>
        <p:spPr>
          <a:xfrm xmlns:a="http://schemas.openxmlformats.org/drawingml/2006/main">
            <a:off x="1657350" y="2428875"/>
            <a:ext cx="2381250" cy="714375"/>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Declare x : int</a:t>
            </a:r>
          </a:p>
        </p:txBody>
      </p:sp>
      <p:sp>
        <p:nvSpPr>
          <p:cNvPr id="6" name="">
            <a:extLst xmlns:a="http://schemas.openxmlformats.org/drawingml/2006/main">
              <a:ext uri="{FF2B5EF4-FFF2-40B4-BE49-F238E27FC236}">
                <a16:creationId xmlns:a16="http://schemas.microsoft.com/office/drawing/2014/main" id="{53774D95-C44E-46AD-8CA6-2D4CDBF861EA}"/>
              </a:ext>
            </a:extLst>
          </p:cNvPr>
          <p:cNvSpPr>
            <a:spLocks xmlns:a="http://schemas.openxmlformats.org/drawingml/2006/main" noGrp="1"/>
          </p:cNvSpPr>
          <p:nvPr/>
        </p:nvSpPr>
        <p:spPr>
          <a:xfrm xmlns:a="http://schemas.openxmlformats.org/drawingml/2006/main">
            <a:off x="2276475" y="3571875"/>
            <a:ext cx="1143000" cy="62865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1830AAAB-8B9C-4B92-8E8F-523D33340F43}"/>
              </a:ext>
            </a:extLst>
          </p:cNvPr>
          <p:cNvSpPr>
            <a:spLocks xmlns:a="http://schemas.openxmlformats.org/drawingml/2006/main" noGrp="1"/>
          </p:cNvSpPr>
          <p:nvPr/>
        </p:nvSpPr>
        <p:spPr>
          <a:xfrm xmlns:a="http://schemas.openxmlformats.org/drawingml/2006/main">
            <a:off x="904875" y="4857750"/>
            <a:ext cx="1047750" cy="62865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E274779-8CCD-4646-8D3B-D4B3023C644A}"/>
              </a:ext>
            </a:extLst>
          </p:cNvPr>
          <p:cNvSpPr>
            <a:spLocks xmlns:a="http://schemas.openxmlformats.org/drawingml/2006/main" noGrp="1"/>
          </p:cNvSpPr>
          <p:nvPr/>
        </p:nvSpPr>
        <p:spPr>
          <a:xfrm xmlns:a="http://schemas.openxmlformats.org/drawingml/2006/main">
            <a:off x="3810000" y="4857750"/>
            <a:ext cx="1047750" cy="62865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a:t>
            </a:r>
          </a:p>
        </p:txBody>
      </p:sp>
      <p:cxnSp>
        <p:nvCxnSpPr>
          <p:cNvPr id="28" name=""/>
          <p:cNvCxnSpPr>
            <a:stCxn xmlns:a="http://schemas.openxmlformats.org/drawingml/2006/main" id="5" idx="2"/>
            <a:endCxn xmlns:a="http://schemas.openxmlformats.org/drawingml/2006/main" id="6" idx="0"/>
          </p:cNvCxnSpPr>
          <p:nvPr/>
        </p:nvCxnSpPr>
        <p:spPr>
          <a:xfrm xmlns:a="http://schemas.openxmlformats.org/drawingml/2006/main">
            <a:off x="2847975" y="3143250"/>
            <a:ext cx="0" cy="428625"/>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29" name=""/>
          <p:cNvCxnSpPr>
            <a:stCxn xmlns:a="http://schemas.openxmlformats.org/drawingml/2006/main" id="6" idx="2"/>
            <a:endCxn xmlns:a="http://schemas.openxmlformats.org/drawingml/2006/main" id="7" idx="0"/>
          </p:cNvCxnSpPr>
          <p:nvPr/>
        </p:nvCxnSpPr>
        <p:spPr>
          <a:xfrm xmlns:a="http://schemas.openxmlformats.org/drawingml/2006/main" flipH="1">
            <a:off x="1428750" y="4200525"/>
            <a:ext cx="1419225" cy="657225"/>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30" name=""/>
          <p:cNvCxnSpPr>
            <a:stCxn xmlns:a="http://schemas.openxmlformats.org/drawingml/2006/main" id="6" idx="2"/>
            <a:endCxn xmlns:a="http://schemas.openxmlformats.org/drawingml/2006/main" id="8" idx="0"/>
          </p:cNvCxnSpPr>
          <p:nvPr/>
        </p:nvCxnSpPr>
        <p:spPr>
          <a:xfrm xmlns:a="http://schemas.openxmlformats.org/drawingml/2006/main">
            <a:off x="2847975" y="4200525"/>
            <a:ext cx="1485900" cy="657225"/>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2" name="">
            <a:extLst xmlns:a="http://schemas.openxmlformats.org/drawingml/2006/main">
              <a:ext uri="{FF2B5EF4-FFF2-40B4-BE49-F238E27FC236}">
                <a16:creationId xmlns:a16="http://schemas.microsoft.com/office/drawing/2014/main" id="{5D79E0B6-5963-4B30-AAF7-6896F1E860BF}"/>
              </a:ext>
            </a:extLst>
          </p:cNvPr>
          <p:cNvSpPr>
            <a:spLocks xmlns:a="http://schemas.openxmlformats.org/drawingml/2006/main" noGrp="1"/>
          </p:cNvSpPr>
          <p:nvPr/>
        </p:nvSpPr>
        <p:spPr>
          <a:xfrm xmlns:a="http://schemas.openxmlformats.org/drawingml/2006/main">
            <a:off x="3333750" y="5800725"/>
            <a:ext cx="666750" cy="38100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07B1CD6D-84B5-44DB-9443-09BD6D816B39}"/>
              </a:ext>
            </a:extLst>
          </p:cNvPr>
          <p:cNvSpPr>
            <a:spLocks xmlns:a="http://schemas.openxmlformats.org/drawingml/2006/main" noGrp="1"/>
          </p:cNvSpPr>
          <p:nvPr/>
        </p:nvSpPr>
        <p:spPr>
          <a:xfrm xmlns:a="http://schemas.openxmlformats.org/drawingml/2006/main">
            <a:off x="4857750" y="5800725"/>
            <a:ext cx="666750" cy="381000"/>
          </a:xfrm>
          <a:prstGeom xmlns:a="http://schemas.openxmlformats.org/drawingml/2006/main" prst="rect">
            <a:avLst/>
          </a:prstGeom>
          <a:solidFill xmlns:a="http://schemas.openxmlformats.org/drawingml/2006/main">
            <a:srgbClr val="DDF3EB"/>
          </a:solidFill>
          <a:ln xmlns:a="http://schemas.openxmlformats.org/drawingml/2006/main" w="14288">
            <a:solidFill>
              <a:srgbClr val="007D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02B36"/>
                </a:solidFill>
                <a:latin typeface="Arial"/>
                <a:ea typeface="Arial"/>
                <a:cs typeface="Arial"/>
              </a:defRPr>
            </a:pPr>
            <a:r>
              <a:rPr sz="1875" b="1">
                <a:solidFill>
                  <a:srgbClr val="102B36"/>
                </a:solidFill>
                <a:latin typeface="Arial"/>
                <a:ea typeface="Arial"/>
                <a:cs typeface="Arial"/>
              </a:rPr>
              <a:t>4</a:t>
            </a:r>
          </a:p>
        </p:txBody>
      </p:sp>
      <p:cxnSp>
        <p:nvCxnSpPr>
          <p:cNvPr id="33" name=""/>
          <p:cNvCxnSpPr>
            <a:stCxn xmlns:a="http://schemas.openxmlformats.org/drawingml/2006/main" id="8" idx="2"/>
            <a:endCxn xmlns:a="http://schemas.openxmlformats.org/drawingml/2006/main" id="12" idx="0"/>
          </p:cNvCxnSpPr>
          <p:nvPr/>
        </p:nvCxnSpPr>
        <p:spPr>
          <a:xfrm xmlns:a="http://schemas.openxmlformats.org/drawingml/2006/main" flipH="1">
            <a:off x="3667125" y="5486400"/>
            <a:ext cx="666750" cy="314325"/>
          </a:xfrm>
          <a:prstGeom xmlns:a="http://schemas.openxmlformats.org/drawingml/2006/main" prst="straightConnector1">
            <a:avLst/>
          </a:prstGeom>
          <a:ln xmlns:a="http://schemas.openxmlformats.org/drawingml/2006/main" w="23813">
            <a:solidFill>
              <a:srgbClr val="007D78"/>
            </a:solidFill>
            <a:tailEnd type="triangle" w="med" len="med"/>
          </a:ln>
        </p:spPr>
      </p:cxnSp>
      <p:cxnSp>
        <p:nvCxnSpPr>
          <p:cNvPr id="34" name=""/>
          <p:cNvCxnSpPr>
            <a:stCxn xmlns:a="http://schemas.openxmlformats.org/drawingml/2006/main" id="8" idx="2"/>
            <a:endCxn xmlns:a="http://schemas.openxmlformats.org/drawingml/2006/main" id="13" idx="0"/>
          </p:cNvCxnSpPr>
          <p:nvPr/>
        </p:nvCxnSpPr>
        <p:spPr>
          <a:xfrm xmlns:a="http://schemas.openxmlformats.org/drawingml/2006/main">
            <a:off x="4333875" y="5486400"/>
            <a:ext cx="857250" cy="314325"/>
          </a:xfrm>
          <a:prstGeom xmlns:a="http://schemas.openxmlformats.org/drawingml/2006/main" prst="straightConnector1">
            <a:avLst/>
          </a:prstGeom>
          <a:ln xmlns:a="http://schemas.openxmlformats.org/drawingml/2006/main" w="23813">
            <a:solidFill>
              <a:srgbClr val="007D78"/>
            </a:solidFill>
            <a:tailEnd type="triangle" w="med" len="med"/>
          </a:ln>
        </p:spPr>
      </p:cxnSp>
      <p:sp>
        <p:nvSpPr>
          <p:cNvPr id="16" name="">
            <a:extLst xmlns:a="http://schemas.openxmlformats.org/drawingml/2006/main">
              <a:ext uri="{FF2B5EF4-FFF2-40B4-BE49-F238E27FC236}">
                <a16:creationId xmlns:a16="http://schemas.microsoft.com/office/drawing/2014/main" id="{5F54D61F-AC9E-4572-9B49-F73F7B11F788}"/>
              </a:ext>
            </a:extLst>
          </p:cNvPr>
          <p:cNvSpPr>
            <a:spLocks xmlns:a="http://schemas.openxmlformats.org/drawingml/2006/main" noGrp="1"/>
          </p:cNvSpPr>
          <p:nvPr/>
        </p:nvSpPr>
        <p:spPr>
          <a:xfrm xmlns:a="http://schemas.openxmlformats.org/drawingml/2006/main">
            <a:off x="6858000" y="24765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Operator precedence</a:t>
            </a:r>
          </a:p>
        </p:txBody>
      </p:sp>
      <p:sp>
        <p:nvSpPr>
          <p:cNvPr id="17" name="">
            <a:extLst xmlns:a="http://schemas.openxmlformats.org/drawingml/2006/main">
              <a:ext uri="{FF2B5EF4-FFF2-40B4-BE49-F238E27FC236}">
                <a16:creationId xmlns:a16="http://schemas.microsoft.com/office/drawing/2014/main" id="{81D364E8-ECBB-4B4A-BA9F-690D06BA545C}"/>
              </a:ext>
            </a:extLst>
          </p:cNvPr>
          <p:cNvSpPr>
            <a:spLocks xmlns:a="http://schemas.openxmlformats.org/drawingml/2006/main" noGrp="1"/>
          </p:cNvSpPr>
          <p:nvPr/>
        </p:nvSpPr>
        <p:spPr>
          <a:xfrm xmlns:a="http://schemas.openxmlformats.org/drawingml/2006/main">
            <a:off x="6858000" y="2990850"/>
            <a:ext cx="4476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Multiplication groups 3 and 4 before the addition to 2.</a:t>
            </a:r>
          </a:p>
        </p:txBody>
      </p:sp>
      <p:sp>
        <p:nvSpPr>
          <p:cNvPr id="18" name="">
            <a:extLst xmlns:a="http://schemas.openxmlformats.org/drawingml/2006/main">
              <a:ext uri="{FF2B5EF4-FFF2-40B4-BE49-F238E27FC236}">
                <a16:creationId xmlns:a16="http://schemas.microsoft.com/office/drawing/2014/main" id="{F67DFB0A-FCDC-49E6-9C69-FFE8A7773CCB}"/>
              </a:ext>
            </a:extLst>
          </p:cNvPr>
          <p:cNvSpPr>
            <a:spLocks xmlns:a="http://schemas.openxmlformats.org/drawingml/2006/main" noGrp="1"/>
          </p:cNvSpPr>
          <p:nvPr/>
        </p:nvSpPr>
        <p:spPr>
          <a:xfrm xmlns:a="http://schemas.openxmlformats.org/drawingml/2006/main">
            <a:off x="6858000" y="42386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Symbol table</a:t>
            </a:r>
          </a:p>
        </p:txBody>
      </p:sp>
      <p:sp>
        <p:nvSpPr>
          <p:cNvPr id="19" name="">
            <a:extLst xmlns:a="http://schemas.openxmlformats.org/drawingml/2006/main">
              <a:ext uri="{FF2B5EF4-FFF2-40B4-BE49-F238E27FC236}">
                <a16:creationId xmlns:a16="http://schemas.microsoft.com/office/drawing/2014/main" id="{87339DA8-EF87-4BC2-9212-3BE16D45CFFE}"/>
              </a:ext>
            </a:extLst>
          </p:cNvPr>
          <p:cNvSpPr>
            <a:spLocks xmlns:a="http://schemas.openxmlformats.org/drawingml/2006/main" noGrp="1"/>
          </p:cNvSpPr>
          <p:nvPr/>
        </p:nvSpPr>
        <p:spPr>
          <a:xfrm xmlns:a="http://schemas.openxmlformats.org/drawingml/2006/main">
            <a:off x="6858000" y="4752975"/>
            <a:ext cx="4476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x is an integer variable declared in global scope.</a:t>
            </a:r>
          </a:p>
        </p:txBody>
      </p:sp>
    </p:spTree>
    <p:extLst>
      <p:ext uri="{BB962C8B-B14F-4D97-AF65-F5344CB8AC3E}">
        <p14:creationId xmlns:p14="http://schemas.microsoft.com/office/powerpoint/2010/main" val="2044303726"/>
      </p:ext>
    </p:extLst>
  </p:cSld>
</p:sld>
</file>

<file path=ppt/slides/slide1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5634D2-28CC-4CDE-8C76-163452D418C5}"/>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Worked example: TAC and optimization</a:t>
            </a:r>
          </a:p>
        </p:txBody>
      </p:sp>
      <p:sp>
        <p:nvSpPr>
          <p:cNvPr id="2" name="">
            <a:extLst xmlns:a="http://schemas.openxmlformats.org/drawingml/2006/main">
              <a:ext uri="{FF2B5EF4-FFF2-40B4-BE49-F238E27FC236}">
                <a16:creationId xmlns:a16="http://schemas.microsoft.com/office/drawing/2014/main" id="{6CD0473A-3258-4A5F-9EEE-7AFC473D856B}"/>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E31F552D-8607-44EB-987A-8095FE9A4CA7}"/>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17870AE1-7A5F-4AA3-92FC-AA27F5F32C5E}"/>
              </a:ext>
            </a:extLst>
          </p:cNvPr>
          <p:cNvSpPr>
            <a:spLocks xmlns:a="http://schemas.openxmlformats.org/drawingml/2006/main" noGrp="1"/>
          </p:cNvSpPr>
          <p:nvPr/>
        </p:nvSpPr>
        <p:spPr>
          <a:xfrm xmlns:a="http://schemas.openxmlformats.org/drawingml/2006/main">
            <a:off x="609600" y="16954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D78"/>
                </a:solidFill>
                <a:latin typeface="Arial"/>
                <a:ea typeface="Arial"/>
                <a:cs typeface="Arial"/>
              </a:defRPr>
            </a:pPr>
            <a:r>
              <a:rPr sz="2400" b="1">
                <a:solidFill>
                  <a:srgbClr val="007D78"/>
                </a:solidFill>
                <a:latin typeface="Arial"/>
                <a:ea typeface="Arial"/>
                <a:cs typeface="Arial"/>
              </a:rPr>
              <a:t>Original TAC</a:t>
            </a:r>
          </a:p>
        </p:txBody>
      </p:sp>
      <p:sp>
        <p:nvSpPr>
          <p:cNvPr id="5" name="">
            <a:extLst xmlns:a="http://schemas.openxmlformats.org/drawingml/2006/main">
              <a:ext uri="{FF2B5EF4-FFF2-40B4-BE49-F238E27FC236}">
                <a16:creationId xmlns:a16="http://schemas.microsoft.com/office/drawing/2014/main" id="{69BD119C-A0D4-475E-9D58-C73D05627738}"/>
              </a:ext>
            </a:extLst>
          </p:cNvPr>
          <p:cNvSpPr>
            <a:spLocks xmlns:a="http://schemas.openxmlformats.org/drawingml/2006/main" noGrp="1"/>
          </p:cNvSpPr>
          <p:nvPr/>
        </p:nvSpPr>
        <p:spPr>
          <a:xfrm xmlns:a="http://schemas.openxmlformats.org/drawingml/2006/main">
            <a:off x="609600" y="2457450"/>
            <a:ext cx="49530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t1 = 3 * 4</a:t>
            </a:r>
          </a:p>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t2 = 2 + t1</a:t>
            </a:r>
          </a:p>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x = t2</a:t>
            </a:r>
          </a:p>
        </p:txBody>
      </p:sp>
      <p:sp>
        <p:nvSpPr>
          <p:cNvPr id="6" name="">
            <a:extLst xmlns:a="http://schemas.openxmlformats.org/drawingml/2006/main">
              <a:ext uri="{FF2B5EF4-FFF2-40B4-BE49-F238E27FC236}">
                <a16:creationId xmlns:a16="http://schemas.microsoft.com/office/drawing/2014/main" id="{ABDE421C-2E83-429B-AAA5-A1C7F47D8F9E}"/>
              </a:ext>
            </a:extLst>
          </p:cNvPr>
          <p:cNvSpPr>
            <a:spLocks xmlns:a="http://schemas.openxmlformats.org/drawingml/2006/main" noGrp="1"/>
          </p:cNvSpPr>
          <p:nvPr/>
        </p:nvSpPr>
        <p:spPr>
          <a:xfrm xmlns:a="http://schemas.openxmlformats.org/drawingml/2006/main">
            <a:off x="6400800" y="16954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D78"/>
                </a:solidFill>
                <a:latin typeface="Arial"/>
                <a:ea typeface="Arial"/>
                <a:cs typeface="Arial"/>
              </a:defRPr>
            </a:pPr>
            <a:r>
              <a:rPr sz="2400" b="1">
                <a:solidFill>
                  <a:srgbClr val="007D78"/>
                </a:solidFill>
                <a:latin typeface="Arial"/>
                <a:ea typeface="Arial"/>
                <a:cs typeface="Arial"/>
              </a:rPr>
              <a:t>Optimized TAC</a:t>
            </a:r>
          </a:p>
        </p:txBody>
      </p:sp>
      <p:sp>
        <p:nvSpPr>
          <p:cNvPr id="7" name="">
            <a:extLst xmlns:a="http://schemas.openxmlformats.org/drawingml/2006/main">
              <a:ext uri="{FF2B5EF4-FFF2-40B4-BE49-F238E27FC236}">
                <a16:creationId xmlns:a16="http://schemas.microsoft.com/office/drawing/2014/main" id="{F4953FF1-E261-4037-8FD6-E612130303CC}"/>
              </a:ext>
            </a:extLst>
          </p:cNvPr>
          <p:cNvSpPr>
            <a:spLocks xmlns:a="http://schemas.openxmlformats.org/drawingml/2006/main" noGrp="1"/>
          </p:cNvSpPr>
          <p:nvPr/>
        </p:nvSpPr>
        <p:spPr>
          <a:xfrm xmlns:a="http://schemas.openxmlformats.org/drawingml/2006/main">
            <a:off x="6400800" y="2457450"/>
            <a:ext cx="5143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t1 = 12</a:t>
            </a:r>
          </a:p>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t2 = 14</a:t>
            </a:r>
          </a:p>
          <a:p xmlns:a="http://schemas.openxmlformats.org/drawingml/2006/main">
            <a:pPr>
              <a:defRPr sz="2700" b="0">
                <a:solidFill>
                  <a:srgbClr val="102B36"/>
                </a:solidFill>
                <a:latin typeface="Arial"/>
                <a:ea typeface="Arial"/>
                <a:cs typeface="Arial"/>
              </a:defRPr>
            </a:pPr>
            <a:r>
              <a:rPr sz="2700" b="0">
                <a:solidFill>
                  <a:srgbClr val="102B36"/>
                </a:solidFill>
                <a:latin typeface="Arial"/>
                <a:ea typeface="Arial"/>
                <a:cs typeface="Arial"/>
              </a:rPr>
              <a:t>x = 14</a:t>
            </a:r>
          </a:p>
        </p:txBody>
      </p:sp>
      <p:sp>
        <p:nvSpPr>
          <p:cNvPr id="8" name="">
            <a:extLst xmlns:a="http://schemas.openxmlformats.org/drawingml/2006/main">
              <a:ext uri="{FF2B5EF4-FFF2-40B4-BE49-F238E27FC236}">
                <a16:creationId xmlns:a16="http://schemas.microsoft.com/office/drawing/2014/main" id="{2E937846-30BE-462C-B708-C0385F29A5C0}"/>
              </a:ext>
            </a:extLst>
          </p:cNvPr>
          <p:cNvSpPr>
            <a:spLocks xmlns:a="http://schemas.openxmlformats.org/drawingml/2006/main" noGrp="1"/>
          </p:cNvSpPr>
          <p:nvPr/>
        </p:nvSpPr>
        <p:spPr>
          <a:xfrm xmlns:a="http://schemas.openxmlformats.org/drawingml/2006/main">
            <a:off x="609600" y="4676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Constant folding evaluates arithmetic. Constant propagation substitutes known values.</a:t>
            </a:r>
          </a:p>
        </p:txBody>
      </p:sp>
      <p:sp>
        <p:nvSpPr>
          <p:cNvPr id="9" name="">
            <a:extLst xmlns:a="http://schemas.openxmlformats.org/drawingml/2006/main">
              <a:ext uri="{FF2B5EF4-FFF2-40B4-BE49-F238E27FC236}">
                <a16:creationId xmlns:a16="http://schemas.microsoft.com/office/drawing/2014/main" id="{39DAE05F-4463-43FD-A1F3-739A86D86074}"/>
              </a:ext>
            </a:extLst>
          </p:cNvPr>
          <p:cNvSpPr>
            <a:spLocks xmlns:a="http://schemas.openxmlformats.org/drawingml/2006/main" noGrp="1"/>
          </p:cNvSpPr>
          <p:nvPr/>
        </p:nvSpPr>
        <p:spPr>
          <a:xfrm xmlns:a="http://schemas.openxmlformats.org/drawingml/2006/main">
            <a:off x="609600" y="53149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This example has one basic block because it contains no branches.</a:t>
            </a:r>
          </a:p>
        </p:txBody>
      </p:sp>
    </p:spTree>
    <p:extLst>
      <p:ext uri="{BB962C8B-B14F-4D97-AF65-F5344CB8AC3E}">
        <p14:creationId xmlns:p14="http://schemas.microsoft.com/office/powerpoint/2010/main" val="1073379576"/>
      </p:ext>
    </p:extLst>
  </p:cSld>
</p:sld>
</file>

<file path=ppt/slides/slide15.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6F4368-F55E-4A56-BB83-DEB77A971881}"/>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Technology stack and responsibilities</a:t>
            </a:r>
          </a:p>
        </p:txBody>
      </p:sp>
      <p:sp>
        <p:nvSpPr>
          <p:cNvPr id="2" name="">
            <a:extLst xmlns:a="http://schemas.openxmlformats.org/drawingml/2006/main">
              <a:ext uri="{FF2B5EF4-FFF2-40B4-BE49-F238E27FC236}">
                <a16:creationId xmlns:a16="http://schemas.microsoft.com/office/drawing/2014/main" id="{597B9975-8B34-4BE7-982F-D26917FD6163}"/>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8B704C94-9C5E-485D-A376-43F2276C90EA}"/>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15</a:t>
            </a:r>
          </a:p>
        </p:txBody>
      </p:sp>
      <p:graphicFrame>
        <p:nvGraphicFramePr>
          <p:cNvPr id="8" name=""/>
          <p:cNvGraphicFramePr/>
          <p:nvPr/>
        </p:nvGraphicFramePr>
        <p:xfrm>
          <a:off xmlns:a="http://schemas.openxmlformats.org/drawingml/2006/main" x="609600" y="1590675"/>
          <a:ext xmlns:a="http://schemas.openxmlformats.org/drawingml/2006/main" cx="10972800" cy="4095750"/>
        </p:xfrm>
        <a:graphic xmlns:a="http://schemas.openxmlformats.org/drawingml/2006/main">
          <a:graphicData uri="http://schemas.openxmlformats.org/drawingml/2006/table">
            <a:tbl>
              <a:tblPr/>
              <a:tblGrid>
                <a:gridCol w="2667000"/>
                <a:gridCol w="3619500"/>
                <a:gridCol w="4686300"/>
              </a:tblGrid>
              <a:tr h="571500">
                <a:tc>
                  <a:txBody>
                    <a:bodyPr/>
                    <a:lstStyle/>
                    <a:p>
                      <a:r>
                        <a:rPr sz="1725" b="1">
                          <a:solidFill>
                            <a:srgbClr val="FFFFFF"/>
                          </a:solidFill>
                          <a:latin typeface="Arial"/>
                          <a:ea typeface="Arial"/>
                          <a:cs typeface="Arial"/>
                        </a:rPr>
                        <a:t>Layer</a:t>
                      </a:r>
                    </a:p>
                  </a:txBody>
                  <a:tcPr marL="91440" marR="91440" marT="45720" marB="45720">
                    <a:solidFill>
                      <a:srgbClr val="092D38"/>
                    </a:solidFill>
                  </a:tcPr>
                </a:tc>
                <a:tc>
                  <a:txBody>
                    <a:bodyPr/>
                    <a:lstStyle/>
                    <a:p>
                      <a:r>
                        <a:rPr sz="1725" b="1">
                          <a:solidFill>
                            <a:srgbClr val="FFFFFF"/>
                          </a:solidFill>
                          <a:latin typeface="Arial"/>
                          <a:ea typeface="Arial"/>
                          <a:cs typeface="Arial"/>
                        </a:rPr>
                        <a:t>Technology</a:t>
                      </a:r>
                    </a:p>
                  </a:txBody>
                  <a:tcPr marL="91440" marR="91440" marT="45720" marB="45720">
                    <a:solidFill>
                      <a:srgbClr val="092D38"/>
                    </a:solidFill>
                  </a:tcPr>
                </a:tc>
                <a:tc>
                  <a:txBody>
                    <a:bodyPr/>
                    <a:lstStyle/>
                    <a:p>
                      <a:r>
                        <a:rPr sz="1725" b="1">
                          <a:solidFill>
                            <a:srgbClr val="FFFFFF"/>
                          </a:solidFill>
                          <a:latin typeface="Arial"/>
                          <a:ea typeface="Arial"/>
                          <a:cs typeface="Arial"/>
                        </a:rPr>
                        <a:t>Responsibility</a:t>
                      </a:r>
                    </a:p>
                  </a:txBody>
                  <a:tcPr marL="91440" marR="91440" marT="45720" marB="45720">
                    <a:solidFill>
                      <a:srgbClr val="092D38"/>
                    </a:solidFill>
                  </a:tcPr>
                </a:tc>
              </a:tr>
              <a:tr h="704850">
                <a:tc>
                  <a:txBody>
                    <a:bodyPr/>
                    <a:lstStyle/>
                    <a:p>
                      <a:r>
                        <a:rPr sz="1725" b="0">
                          <a:solidFill>
                            <a:srgbClr val="102B36"/>
                          </a:solidFill>
                          <a:latin typeface="Arial"/>
                          <a:ea typeface="Arial"/>
                          <a:cs typeface="Arial"/>
                        </a:rPr>
                        <a:t>Browser interface</a:t>
                      </a:r>
                    </a:p>
                  </a:txBody>
                  <a:tcPr marL="91440" marR="91440" marT="45720" marB="45720">
                    <a:solidFill>
                      <a:srgbClr val="FFFFFF"/>
                    </a:solidFill>
                  </a:tcPr>
                </a:tc>
                <a:tc>
                  <a:txBody>
                    <a:bodyPr/>
                    <a:lstStyle/>
                    <a:p>
                      <a:r>
                        <a:rPr sz="1725" b="0">
                          <a:solidFill>
                            <a:srgbClr val="102B36"/>
                          </a:solidFill>
                          <a:latin typeface="Arial"/>
                          <a:ea typeface="Arial"/>
                          <a:cs typeface="Arial"/>
                        </a:rPr>
                        <a:t>React 19 + CodeMirror 6</a:t>
                      </a:r>
                    </a:p>
                  </a:txBody>
                  <a:tcPr marL="91440" marR="91440" marT="45720" marB="45720">
                    <a:solidFill>
                      <a:srgbClr val="FFFFFF"/>
                    </a:solidFill>
                  </a:tcPr>
                </a:tc>
                <a:tc>
                  <a:txBody>
                    <a:bodyPr/>
                    <a:lstStyle/>
                    <a:p>
                      <a:r>
                        <a:rPr sz="1725" b="0">
                          <a:solidFill>
                            <a:srgbClr val="102B36"/>
                          </a:solidFill>
                          <a:latin typeface="Arial"/>
                          <a:ea typeface="Arial"/>
                          <a:cs typeface="Arial"/>
                        </a:rPr>
                        <a:t>Workspace, editor, and output views</a:t>
                      </a:r>
                    </a:p>
                  </a:txBody>
                  <a:tcPr marL="91440" marR="91440" marT="45720" marB="45720">
                    <a:solidFill>
                      <a:srgbClr val="FFFFFF"/>
                    </a:solidFill>
                  </a:tcPr>
                </a:tc>
              </a:tr>
              <a:tr h="704850">
                <a:tc>
                  <a:txBody>
                    <a:bodyPr/>
                    <a:lstStyle/>
                    <a:p>
                      <a:r>
                        <a:rPr sz="1725" b="0">
                          <a:solidFill>
                            <a:srgbClr val="102B36"/>
                          </a:solidFill>
                          <a:latin typeface="Arial"/>
                          <a:ea typeface="Arial"/>
                          <a:cs typeface="Arial"/>
                        </a:rPr>
                        <a:t>Frontend tooling</a:t>
                      </a:r>
                    </a:p>
                  </a:txBody>
                  <a:tcPr marL="91440" marR="91440" marT="45720" marB="45720">
                    <a:solidFill>
                      <a:srgbClr val="F6F8F4"/>
                    </a:solidFill>
                  </a:tcPr>
                </a:tc>
                <a:tc>
                  <a:txBody>
                    <a:bodyPr/>
                    <a:lstStyle/>
                    <a:p>
                      <a:r>
                        <a:rPr sz="1725" b="0">
                          <a:solidFill>
                            <a:srgbClr val="102B36"/>
                          </a:solidFill>
                          <a:latin typeface="Arial"/>
                          <a:ea typeface="Arial"/>
                          <a:cs typeface="Arial"/>
                        </a:rPr>
                        <a:t>Vite 8</a:t>
                      </a:r>
                    </a:p>
                  </a:txBody>
                  <a:tcPr marL="91440" marR="91440" marT="45720" marB="45720">
                    <a:solidFill>
                      <a:srgbClr val="F6F8F4"/>
                    </a:solidFill>
                  </a:tcPr>
                </a:tc>
                <a:tc>
                  <a:txBody>
                    <a:bodyPr/>
                    <a:lstStyle/>
                    <a:p>
                      <a:r>
                        <a:rPr sz="1725" b="0">
                          <a:solidFill>
                            <a:srgbClr val="102B36"/>
                          </a:solidFill>
                          <a:latin typeface="Arial"/>
                          <a:ea typeface="Arial"/>
                          <a:cs typeface="Arial"/>
                        </a:rPr>
                        <a:t>Development server and frontend bundle</a:t>
                      </a:r>
                    </a:p>
                  </a:txBody>
                  <a:tcPr marL="91440" marR="91440" marT="45720" marB="45720">
                    <a:solidFill>
                      <a:srgbClr val="F6F8F4"/>
                    </a:solidFill>
                  </a:tcPr>
                </a:tc>
              </a:tr>
              <a:tr h="704850">
                <a:tc>
                  <a:txBody>
                    <a:bodyPr/>
                    <a:lstStyle/>
                    <a:p>
                      <a:r>
                        <a:rPr sz="1725" b="0">
                          <a:solidFill>
                            <a:srgbClr val="102B36"/>
                          </a:solidFill>
                          <a:latin typeface="Arial"/>
                          <a:ea typeface="Arial"/>
                          <a:cs typeface="Arial"/>
                        </a:rPr>
                        <a:t>API service</a:t>
                      </a:r>
                    </a:p>
                  </a:txBody>
                  <a:tcPr marL="91440" marR="91440" marT="45720" marB="45720">
                    <a:solidFill>
                      <a:srgbClr val="FFFFFF"/>
                    </a:solidFill>
                  </a:tcPr>
                </a:tc>
                <a:tc>
                  <a:txBody>
                    <a:bodyPr/>
                    <a:lstStyle/>
                    <a:p>
                      <a:r>
                        <a:rPr sz="1725" b="0">
                          <a:solidFill>
                            <a:srgbClr val="102B36"/>
                          </a:solidFill>
                          <a:latin typeface="Arial"/>
                          <a:ea typeface="Arial"/>
                          <a:cs typeface="Arial"/>
                        </a:rPr>
                        <a:t>Node.js + Express 5</a:t>
                      </a:r>
                    </a:p>
                  </a:txBody>
                  <a:tcPr marL="91440" marR="91440" marT="45720" marB="45720">
                    <a:solidFill>
                      <a:srgbClr val="FFFFFF"/>
                    </a:solidFill>
                  </a:tcPr>
                </a:tc>
                <a:tc>
                  <a:txBody>
                    <a:bodyPr/>
                    <a:lstStyle/>
                    <a:p>
                      <a:r>
                        <a:rPr sz="1725" b="0">
                          <a:solidFill>
                            <a:srgbClr val="102B36"/>
                          </a:solidFill>
                          <a:latin typeface="Arial"/>
                          <a:ea typeface="Arial"/>
                          <a:cs typeface="Arial"/>
                        </a:rPr>
                        <a:t>Validation and compilation orchestration</a:t>
                      </a:r>
                    </a:p>
                  </a:txBody>
                  <a:tcPr marL="91440" marR="91440" marT="45720" marB="45720">
                    <a:solidFill>
                      <a:srgbClr val="FFFFFF"/>
                    </a:solidFill>
                  </a:tcPr>
                </a:tc>
              </a:tr>
              <a:tr h="704850">
                <a:tc>
                  <a:txBody>
                    <a:bodyPr/>
                    <a:lstStyle/>
                    <a:p>
                      <a:r>
                        <a:rPr sz="1725" b="0">
                          <a:solidFill>
                            <a:srgbClr val="102B36"/>
                          </a:solidFill>
                          <a:latin typeface="Arial"/>
                          <a:ea typeface="Arial"/>
                          <a:cs typeface="Arial"/>
                        </a:rPr>
                        <a:t>Compiler tools</a:t>
                      </a:r>
                    </a:p>
                  </a:txBody>
                  <a:tcPr marL="91440" marR="91440" marT="45720" marB="45720">
                    <a:solidFill>
                      <a:srgbClr val="F6F8F4"/>
                    </a:solidFill>
                  </a:tcPr>
                </a:tc>
                <a:tc>
                  <a:txBody>
                    <a:bodyPr/>
                    <a:lstStyle/>
                    <a:p>
                      <a:r>
                        <a:rPr sz="1725" b="0">
                          <a:solidFill>
                            <a:srgbClr val="102B36"/>
                          </a:solidFill>
                          <a:latin typeface="Arial"/>
                          <a:ea typeface="Arial"/>
                          <a:cs typeface="Arial"/>
                        </a:rPr>
                        <a:t>Flex, Bison, GCC</a:t>
                      </a:r>
                    </a:p>
                  </a:txBody>
                  <a:tcPr marL="91440" marR="91440" marT="45720" marB="45720">
                    <a:solidFill>
                      <a:srgbClr val="F6F8F4"/>
                    </a:solidFill>
                  </a:tcPr>
                </a:tc>
                <a:tc>
                  <a:txBody>
                    <a:bodyPr/>
                    <a:lstStyle/>
                    <a:p>
                      <a:r>
                        <a:rPr sz="1725" b="0">
                          <a:solidFill>
                            <a:srgbClr val="102B36"/>
                          </a:solidFill>
                          <a:latin typeface="Arial"/>
                          <a:ea typeface="Arial"/>
                          <a:cs typeface="Arial"/>
                        </a:rPr>
                        <a:t>Generate, compile, and run C</a:t>
                      </a:r>
                    </a:p>
                  </a:txBody>
                  <a:tcPr marL="91440" marR="91440" marT="45720" marB="45720">
                    <a:solidFill>
                      <a:srgbClr val="F6F8F4"/>
                    </a:solidFill>
                  </a:tcPr>
                </a:tc>
              </a:tr>
              <a:tr h="704850">
                <a:tc>
                  <a:txBody>
                    <a:bodyPr/>
                    <a:lstStyle/>
                    <a:p>
                      <a:r>
                        <a:rPr sz="1725" b="0">
                          <a:solidFill>
                            <a:srgbClr val="102B36"/>
                          </a:solidFill>
                          <a:latin typeface="Arial"/>
                          <a:ea typeface="Arial"/>
                          <a:cs typeface="Arial"/>
                        </a:rPr>
                        <a:t>Execution environment</a:t>
                      </a:r>
                    </a:p>
                  </a:txBody>
                  <a:tcPr marL="91440" marR="91440" marT="45720" marB="45720">
                    <a:solidFill>
                      <a:srgbClr val="FFFFFF"/>
                    </a:solidFill>
                  </a:tcPr>
                </a:tc>
                <a:tc>
                  <a:txBody>
                    <a:bodyPr/>
                    <a:lstStyle/>
                    <a:p>
                      <a:r>
                        <a:rPr sz="1725" b="0">
                          <a:solidFill>
                            <a:srgbClr val="102B36"/>
                          </a:solidFill>
                          <a:latin typeface="Arial"/>
                          <a:ea typeface="Arial"/>
                          <a:cs typeface="Arial"/>
                        </a:rPr>
                        <a:t>WSL Ubuntu / native Linux</a:t>
                      </a:r>
                    </a:p>
                  </a:txBody>
                  <a:tcPr marL="91440" marR="91440" marT="45720" marB="45720">
                    <a:solidFill>
                      <a:srgbClr val="FFFFFF"/>
                    </a:solidFill>
                  </a:tcPr>
                </a:tc>
                <a:tc>
                  <a:txBody>
                    <a:bodyPr/>
                    <a:lstStyle/>
                    <a:p>
                      <a:r>
                        <a:rPr sz="1725" b="0">
                          <a:solidFill>
                            <a:srgbClr val="102B36"/>
                          </a:solidFill>
                          <a:latin typeface="Arial"/>
                          <a:ea typeface="Arial"/>
                          <a:cs typeface="Arial"/>
                        </a:rPr>
                        <a:t>Run native compiler commands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79681387"/>
      </p:ext>
    </p:extLst>
  </p:cSld>
</p:sld>
</file>

<file path=ppt/slides/slide1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D4B23F-3DD5-4685-A9A9-3D02553CC44F}"/>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Demonstration: calculator</a:t>
            </a:r>
          </a:p>
        </p:txBody>
      </p:sp>
      <p:sp>
        <p:nvSpPr>
          <p:cNvPr id="2" name="">
            <a:extLst xmlns:a="http://schemas.openxmlformats.org/drawingml/2006/main">
              <a:ext uri="{FF2B5EF4-FFF2-40B4-BE49-F238E27FC236}">
                <a16:creationId xmlns:a16="http://schemas.microsoft.com/office/drawing/2014/main" id="{7151CF11-ECD3-4382-A5E4-9C9267CD8455}"/>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564711A9-CBE9-4A9C-88F3-84F6F59F330B}"/>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3F926860-F16A-4AC5-A49E-A67153E451E3}"/>
              </a:ext>
            </a:extLst>
          </p:cNvPr>
          <p:cNvSpPr>
            <a:spLocks xmlns:a="http://schemas.openxmlformats.org/drawingml/2006/main" noGrp="1"/>
          </p:cNvSpPr>
          <p:nvPr/>
        </p:nvSpPr>
        <p:spPr>
          <a:xfrm xmlns:a="http://schemas.openxmlformats.org/drawingml/2006/main">
            <a:off x="609600" y="169545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8FAE095E-F59C-40FB-BA7E-CA4531E8EC42}"/>
              </a:ext>
            </a:extLst>
          </p:cNvPr>
          <p:cNvSpPr>
            <a:spLocks xmlns:a="http://schemas.openxmlformats.org/drawingml/2006/main" noGrp="1"/>
          </p:cNvSpPr>
          <p:nvPr/>
        </p:nvSpPr>
        <p:spPr>
          <a:xfrm xmlns:a="http://schemas.openxmlformats.org/drawingml/2006/main">
            <a:off x="609600" y="2409825"/>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02B36"/>
                </a:solidFill>
                <a:latin typeface="Arial"/>
                <a:ea typeface="Arial"/>
                <a:cs typeface="Arial"/>
              </a:defRPr>
            </a:pPr>
            <a:r>
              <a:rPr sz="3900" b="1">
                <a:solidFill>
                  <a:srgbClr val="102B36"/>
                </a:solidFill>
                <a:latin typeface="Arial"/>
                <a:ea typeface="Arial"/>
                <a:cs typeface="Arial"/>
              </a:rPr>
              <a:t>3 + 5 * 2</a:t>
            </a:r>
          </a:p>
        </p:txBody>
      </p:sp>
      <p:sp>
        <p:nvSpPr>
          <p:cNvPr id="6" name="">
            <a:extLst xmlns:a="http://schemas.openxmlformats.org/drawingml/2006/main">
              <a:ext uri="{FF2B5EF4-FFF2-40B4-BE49-F238E27FC236}">
                <a16:creationId xmlns:a16="http://schemas.microsoft.com/office/drawing/2014/main" id="{AD4D21E9-B80B-4D5D-B803-67C4E67718E3}"/>
              </a:ext>
            </a:extLst>
          </p:cNvPr>
          <p:cNvSpPr>
            <a:spLocks xmlns:a="http://schemas.openxmlformats.org/drawingml/2006/main" noGrp="1"/>
          </p:cNvSpPr>
          <p:nvPr/>
        </p:nvSpPr>
        <p:spPr>
          <a:xfrm xmlns:a="http://schemas.openxmlformats.org/drawingml/2006/main">
            <a:off x="8143875" y="16954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Native output</a:t>
            </a:r>
          </a:p>
        </p:txBody>
      </p:sp>
      <p:sp>
        <p:nvSpPr>
          <p:cNvPr id="7" name="">
            <a:extLst xmlns:a="http://schemas.openxmlformats.org/drawingml/2006/main">
              <a:ext uri="{FF2B5EF4-FFF2-40B4-BE49-F238E27FC236}">
                <a16:creationId xmlns:a16="http://schemas.microsoft.com/office/drawing/2014/main" id="{231101A4-30CC-4B5F-9F34-4DA63B4C53E7}"/>
              </a:ext>
            </a:extLst>
          </p:cNvPr>
          <p:cNvSpPr>
            <a:spLocks xmlns:a="http://schemas.openxmlformats.org/drawingml/2006/main" noGrp="1"/>
          </p:cNvSpPr>
          <p:nvPr/>
        </p:nvSpPr>
        <p:spPr>
          <a:xfrm xmlns:a="http://schemas.openxmlformats.org/drawingml/2006/main">
            <a:off x="8115300" y="2314575"/>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007D78"/>
                </a:solidFill>
                <a:latin typeface="Arial"/>
                <a:ea typeface="Arial"/>
                <a:cs typeface="Arial"/>
              </a:defRPr>
            </a:pPr>
            <a:r>
              <a:rPr sz="7500" b="1">
                <a:solidFill>
                  <a:srgbClr val="007D78"/>
                </a:solidFill>
                <a:latin typeface="Arial"/>
                <a:ea typeface="Arial"/>
                <a:cs typeface="Arial"/>
              </a:rPr>
              <a:t>13</a:t>
            </a:r>
          </a:p>
        </p:txBody>
      </p:sp>
      <p:sp>
        <p:nvSpPr>
          <p:cNvPr id="8" name="">
            <a:extLst xmlns:a="http://schemas.openxmlformats.org/drawingml/2006/main">
              <a:ext uri="{FF2B5EF4-FFF2-40B4-BE49-F238E27FC236}">
                <a16:creationId xmlns:a16="http://schemas.microsoft.com/office/drawing/2014/main" id="{B85E6F84-9E0A-4588-A0B4-A67F803EA793}"/>
              </a:ext>
            </a:extLst>
          </p:cNvPr>
          <p:cNvSpPr>
            <a:spLocks xmlns:a="http://schemas.openxmlformats.org/drawingml/2006/main" noGrp="1"/>
          </p:cNvSpPr>
          <p:nvPr/>
        </p:nvSpPr>
        <p:spPr>
          <a:xfrm xmlns:a="http://schemas.openxmlformats.org/drawingml/2006/main">
            <a:off x="609600" y="3952875"/>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B36"/>
                </a:solidFill>
                <a:latin typeface="Arial"/>
                <a:ea typeface="Arial"/>
                <a:cs typeface="Arial"/>
              </a:defRPr>
            </a:pPr>
            <a:r>
              <a:rPr sz="2250" b="1">
                <a:solidFill>
                  <a:srgbClr val="102B36"/>
                </a:solidFill>
                <a:latin typeface="Arial"/>
                <a:ea typeface="Arial"/>
                <a:cs typeface="Arial"/>
              </a:rPr>
              <a:t>Demo sequence</a:t>
            </a:r>
          </a:p>
        </p:txBody>
      </p:sp>
      <p:sp>
        <p:nvSpPr>
          <p:cNvPr id="9" name="">
            <a:extLst xmlns:a="http://schemas.openxmlformats.org/drawingml/2006/main">
              <a:ext uri="{FF2B5EF4-FFF2-40B4-BE49-F238E27FC236}">
                <a16:creationId xmlns:a16="http://schemas.microsoft.com/office/drawing/2014/main" id="{E3C3B72C-D968-4774-81F3-4EAA1D4C2C1E}"/>
              </a:ext>
            </a:extLst>
          </p:cNvPr>
          <p:cNvSpPr>
            <a:spLocks xmlns:a="http://schemas.openxmlformats.org/drawingml/2006/main" noGrp="1"/>
          </p:cNvSpPr>
          <p:nvPr/>
        </p:nvSpPr>
        <p:spPr>
          <a:xfrm xmlns:a="http://schemas.openxmlformats.org/drawingml/2006/main">
            <a:off x="609600" y="45243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36"/>
                </a:solidFill>
                <a:latin typeface="Arial"/>
                <a:ea typeface="Arial"/>
                <a:cs typeface="Arial"/>
              </a:defRPr>
            </a:pPr>
            <a:r>
              <a:rPr sz="2100" b="0">
                <a:solidFill>
                  <a:srgbClr val="102B36"/>
                </a:solidFill>
                <a:latin typeface="Arial"/>
                <a:ea typeface="Arial"/>
                <a:cs typeface="Arial"/>
              </a:rPr>
              <a:t>Load Calculator, choose Lex + Yacc, then Compile.</a:t>
            </a:r>
          </a:p>
          <a:p xmlns:a="http://schemas.openxmlformats.org/drawingml/2006/main">
            <a:pPr>
              <a:defRPr sz="2100" b="0">
                <a:solidFill>
                  <a:srgbClr val="102B36"/>
                </a:solidFill>
                <a:latin typeface="Arial"/>
                <a:ea typeface="Arial"/>
                <a:cs typeface="Arial"/>
              </a:defRPr>
            </a:pPr>
            <a:r>
              <a:rPr sz="2100" b="0">
                <a:solidFill>
                  <a:srgbClr val="102B36"/>
                </a:solidFill>
                <a:latin typeface="Arial"/>
                <a:ea typeface="Arial"/>
                <a:cs typeface="Arial"/>
              </a:rPr>
              <a:t>Show the console, syntax tree, and TAC tabs.</a:t>
            </a:r>
          </a:p>
        </p:txBody>
      </p:sp>
      <p:sp>
        <p:nvSpPr>
          <p:cNvPr id="10" name="">
            <a:extLst xmlns:a="http://schemas.openxmlformats.org/drawingml/2006/main">
              <a:ext uri="{FF2B5EF4-FFF2-40B4-BE49-F238E27FC236}">
                <a16:creationId xmlns:a16="http://schemas.microsoft.com/office/drawing/2014/main" id="{0A1FCCD8-D48A-4020-A171-ED48E5BAEB9F}"/>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Keep a newline after the expression. The bundled grammar uses EOL to finish a result.</a:t>
            </a:r>
          </a:p>
        </p:txBody>
      </p:sp>
    </p:spTree>
    <p:extLst>
      <p:ext uri="{BB962C8B-B14F-4D97-AF65-F5344CB8AC3E}">
        <p14:creationId xmlns:p14="http://schemas.microsoft.com/office/powerpoint/2010/main" val="1210838181"/>
      </p:ext>
    </p:extLst>
  </p:cSld>
</p:sld>
</file>

<file path=ppt/slides/slide17.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E33970-F830-4800-B741-E2C6646A6DE0}"/>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Verification and error handling</a:t>
            </a:r>
          </a:p>
        </p:txBody>
      </p:sp>
      <p:sp>
        <p:nvSpPr>
          <p:cNvPr id="2" name="">
            <a:extLst xmlns:a="http://schemas.openxmlformats.org/drawingml/2006/main">
              <a:ext uri="{FF2B5EF4-FFF2-40B4-BE49-F238E27FC236}">
                <a16:creationId xmlns:a16="http://schemas.microsoft.com/office/drawing/2014/main" id="{A0D2CCBF-7238-4146-8562-5FC4B8AFA6EC}"/>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CFD23F25-B4B0-411E-A009-2B3CEB5D88B9}"/>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3E64D08-FD3A-4341-9E1C-7FEE7837A0DB}"/>
              </a:ext>
            </a:extLst>
          </p:cNvPr>
          <p:cNvSpPr>
            <a:spLocks xmlns:a="http://schemas.openxmlformats.org/drawingml/2006/main" noGrp="1"/>
          </p:cNvSpPr>
          <p:nvPr/>
        </p:nvSpPr>
        <p:spPr>
          <a:xfrm xmlns:a="http://schemas.openxmlformats.org/drawingml/2006/main">
            <a:off x="609600" y="1504950"/>
            <a:ext cx="2476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007D78"/>
                </a:solidFill>
                <a:latin typeface="Arial"/>
                <a:ea typeface="Arial"/>
                <a:cs typeface="Arial"/>
              </a:defRPr>
            </a:pPr>
            <a:r>
              <a:rPr sz="7500" b="1">
                <a:solidFill>
                  <a:srgbClr val="007D78"/>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1D9139A0-5476-4224-8C38-07F1E3E037B5}"/>
              </a:ext>
            </a:extLst>
          </p:cNvPr>
          <p:cNvSpPr>
            <a:spLocks xmlns:a="http://schemas.openxmlformats.org/drawingml/2006/main" noGrp="1"/>
          </p:cNvSpPr>
          <p:nvPr/>
        </p:nvSpPr>
        <p:spPr>
          <a:xfrm xmlns:a="http://schemas.openxmlformats.org/drawingml/2006/main">
            <a:off x="3143250" y="2019300"/>
            <a:ext cx="762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selected checks passed</a:t>
            </a:r>
          </a:p>
        </p:txBody>
      </p:sp>
      <p:sp>
        <p:nvSpPr>
          <p:cNvPr id="6" name="">
            <a:extLst xmlns:a="http://schemas.openxmlformats.org/drawingml/2006/main">
              <a:ext uri="{FF2B5EF4-FFF2-40B4-BE49-F238E27FC236}">
                <a16:creationId xmlns:a16="http://schemas.microsoft.com/office/drawing/2014/main" id="{D71B5588-0931-4385-8632-9C99A8A271D7}"/>
              </a:ext>
            </a:extLst>
          </p:cNvPr>
          <p:cNvSpPr>
            <a:spLocks xmlns:a="http://schemas.openxmlformats.org/drawingml/2006/main" noGrp="1"/>
          </p:cNvSpPr>
          <p:nvPr/>
        </p:nvSpPr>
        <p:spPr>
          <a:xfrm xmlns:a="http://schemas.openxmlformats.org/drawingml/2006/main">
            <a:off x="609600" y="33337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Checked behavior</a:t>
            </a:r>
          </a:p>
        </p:txBody>
      </p:sp>
      <p:sp>
        <p:nvSpPr>
          <p:cNvPr id="7" name="">
            <a:extLst xmlns:a="http://schemas.openxmlformats.org/drawingml/2006/main">
              <a:ext uri="{FF2B5EF4-FFF2-40B4-BE49-F238E27FC236}">
                <a16:creationId xmlns:a16="http://schemas.microsoft.com/office/drawing/2014/main" id="{C06D0BCD-93A2-4F68-93AA-2F2BE09C49EF}"/>
              </a:ext>
            </a:extLst>
          </p:cNvPr>
          <p:cNvSpPr>
            <a:spLocks xmlns:a="http://schemas.openxmlformats.org/drawingml/2006/main" noGrp="1"/>
          </p:cNvSpPr>
          <p:nvPr/>
        </p:nvSpPr>
        <p:spPr>
          <a:xfrm xmlns:a="http://schemas.openxmlformats.org/drawingml/2006/main">
            <a:off x="609600" y="3848100"/>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AST, scopes, branch TAC, unsupported input, native lexer cases, and file uploads.</a:t>
            </a:r>
          </a:p>
        </p:txBody>
      </p:sp>
      <p:sp>
        <p:nvSpPr>
          <p:cNvPr id="8" name="">
            <a:extLst xmlns:a="http://schemas.openxmlformats.org/drawingml/2006/main">
              <a:ext uri="{FF2B5EF4-FFF2-40B4-BE49-F238E27FC236}">
                <a16:creationId xmlns:a16="http://schemas.microsoft.com/office/drawing/2014/main" id="{49C2364C-4CCA-4BF5-9172-306FF40186EE}"/>
              </a:ext>
            </a:extLst>
          </p:cNvPr>
          <p:cNvSpPr>
            <a:spLocks xmlns:a="http://schemas.openxmlformats.org/drawingml/2006/main" noGrp="1"/>
          </p:cNvSpPr>
          <p:nvPr/>
        </p:nvSpPr>
        <p:spPr>
          <a:xfrm xmlns:a="http://schemas.openxmlformats.org/drawingml/2006/main">
            <a:off x="6400800" y="33337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Runtime controls</a:t>
            </a:r>
          </a:p>
        </p:txBody>
      </p:sp>
      <p:sp>
        <p:nvSpPr>
          <p:cNvPr id="9" name="">
            <a:extLst xmlns:a="http://schemas.openxmlformats.org/drawingml/2006/main">
              <a:ext uri="{FF2B5EF4-FFF2-40B4-BE49-F238E27FC236}">
                <a16:creationId xmlns:a16="http://schemas.microsoft.com/office/drawing/2014/main" id="{E20C479C-8556-4E3E-8C7E-410C78F72F16}"/>
              </a:ext>
            </a:extLst>
          </p:cNvPr>
          <p:cNvSpPr>
            <a:spLocks xmlns:a="http://schemas.openxmlformats.org/drawingml/2006/main" noGrp="1"/>
          </p:cNvSpPr>
          <p:nvPr/>
        </p:nvSpPr>
        <p:spPr>
          <a:xfrm xmlns:a="http://schemas.openxmlformats.org/drawingml/2006/main">
            <a:off x="6400800" y="3848100"/>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100 KB field limits, 10-second stage timeouts, and a 1 MB captured-output limit.</a:t>
            </a:r>
          </a:p>
        </p:txBody>
      </p:sp>
      <p:sp>
        <p:nvSpPr>
          <p:cNvPr id="10" name="">
            <a:extLst xmlns:a="http://schemas.openxmlformats.org/drawingml/2006/main">
              <a:ext uri="{FF2B5EF4-FFF2-40B4-BE49-F238E27FC236}">
                <a16:creationId xmlns:a16="http://schemas.microsoft.com/office/drawing/2014/main" id="{61F86BCE-6C4B-447E-BF5B-A674C9C4E3FA}"/>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Build failures identify the failing phase. Program output can remain visible even on failure.</a:t>
            </a:r>
          </a:p>
        </p:txBody>
      </p:sp>
    </p:spTree>
    <p:extLst>
      <p:ext uri="{BB962C8B-B14F-4D97-AF65-F5344CB8AC3E}">
        <p14:creationId xmlns:p14="http://schemas.microsoft.com/office/powerpoint/2010/main" val="441568182"/>
      </p:ext>
    </p:extLst>
  </p:cSld>
</p:sld>
</file>

<file path=ppt/slides/slide18.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484934-E105-46A8-B558-1EE6476AECC3}"/>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Current scope and future work</a:t>
            </a:r>
          </a:p>
        </p:txBody>
      </p:sp>
      <p:sp>
        <p:nvSpPr>
          <p:cNvPr id="2" name="">
            <a:extLst xmlns:a="http://schemas.openxmlformats.org/drawingml/2006/main">
              <a:ext uri="{FF2B5EF4-FFF2-40B4-BE49-F238E27FC236}">
                <a16:creationId xmlns:a16="http://schemas.microsoft.com/office/drawing/2014/main" id="{32F991F0-B2F6-4C33-BACE-AE5C859DBAA2}"/>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D8560FB0-5BEC-433A-8688-C695C54A9855}"/>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E8DFE4E-D2F6-4282-9CC9-F9F19219FBD0}"/>
              </a:ext>
            </a:extLst>
          </p:cNvPr>
          <p:cNvSpPr>
            <a:spLocks xmlns:a="http://schemas.openxmlformats.org/drawingml/2006/main" noGrp="1"/>
          </p:cNvSpPr>
          <p:nvPr/>
        </p:nvSpPr>
        <p:spPr>
          <a:xfrm xmlns:a="http://schemas.openxmlformats.org/drawingml/2006/main">
            <a:off x="609600" y="17145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Current scope</a:t>
            </a:r>
          </a:p>
        </p:txBody>
      </p:sp>
      <p:sp>
        <p:nvSpPr>
          <p:cNvPr id="5" name="">
            <a:extLst xmlns:a="http://schemas.openxmlformats.org/drawingml/2006/main">
              <a:ext uri="{FF2B5EF4-FFF2-40B4-BE49-F238E27FC236}">
                <a16:creationId xmlns:a16="http://schemas.microsoft.com/office/drawing/2014/main" id="{AD1F2DEB-75D0-4B5C-8E68-04F8AEB5688E}"/>
              </a:ext>
            </a:extLst>
          </p:cNvPr>
          <p:cNvSpPr>
            <a:spLocks xmlns:a="http://schemas.openxmlformats.org/drawingml/2006/main" noGrp="1"/>
          </p:cNvSpPr>
          <p:nvPr/>
        </p:nvSpPr>
        <p:spPr>
          <a:xfrm xmlns:a="http://schemas.openxmlformats.org/drawingml/2006/main">
            <a:off x="609600" y="2228850"/>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Educational C subset, selected .l/.y targets, and local browser drafts.</a:t>
            </a:r>
          </a:p>
        </p:txBody>
      </p:sp>
      <p:sp>
        <p:nvSpPr>
          <p:cNvPr id="6" name="">
            <a:extLst xmlns:a="http://schemas.openxmlformats.org/drawingml/2006/main">
              <a:ext uri="{FF2B5EF4-FFF2-40B4-BE49-F238E27FC236}">
                <a16:creationId xmlns:a16="http://schemas.microsoft.com/office/drawing/2014/main" id="{B22145D0-A6D0-4EEF-8F0A-1FD3148ECF77}"/>
              </a:ext>
            </a:extLst>
          </p:cNvPr>
          <p:cNvSpPr>
            <a:spLocks xmlns:a="http://schemas.openxmlformats.org/drawingml/2006/main" noGrp="1"/>
          </p:cNvSpPr>
          <p:nvPr/>
        </p:nvSpPr>
        <p:spPr>
          <a:xfrm xmlns:a="http://schemas.openxmlformats.org/drawingml/2006/main">
            <a:off x="6400800" y="17145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Language extensions</a:t>
            </a:r>
          </a:p>
        </p:txBody>
      </p:sp>
      <p:sp>
        <p:nvSpPr>
          <p:cNvPr id="7" name="">
            <a:extLst xmlns:a="http://schemas.openxmlformats.org/drawingml/2006/main">
              <a:ext uri="{FF2B5EF4-FFF2-40B4-BE49-F238E27FC236}">
                <a16:creationId xmlns:a16="http://schemas.microsoft.com/office/drawing/2014/main" id="{54E6EA24-F2F8-4A80-8B12-6B8ADA62280B}"/>
              </a:ext>
            </a:extLst>
          </p:cNvPr>
          <p:cNvSpPr>
            <a:spLocks xmlns:a="http://schemas.openxmlformats.org/drawingml/2006/main" noGrp="1"/>
          </p:cNvSpPr>
          <p:nvPr/>
        </p:nvSpPr>
        <p:spPr>
          <a:xfrm xmlns:a="http://schemas.openxmlformats.org/drawingml/2006/main">
            <a:off x="6400800" y="2228850"/>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Add arrays, structs, pointers, and more complete C semantics.</a:t>
            </a:r>
          </a:p>
        </p:txBody>
      </p:sp>
      <p:sp>
        <p:nvSpPr>
          <p:cNvPr id="8" name="">
            <a:extLst xmlns:a="http://schemas.openxmlformats.org/drawingml/2006/main">
              <a:ext uri="{FF2B5EF4-FFF2-40B4-BE49-F238E27FC236}">
                <a16:creationId xmlns:a16="http://schemas.microsoft.com/office/drawing/2014/main" id="{275EC7DE-3E8E-4F5D-9BD9-22622C3EC5EA}"/>
              </a:ext>
            </a:extLst>
          </p:cNvPr>
          <p:cNvSpPr>
            <a:spLocks xmlns:a="http://schemas.openxmlformats.org/drawingml/2006/main" noGrp="1"/>
          </p:cNvSpPr>
          <p:nvPr/>
        </p:nvSpPr>
        <p:spPr>
          <a:xfrm xmlns:a="http://schemas.openxmlformats.org/drawingml/2006/main">
            <a:off x="609600" y="368617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Current boundaries</a:t>
            </a:r>
          </a:p>
        </p:txBody>
      </p:sp>
      <p:sp>
        <p:nvSpPr>
          <p:cNvPr id="9" name="">
            <a:extLst xmlns:a="http://schemas.openxmlformats.org/drawingml/2006/main">
              <a:ext uri="{FF2B5EF4-FFF2-40B4-BE49-F238E27FC236}">
                <a16:creationId xmlns:a16="http://schemas.microsoft.com/office/drawing/2014/main" id="{81D522EC-2EA2-4DA6-BE46-21E280337B96}"/>
              </a:ext>
            </a:extLst>
          </p:cNvPr>
          <p:cNvSpPr>
            <a:spLocks xmlns:a="http://schemas.openxmlformats.org/drawingml/2006/main" noGrp="1"/>
          </p:cNvSpPr>
          <p:nvPr/>
        </p:nvSpPr>
        <p:spPr>
          <a:xfrm xmlns:a="http://schemas.openxmlformats.org/drawingml/2006/main">
            <a:off x="609600" y="4200525"/>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No extra C/header project files, cloud workspace sync, or full C frontend.</a:t>
            </a:r>
          </a:p>
        </p:txBody>
      </p:sp>
      <p:sp>
        <p:nvSpPr>
          <p:cNvPr id="10" name="">
            <a:extLst xmlns:a="http://schemas.openxmlformats.org/drawingml/2006/main">
              <a:ext uri="{FF2B5EF4-FFF2-40B4-BE49-F238E27FC236}">
                <a16:creationId xmlns:a16="http://schemas.microsoft.com/office/drawing/2014/main" id="{ECE6A3BE-83A2-4CC9-A198-0E258BE6D1E9}"/>
              </a:ext>
            </a:extLst>
          </p:cNvPr>
          <p:cNvSpPr>
            <a:spLocks xmlns:a="http://schemas.openxmlformats.org/drawingml/2006/main" noGrp="1"/>
          </p:cNvSpPr>
          <p:nvPr/>
        </p:nvSpPr>
        <p:spPr>
          <a:xfrm xmlns:a="http://schemas.openxmlformats.org/drawingml/2006/main">
            <a:off x="6400800" y="368617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78"/>
                </a:solidFill>
                <a:latin typeface="Arial"/>
                <a:ea typeface="Arial"/>
                <a:cs typeface="Arial"/>
              </a:defRPr>
            </a:pPr>
            <a:r>
              <a:rPr sz="2250" b="1">
                <a:solidFill>
                  <a:srgbClr val="007D78"/>
                </a:solidFill>
                <a:latin typeface="Arial"/>
                <a:ea typeface="Arial"/>
                <a:cs typeface="Arial"/>
              </a:rPr>
              <a:t>Deployment improvements</a:t>
            </a:r>
          </a:p>
        </p:txBody>
      </p:sp>
      <p:sp>
        <p:nvSpPr>
          <p:cNvPr id="11" name="">
            <a:extLst xmlns:a="http://schemas.openxmlformats.org/drawingml/2006/main">
              <a:ext uri="{FF2B5EF4-FFF2-40B4-BE49-F238E27FC236}">
                <a16:creationId xmlns:a16="http://schemas.microsoft.com/office/drawing/2014/main" id="{F394670A-A840-42FD-989D-4AC82BCCACB0}"/>
              </a:ext>
            </a:extLst>
          </p:cNvPr>
          <p:cNvSpPr>
            <a:spLocks xmlns:a="http://schemas.openxmlformats.org/drawingml/2006/main" noGrp="1"/>
          </p:cNvSpPr>
          <p:nvPr/>
        </p:nvSpPr>
        <p:spPr>
          <a:xfrm xmlns:a="http://schemas.openxmlformats.org/drawingml/2006/main">
            <a:off x="6400800" y="4200525"/>
            <a:ext cx="504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Add isolated execution workers before accepting untrusted public submissions.</a:t>
            </a:r>
          </a:p>
        </p:txBody>
      </p:sp>
      <p:sp>
        <p:nvSpPr>
          <p:cNvPr id="12" name="">
            <a:extLst xmlns:a="http://schemas.openxmlformats.org/drawingml/2006/main">
              <a:ext uri="{FF2B5EF4-FFF2-40B4-BE49-F238E27FC236}">
                <a16:creationId xmlns:a16="http://schemas.microsoft.com/office/drawing/2014/main" id="{ED995853-2D1C-46E2-8F95-41701CD1CE25}"/>
              </a:ext>
            </a:extLst>
          </p:cNvPr>
          <p:cNvSpPr>
            <a:spLocks xmlns:a="http://schemas.openxmlformats.org/drawingml/2006/main" noGrp="1"/>
          </p:cNvSpPr>
          <p:nvPr/>
        </p:nvSpPr>
        <p:spPr>
          <a:xfrm xmlns:a="http://schemas.openxmlformats.org/drawingml/2006/main">
            <a:off x="609600" y="5715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9616A"/>
                </a:solidFill>
                <a:latin typeface="Arial"/>
                <a:ea typeface="Arial"/>
                <a:cs typeface="Arial"/>
              </a:defRPr>
            </a:pPr>
            <a:r>
              <a:rPr sz="1725" b="0">
                <a:solidFill>
                  <a:srgbClr val="49616A"/>
                </a:solidFill>
                <a:latin typeface="Arial"/>
                <a:ea typeface="Arial"/>
                <a:cs typeface="Arial"/>
              </a:rPr>
              <a:t>Uploaded C actions run with the backend user’s privileges. This is a trusted-use workbench.</a:t>
            </a:r>
          </a:p>
        </p:txBody>
      </p:sp>
    </p:spTree>
    <p:extLst>
      <p:ext uri="{BB962C8B-B14F-4D97-AF65-F5344CB8AC3E}">
        <p14:creationId xmlns:p14="http://schemas.microsoft.com/office/powerpoint/2010/main" val="44973729"/>
      </p:ext>
    </p:extLst>
  </p:cSld>
</p:sld>
</file>

<file path=ppt/slides/slide19.xml><?xml version="1.0" encoding="utf-8"?>
<p:sld xmlns:p="http://schemas.openxmlformats.org/presentationml/2006/main">
  <p:cSld>
    <p:bg>
      <p:bgPr>
        <a:solidFill xmlns:a="http://schemas.openxmlformats.org/drawingml/2006/main">
          <a:srgbClr val="092D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A99A3-6799-430D-A5E0-4E6BA2A2513E}"/>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FEA62A40-1320-4424-9140-8053045EB9FB}"/>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DE4DD"/>
                </a:solidFill>
                <a:latin typeface="Arial"/>
                <a:ea typeface="Arial"/>
                <a:cs typeface="Arial"/>
              </a:defRPr>
            </a:pPr>
            <a:r>
              <a:rPr sz="1125" b="1">
                <a:solidFill>
                  <a:srgbClr val="BDE4DD"/>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C30E901A-FB0F-4DD8-9780-11D6FAF4179A}"/>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DE4DD"/>
                </a:solidFill>
                <a:latin typeface="Arial"/>
                <a:ea typeface="Arial"/>
                <a:cs typeface="Arial"/>
              </a:defRPr>
            </a:pPr>
            <a:r>
              <a:rPr sz="1125" b="0">
                <a:solidFill>
                  <a:srgbClr val="BDE4DD"/>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94479DF5-51FF-4C13-B9C8-0F07E139AF34}"/>
              </a:ext>
            </a:extLst>
          </p:cNvPr>
          <p:cNvSpPr>
            <a:spLocks xmlns:a="http://schemas.openxmlformats.org/drawingml/2006/main" noGrp="1"/>
          </p:cNvSpPr>
          <p:nvPr/>
        </p:nvSpPr>
        <p:spPr>
          <a:xfrm xmlns:a="http://schemas.openxmlformats.org/drawingml/2006/main">
            <a:off x="609600" y="17621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Lexora connects practical compiler</a:t>
            </a:r>
          </a:p>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experiments with visible intermediate forms.</a:t>
            </a:r>
          </a:p>
        </p:txBody>
      </p:sp>
      <p:sp>
        <p:nvSpPr>
          <p:cNvPr id="5" name="">
            <a:extLst xmlns:a="http://schemas.openxmlformats.org/drawingml/2006/main">
              <a:ext uri="{FF2B5EF4-FFF2-40B4-BE49-F238E27FC236}">
                <a16:creationId xmlns:a16="http://schemas.microsoft.com/office/drawing/2014/main" id="{A7D435DE-4204-48F6-8B91-3F9DBF937A94}"/>
              </a:ext>
            </a:extLst>
          </p:cNvPr>
          <p:cNvSpPr>
            <a:spLocks xmlns:a="http://schemas.openxmlformats.org/drawingml/2006/main" noGrp="1"/>
          </p:cNvSpPr>
          <p:nvPr/>
        </p:nvSpPr>
        <p:spPr>
          <a:xfrm xmlns:a="http://schemas.openxmlformats.org/drawingml/2006/main">
            <a:off x="609600" y="3495675"/>
            <a:ext cx="10763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DE4DD"/>
                </a:solidFill>
                <a:latin typeface="Arial"/>
                <a:ea typeface="Arial"/>
                <a:cs typeface="Arial"/>
              </a:defRPr>
            </a:pPr>
            <a:r>
              <a:rPr sz="2400" b="0">
                <a:solidFill>
                  <a:srgbClr val="BDE4DD"/>
                </a:solidFill>
                <a:latin typeface="Arial"/>
                <a:ea typeface="Arial"/>
                <a:cs typeface="Arial"/>
              </a:rPr>
              <a:t>Real Flex / Bison / GCC execution</a:t>
            </a:r>
          </a:p>
          <a:p xmlns:a="http://schemas.openxmlformats.org/drawingml/2006/main">
            <a:pPr>
              <a:defRPr sz="2400" b="0">
                <a:solidFill>
                  <a:srgbClr val="BDE4DD"/>
                </a:solidFill>
                <a:latin typeface="Arial"/>
                <a:ea typeface="Arial"/>
                <a:cs typeface="Arial"/>
              </a:defRPr>
            </a:pPr>
            <a:r>
              <a:rPr sz="2400" b="0">
                <a:solidFill>
                  <a:srgbClr val="BDE4DD"/>
                </a:solidFill>
                <a:latin typeface="Arial"/>
                <a:ea typeface="Arial"/>
                <a:cs typeface="Arial"/>
              </a:rPr>
              <a:t>Browser drafts and temporary build files</a:t>
            </a:r>
          </a:p>
          <a:p xmlns:a="http://schemas.openxmlformats.org/drawingml/2006/main">
            <a:pPr>
              <a:defRPr sz="2400" b="0">
                <a:solidFill>
                  <a:srgbClr val="BDE4DD"/>
                </a:solidFill>
                <a:latin typeface="Arial"/>
                <a:ea typeface="Arial"/>
                <a:cs typeface="Arial"/>
              </a:defRPr>
            </a:pPr>
            <a:r>
              <a:rPr sz="2400" b="0">
                <a:solidFill>
                  <a:srgbClr val="BDE4DD"/>
                </a:solidFill>
                <a:latin typeface="Arial"/>
                <a:ea typeface="Arial"/>
                <a:cs typeface="Arial"/>
              </a:rPr>
              <a:t>A separate analyzer for compiler concepts</a:t>
            </a:r>
          </a:p>
        </p:txBody>
      </p:sp>
      <p:sp>
        <p:nvSpPr>
          <p:cNvPr id="6" name="">
            <a:extLst xmlns:a="http://schemas.openxmlformats.org/drawingml/2006/main">
              <a:ext uri="{FF2B5EF4-FFF2-40B4-BE49-F238E27FC236}">
                <a16:creationId xmlns:a16="http://schemas.microsoft.com/office/drawing/2014/main" id="{752339AC-215A-4B8B-8CC7-2988573D0810}"/>
              </a:ext>
            </a:extLst>
          </p:cNvPr>
          <p:cNvSpPr>
            <a:spLocks xmlns:a="http://schemas.openxmlformats.org/drawingml/2006/main" noGrp="1"/>
          </p:cNvSpPr>
          <p:nvPr/>
        </p:nvSpPr>
        <p:spPr>
          <a:xfrm xmlns:a="http://schemas.openxmlformats.org/drawingml/2006/main">
            <a:off x="609600" y="5648325"/>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Questions &amp; discussion</a:t>
            </a:r>
          </a:p>
        </p:txBody>
      </p:sp>
    </p:spTree>
    <p:extLst>
      <p:ext uri="{BB962C8B-B14F-4D97-AF65-F5344CB8AC3E}">
        <p14:creationId xmlns:p14="http://schemas.microsoft.com/office/powerpoint/2010/main" val="1172679353"/>
      </p:ext>
    </p:extLst>
  </p:cSld>
</p:sld>
</file>

<file path=ppt/slides/slide20.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00BE63-8045-4234-894D-763DBE3C268E}"/>
              </a:ext>
            </a:extLst>
          </p:cNvPr>
          <p:cNvSpPr>
            <a:spLocks xmlns:a="http://schemas.openxmlformats.org/drawingml/2006/main" noGrp="1"/>
          </p:cNvSpPr>
          <p:nvPr/>
        </p:nvSpPr>
        <p:spPr>
          <a:xfrm xmlns:a="http://schemas.openxmlformats.org/drawingml/2006/main">
            <a:off x="609600" y="4572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6"/>
                </a:solidFill>
                <a:latin typeface="Arial"/>
                <a:ea typeface="Arial"/>
                <a:cs typeface="Arial"/>
              </a:defRPr>
            </a:pPr>
            <a:r>
              <a:rPr sz="3300" b="1">
                <a:solidFill>
                  <a:srgbClr val="102B36"/>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B537B20B-57EA-4957-832E-2025A7259453}"/>
              </a:ext>
            </a:extLst>
          </p:cNvPr>
          <p:cNvSpPr>
            <a:spLocks xmlns:a="http://schemas.openxmlformats.org/drawingml/2006/main" noGrp="1"/>
          </p:cNvSpPr>
          <p:nvPr/>
        </p:nvSpPr>
        <p:spPr>
          <a:xfrm xmlns:a="http://schemas.openxmlformats.org/drawingml/2006/main">
            <a:off x="609600" y="64008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49616A"/>
                </a:solidFill>
                <a:latin typeface="Arial"/>
                <a:ea typeface="Arial"/>
                <a:cs typeface="Arial"/>
              </a:defRPr>
            </a:pPr>
            <a:r>
              <a:rPr sz="1125" b="1">
                <a:solidFill>
                  <a:srgbClr val="49616A"/>
                </a:solidFill>
                <a:latin typeface="Arial"/>
                <a:ea typeface="Arial"/>
                <a:cs typeface="Arial"/>
              </a:rPr>
              <a:t>LEXORA</a:t>
            </a:r>
          </a:p>
        </p:txBody>
      </p:sp>
      <p:sp>
        <p:nvSpPr>
          <p:cNvPr id="3" name="">
            <a:extLst xmlns:a="http://schemas.openxmlformats.org/drawingml/2006/main">
              <a:ext uri="{FF2B5EF4-FFF2-40B4-BE49-F238E27FC236}">
                <a16:creationId xmlns:a16="http://schemas.microsoft.com/office/drawing/2014/main" id="{78538FA7-66C1-45BF-970D-52C8B8A96BCE}"/>
              </a:ext>
            </a:extLst>
          </p:cNvPr>
          <p:cNvSpPr>
            <a:spLocks xmlns:a="http://schemas.openxmlformats.org/drawingml/2006/main" noGrp="1"/>
          </p:cNvSpPr>
          <p:nvPr/>
        </p:nvSpPr>
        <p:spPr>
          <a:xfrm xmlns:a="http://schemas.openxmlformats.org/drawingml/2006/main">
            <a:off x="10953750" y="64008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49616A"/>
                </a:solidFill>
                <a:latin typeface="Arial"/>
                <a:ea typeface="Arial"/>
                <a:cs typeface="Arial"/>
              </a:defRPr>
            </a:pPr>
            <a:r>
              <a:rPr sz="1125" b="0">
                <a:solidFill>
                  <a:srgbClr val="49616A"/>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220CD720-DECC-4BE4-938F-1CD55887698C}"/>
              </a:ext>
            </a:extLst>
          </p:cNvPr>
          <p:cNvSpPr>
            <a:spLocks xmlns:a="http://schemas.openxmlformats.org/drawingml/2006/main" noGrp="1"/>
          </p:cNvSpPr>
          <p:nvPr/>
        </p:nvSpPr>
        <p:spPr>
          <a:xfrm xmlns:a="http://schemas.openxmlformats.org/drawingml/2006/main">
            <a:off x="609600" y="1495425"/>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[1] Aho, Lam, Sethi &amp; Ullman (2007)</a:t>
            </a:r>
          </a:p>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Compilers: Principles, Techniques, and Tools, 2nd edition</a:t>
            </a:r>
          </a:p>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https://www.cs.columbia.edu/~aho/books.html</a:t>
            </a:r>
          </a:p>
        </p:txBody>
      </p:sp>
      <p:sp>
        <p:nvSpPr>
          <p:cNvPr id="5" name="">
            <a:extLst xmlns:a="http://schemas.openxmlformats.org/drawingml/2006/main">
              <a:ext uri="{FF2B5EF4-FFF2-40B4-BE49-F238E27FC236}">
                <a16:creationId xmlns:a16="http://schemas.microsoft.com/office/drawing/2014/main" id="{457BB676-91E0-45D8-ACF1-3882D1F5026A}"/>
              </a:ext>
            </a:extLst>
          </p:cNvPr>
          <p:cNvSpPr>
            <a:spLocks xmlns:a="http://schemas.openxmlformats.org/drawingml/2006/main" noGrp="1"/>
          </p:cNvSpPr>
          <p:nvPr/>
        </p:nvSpPr>
        <p:spPr>
          <a:xfrm xmlns:a="http://schemas.openxmlformats.org/drawingml/2006/main">
            <a:off x="609600" y="27051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[2] Flex manual, Introduction</a:t>
            </a:r>
          </a:p>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https://westes.github.io/flex/manual/Introduction.html</a:t>
            </a:r>
          </a:p>
        </p:txBody>
      </p:sp>
      <p:sp>
        <p:nvSpPr>
          <p:cNvPr id="6" name="">
            <a:extLst xmlns:a="http://schemas.openxmlformats.org/drawingml/2006/main">
              <a:ext uri="{FF2B5EF4-FFF2-40B4-BE49-F238E27FC236}">
                <a16:creationId xmlns:a16="http://schemas.microsoft.com/office/drawing/2014/main" id="{11C229B8-39C5-4D5D-A857-9211B60BB6DD}"/>
              </a:ext>
            </a:extLst>
          </p:cNvPr>
          <p:cNvSpPr>
            <a:spLocks xmlns:a="http://schemas.openxmlformats.org/drawingml/2006/main" noGrp="1"/>
          </p:cNvSpPr>
          <p:nvPr/>
        </p:nvSpPr>
        <p:spPr>
          <a:xfrm xmlns:a="http://schemas.openxmlformats.org/drawingml/2006/main">
            <a:off x="609600" y="36480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[3] GNU Bison manual</a:t>
            </a:r>
          </a:p>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https://www.gnu.org/s/bison/manual/bison.html</a:t>
            </a:r>
          </a:p>
        </p:txBody>
      </p:sp>
      <p:sp>
        <p:nvSpPr>
          <p:cNvPr id="7" name="">
            <a:extLst xmlns:a="http://schemas.openxmlformats.org/drawingml/2006/main">
              <a:ext uri="{FF2B5EF4-FFF2-40B4-BE49-F238E27FC236}">
                <a16:creationId xmlns:a16="http://schemas.microsoft.com/office/drawing/2014/main" id="{99080483-E1A1-47E3-B313-EF47DB84E382}"/>
              </a:ext>
            </a:extLst>
          </p:cNvPr>
          <p:cNvSpPr>
            <a:spLocks xmlns:a="http://schemas.openxmlformats.org/drawingml/2006/main" noGrp="1"/>
          </p:cNvSpPr>
          <p:nvPr/>
        </p:nvSpPr>
        <p:spPr>
          <a:xfrm xmlns:a="http://schemas.openxmlformats.org/drawingml/2006/main">
            <a:off x="609600" y="45910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[4] GCC manual, Overall Options</a:t>
            </a:r>
          </a:p>
          <a:p xmlns:a="http://schemas.openxmlformats.org/drawingml/2006/main">
            <a:pPr>
              <a:defRPr sz="1725" b="0">
                <a:solidFill>
                  <a:srgbClr val="102B36"/>
                </a:solidFill>
                <a:latin typeface="Arial"/>
                <a:ea typeface="Arial"/>
                <a:cs typeface="Arial"/>
              </a:defRPr>
            </a:pPr>
            <a:r>
              <a:rPr sz="1725" b="0">
                <a:solidFill>
                  <a:srgbClr val="102B36"/>
                </a:solidFill>
                <a:latin typeface="Arial"/>
                <a:ea typeface="Arial"/>
                <a:cs typeface="Arial"/>
              </a:rPr>
              <a:t>https://gcc.gnu.org/onlinedocs/gcc/Overall-Options.html</a:t>
            </a:r>
          </a:p>
        </p:txBody>
      </p:sp>
      <p:sp>
        <p:nvSpPr>
          <p:cNvPr id="8" name="">
            <a:extLst xmlns:a="http://schemas.openxmlformats.org/drawingml/2006/main">
              <a:ext uri="{FF2B5EF4-FFF2-40B4-BE49-F238E27FC236}">
                <a16:creationId xmlns:a16="http://schemas.microsoft.com/office/drawing/2014/main" id="{8298DA3E-19DE-487A-BF04-C2F27AB83F57}"/>
              </a:ext>
            </a:extLst>
          </p:cNvPr>
          <p:cNvSpPr>
            <a:spLocks xmlns:a="http://schemas.openxmlformats.org/drawingml/2006/main" noGrp="1"/>
          </p:cNvSpPr>
          <p:nvPr/>
        </p:nvSpPr>
        <p:spPr>
          <a:xfrm xmlns:a="http://schemas.openxmlformats.org/drawingml/2006/main">
            <a:off x="609600" y="56578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9616A"/>
                </a:solidFill>
                <a:latin typeface="Arial"/>
                <a:ea typeface="Arial"/>
                <a:cs typeface="Arial"/>
              </a:defRPr>
            </a:pPr>
            <a:r>
              <a:rPr sz="1650" b="0">
                <a:solidFill>
                  <a:srgbClr val="49616A"/>
                </a:solidFill>
                <a:latin typeface="Arial"/>
                <a:ea typeface="Arial"/>
                <a:cs typeface="Arial"/>
              </a:rPr>
              <a:t>Project evidence: README, frontend workspace, backend compiler and analysis modules</a:t>
            </a:r>
          </a:p>
        </p:txBody>
      </p:sp>
    </p:spTree>
    <p:extLst>
      <p:ext uri="{BB962C8B-B14F-4D97-AF65-F5344CB8AC3E}">
        <p14:creationId xmlns:p14="http://schemas.microsoft.com/office/powerpoint/2010/main" val="1894484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2026-10-08T06:51:27.6790000Z</dcterms:created>
  <dcterms:modified xsi:type="dcterms:W3CDTF">2026-10-08T06:51:27.6790000Z</dcterms:modified>
</coreProperties>
</file>
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8485f2319149c8" /><Relationship Type="http://schemas.openxmlformats.org/officeDocument/2006/relationships/extended-properties" Target="/docProps/app.xml" Id="Rd914189f89b04b84" /><Relationship Type="http://schemas.openxmlformats.org/officeDocument/2006/relationships/officeDocument" Target="/ppt/presentation.xml" Id="R528a6061688a45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b2fddadb244059"/>
  </p:sldMasterIdLst>
  <p:notesMasterIdLst>
    <p:notesMasterId xmlns:r="http://schemas.openxmlformats.org/officeDocument/2006/relationships" r:id="R491ea7e832934289"/>
  </p:notesMasterIdLst>
  <p:sldIdLst>
    <p:sldId xmlns:r="http://schemas.openxmlformats.org/officeDocument/2006/relationships" id="256" r:id="Rf77fc308a5a94c13"/>
    <p:sldId xmlns:r="http://schemas.openxmlformats.org/officeDocument/2006/relationships" id="257" r:id="R0b593b049d77443e"/>
    <p:sldId xmlns:r="http://schemas.openxmlformats.org/officeDocument/2006/relationships" id="258" r:id="R1036b9e0b2284f5f"/>
    <p:sldId xmlns:r="http://schemas.openxmlformats.org/officeDocument/2006/relationships" id="259" r:id="Rf32c2ce78e21456c"/>
    <p:sldId xmlns:r="http://schemas.openxmlformats.org/officeDocument/2006/relationships" id="260" r:id="R7592daefac214c29"/>
    <p:sldId xmlns:r="http://schemas.openxmlformats.org/officeDocument/2006/relationships" id="261" r:id="R2f5c094d012e4aef"/>
    <p:sldId xmlns:r="http://schemas.openxmlformats.org/officeDocument/2006/relationships" id="262" r:id="R5fe5f31f51b74a0e"/>
    <p:sldId xmlns:r="http://schemas.openxmlformats.org/officeDocument/2006/relationships" id="263" r:id="Rd03511e66f084519"/>
    <p:sldId xmlns:r="http://schemas.openxmlformats.org/officeDocument/2006/relationships" id="264" r:id="R4d1a655836f54def"/>
    <p:sldId xmlns:r="http://schemas.openxmlformats.org/officeDocument/2006/relationships" id="265" r:id="Rb567131f3df74f30"/>
    <p:sldId xmlns:r="http://schemas.openxmlformats.org/officeDocument/2006/relationships" id="266" r:id="R2fae1f86a81a480d"/>
    <p:sldId xmlns:r="http://schemas.openxmlformats.org/officeDocument/2006/relationships" id="267" r:id="R670300ce298d453d"/>
    <p:sldId xmlns:r="http://schemas.openxmlformats.org/officeDocument/2006/relationships" id="268" r:id="Rbbd27ab250474b0c"/>
    <p:sldId xmlns:r="http://schemas.openxmlformats.org/officeDocument/2006/relationships" id="269" r:id="R02f25ae19e0346cc"/>
    <p:sldId xmlns:r="http://schemas.openxmlformats.org/officeDocument/2006/relationships" id="270" r:id="Rb56bd4565bfb4284"/>
    <p:sldId xmlns:r="http://schemas.openxmlformats.org/officeDocument/2006/relationships" id="271" r:id="Rec4092a76d4e4a25"/>
    <p:sldId xmlns:r="http://schemas.openxmlformats.org/officeDocument/2006/relationships" id="272" r:id="R2b901cc67bba46f0"/>
    <p:sldId xmlns:r="http://schemas.openxmlformats.org/officeDocument/2006/relationships" id="273" r:id="R6d0d4e9c58ea4b2d"/>
    <p:sldId xmlns:r="http://schemas.openxmlformats.org/officeDocument/2006/relationships" id="274" r:id="Rd2855334dd3b4a0a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856c3a5db9440f" /><Relationship Type="http://schemas.openxmlformats.org/officeDocument/2006/relationships/slideMaster" Target="/ppt/slideMasters/slideMaster1.xml" Id="R6bb2fddadb244059" /><Relationship Type="http://schemas.openxmlformats.org/officeDocument/2006/relationships/notesMaster" Target="/ppt/notesMasters/notesMaster1.xml" Id="R491ea7e832934289" /><Relationship Type="http://schemas.openxmlformats.org/officeDocument/2006/relationships/presProps" Target="/ppt/presProps.xml" Id="Re9d83c5523eb42d0" /><Relationship Type="http://schemas.openxmlformats.org/officeDocument/2006/relationships/viewProps" Target="/ppt/viewProps.xml" Id="R064f4868a3db461e" /><Relationship Type="http://schemas.openxmlformats.org/officeDocument/2006/relationships/tableStyles" Target="/ppt/tableStyles.xml" Id="R4bfc7988429f4009" /><Relationship Type="http://schemas.openxmlformats.org/officeDocument/2006/relationships/slide" Target="/ppt/slides/slide1.xml" Id="Rf77fc308a5a94c13" /><Relationship Type="http://schemas.openxmlformats.org/officeDocument/2006/relationships/slide" Target="/ppt/slides/slide2.xml" Id="R0b593b049d77443e" /><Relationship Type="http://schemas.openxmlformats.org/officeDocument/2006/relationships/slide" Target="/ppt/slides/slide3.xml" Id="R1036b9e0b2284f5f" /><Relationship Type="http://schemas.openxmlformats.org/officeDocument/2006/relationships/slide" Target="/ppt/slides/slide4.xml" Id="Rf32c2ce78e21456c" /><Relationship Type="http://schemas.openxmlformats.org/officeDocument/2006/relationships/slide" Target="/ppt/slides/slide5.xml" Id="R7592daefac214c29" /><Relationship Type="http://schemas.openxmlformats.org/officeDocument/2006/relationships/slide" Target="/ppt/slides/slide6.xml" Id="R2f5c094d012e4aef" /><Relationship Type="http://schemas.openxmlformats.org/officeDocument/2006/relationships/slide" Target="/ppt/slides/slide7.xml" Id="R5fe5f31f51b74a0e" /><Relationship Type="http://schemas.openxmlformats.org/officeDocument/2006/relationships/slide" Target="/ppt/slides/slide8.xml" Id="Rd03511e66f084519" /><Relationship Type="http://schemas.openxmlformats.org/officeDocument/2006/relationships/slide" Target="/ppt/slides/slide9.xml" Id="R4d1a655836f54def" /><Relationship Type="http://schemas.openxmlformats.org/officeDocument/2006/relationships/slide" Target="/ppt/slides/slide10.xml" Id="Rb567131f3df74f30" /><Relationship Type="http://schemas.openxmlformats.org/officeDocument/2006/relationships/slide" Target="/ppt/slides/slide11.xml" Id="R2fae1f86a81a480d" /><Relationship Type="http://schemas.openxmlformats.org/officeDocument/2006/relationships/slide" Target="/ppt/slides/slide12.xml" Id="R670300ce298d453d" /><Relationship Type="http://schemas.openxmlformats.org/officeDocument/2006/relationships/slide" Target="/ppt/slides/slide13.xml" Id="Rbbd27ab250474b0c" /><Relationship Type="http://schemas.openxmlformats.org/officeDocument/2006/relationships/slide" Target="/ppt/slides/slide14.xml" Id="R02f25ae19e0346cc" /><Relationship Type="http://schemas.openxmlformats.org/officeDocument/2006/relationships/slide" Target="/ppt/slides/slide15.xml" Id="Rb56bd4565bfb4284" /><Relationship Type="http://schemas.openxmlformats.org/officeDocument/2006/relationships/slide" Target="/ppt/slides/slide16.xml" Id="Rec4092a76d4e4a25" /><Relationship Type="http://schemas.openxmlformats.org/officeDocument/2006/relationships/slide" Target="/ppt/slides/slide17.xml" Id="R2b901cc67bba46f0" /><Relationship Type="http://schemas.openxmlformats.org/officeDocument/2006/relationships/slide" Target="/ppt/slides/slide18.xml" Id="R6d0d4e9c58ea4b2d" /><Relationship Type="http://schemas.openxmlformats.org/officeDocument/2006/relationships/slide" Target="/ppt/slides/slide19.xml" Id="Rd2855334dd3b4a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ad71dd5df342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ed0e0f3243e4e37" /><Relationship Type="http://schemas.openxmlformats.org/officeDocument/2006/relationships/notesMaster" Target="/ppt/notesMasters/notesMaster1.xml" Id="R07224597b62047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c22bcf02e74d6c" /><Relationship Type="http://schemas.openxmlformats.org/officeDocument/2006/relationships/notesMaster" Target="/ppt/notesMasters/notesMaster1.xml" Id="R58495056dca5418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fd6966b44794b60" /><Relationship Type="http://schemas.openxmlformats.org/officeDocument/2006/relationships/notesMaster" Target="/ppt/notesMasters/notesMaster1.xml" Id="R05f514c181e849f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43c0e051a5c4521" /><Relationship Type="http://schemas.openxmlformats.org/officeDocument/2006/relationships/notesMaster" Target="/ppt/notesMasters/notesMaster1.xml" Id="R2dd75b45d00e441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d0392eea96a4dd2" /><Relationship Type="http://schemas.openxmlformats.org/officeDocument/2006/relationships/notesMaster" Target="/ppt/notesMasters/notesMaster1.xml" Id="R50d4b97af567450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2e7f29aa8ab46fd" /><Relationship Type="http://schemas.openxmlformats.org/officeDocument/2006/relationships/notesMaster" Target="/ppt/notesMasters/notesMaster1.xml" Id="R4c32ef7166bc40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f2d8523e79c42b7" /><Relationship Type="http://schemas.openxmlformats.org/officeDocument/2006/relationships/notesMaster" Target="/ppt/notesMasters/notesMaster1.xml" Id="R4ef80d07daf4471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89df3ca30a04a77" /><Relationship Type="http://schemas.openxmlformats.org/officeDocument/2006/relationships/notesMaster" Target="/ppt/notesMasters/notesMaster1.xml" Id="Rbbe44fb02fff4ba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ca9be7cc932447a" /><Relationship Type="http://schemas.openxmlformats.org/officeDocument/2006/relationships/notesMaster" Target="/ppt/notesMasters/notesMaster1.xml" Id="R54c252758ec743f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5f98f9ad4ba4b17" /><Relationship Type="http://schemas.openxmlformats.org/officeDocument/2006/relationships/notesMaster" Target="/ppt/notesMasters/notesMaster1.xml" Id="Rffb61d4a16cd436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b3de2ab2ed245d2" /><Relationship Type="http://schemas.openxmlformats.org/officeDocument/2006/relationships/notesMaster" Target="/ppt/notesMasters/notesMaster1.xml" Id="Rbadf4cba1539401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2125ed584f84fd4" /><Relationship Type="http://schemas.openxmlformats.org/officeDocument/2006/relationships/notesMaster" Target="/ppt/notesMasters/notesMaster1.xml" Id="Rf77b85efc6604bb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affaf35ac024b81" /><Relationship Type="http://schemas.openxmlformats.org/officeDocument/2006/relationships/notesMaster" Target="/ppt/notesMasters/notesMaster1.xml" Id="R9d507bb8739c4d3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26f62dd55c54d21" /><Relationship Type="http://schemas.openxmlformats.org/officeDocument/2006/relationships/notesMaster" Target="/ppt/notesMasters/notesMaster1.xml" Id="Rce98400ad77844b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aba70cbe152450d" /><Relationship Type="http://schemas.openxmlformats.org/officeDocument/2006/relationships/notesMaster" Target="/ppt/notesMasters/notesMaster1.xml" Id="Rcbe2d590e0dd4b0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58f14fe99f24dd1" /><Relationship Type="http://schemas.openxmlformats.org/officeDocument/2006/relationships/notesMaster" Target="/ppt/notesMasters/notesMaster1.xml" Id="Rec9b219daf61418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9740f7c6fdb4db0" /><Relationship Type="http://schemas.openxmlformats.org/officeDocument/2006/relationships/notesMaster" Target="/ppt/notesMasters/notesMaster1.xml" Id="R42c2bec1944949e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5086f0913ac4602" /><Relationship Type="http://schemas.openxmlformats.org/officeDocument/2006/relationships/notesMaster" Target="/ppt/notesMasters/notesMaster1.xml" Id="Rce880a6a5b8a451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4aa9e3718b14326" /><Relationship Type="http://schemas.openxmlformats.org/officeDocument/2006/relationships/notesMaster" Target="/ppt/notesMasters/notesMaster1.xml" Id="Rf87463e338af4e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README.md; frontend/src/App.jsx; frontend/src/components/OutputPanel/OutputPanel.jsx. The screenshot shows the bundled calculator running successfully with stdin 3 + 5 * 2 followed by a newline and stdout 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README.md; frontend/src/App.jsx; frontend/src/components/OutputPanel/OutputPanel.jsx.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teaching and workflow problems the project addresses. They do not represent measured findings from a formal user study. Project evidence: README.md; frontend/src/App.jsx; frontend/src/components/OutputPanel/OutputPanel.jsx.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README.md; frontend/src/App.jsx; frontend/src/components/OutputPanel/OutputPanel.jsx. Educational analysis covers the built-in language subset.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Bovet, J. and Parr, T. (2008). ANTLRWorks: an ANTLR grammar development environment. Software: Practice and Experience, 38(12), 1305-1332. https://doi.org/10.1002/spe.872</a:t>
            </a:r>
          </a:p>
          <a:p xmlns:a="http://schemas.openxmlformats.org/drawingml/2006/main">
            <a:r>
              <a:t>[2] Compiler Explorer, official project documentation. https://github.com/compiler-explorer/compiler-explorer/blob/main/docs/WhatIsCompilerExplorer.md</a:t>
            </a:r>
          </a:p>
          <a:p xmlns:a="http://schemas.openxmlformats.org/drawingml/2006/main">
            <a:r>
              <a:t>[3] Flex manual. https://westes.github.io/flex/manual/Introduction.html</a:t>
            </a:r>
          </a:p>
          <a:p xmlns:a="http://schemas.openxmlformats.org/drawingml/2006/main">
            <a:r>
              <a:t>[4] GNU Bison manual. https://www.gnu.org/s/bison/manual/bison.html</a:t>
            </a:r>
          </a:p>
          <a:p xmlns:a="http://schemas.openxmlformats.org/drawingml/2006/main">
            <a:r>
              <a:t>The final sentence is a design synthesis from the reviewed approaches, rather than a claim that no comparable website exists. Lexora native execution and its educational analyzer remain separate.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README.md; frontend/src/App.jsx; frontend/src/components/OutputPanel/OutputPanel.jsx. Project evidence: backend/services/inputAnalysis.js; backend/services/astGenerator.js; backend/services/semanticAnalyzer.js; backend/services/tacGenerator.js; backend/services/optimizer.js; backend/services/basicBlocks.js. Lexora addresses the need for a dedicated website for Lex/Yacc compilation and visual learning. The contribution is application integration and the educational workflow, not a new compiler algorithm. An absolute claim that no related website exists is not substantiated; an online yacc/lex grammar editor/tester is documented at https://lists.gnu.org/archive/html/help-bison/2023-09/msg00000.html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README.md; frontend/src/App.jsx; frontend/src/components/OutputPanel/OutputPanel.jsx. Actual local screenshot showing the calculator source and the built-in token 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README.md; frontend/src/App.jsx; frontend/src/components/OutputPanel/OutputPanel.jsx. Project evidence: backend/services/compiler.js; backend/services/wslRunner.js; backend/routes/compile.js; backend/middleware/validator.js. Project evidence: frontend/src/App.jsx; frontend/src/services/files.js; backend/services/tempDir.js; backend/services/compiler.js. Local development: Vite on port 3000 proxies /api to Express on port 3001. Windows uses WSL Ubuntu. Linux uses native Bash.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backend/services/compiler.js; backend/services/wslRunner.js; backend/routes/compile.js; backend/middleware/validator.js. analyzeInput executes before the native stages. These paths are logically separate, not concurrent jobs. Cleanup is attempted in finally before the route sends the JSON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frontend/src/App.jsx stores drafts under lexora.workspace.v2 and theme under lexora.theme. backend/services/tempDir.js creates os.tmpdir()/lexora-UUID. backend/services/compiler.js attempts cleanup in finally. Results are held in memory and React state. No application database is configured.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backend/services/compiler.js; backend/services/wslRunner.js; backend/routes/compile.js; backend/middleware/validator.js. Actual combined-mode order: flex lex.l; bison -d parser.y; normalize generated-header references; regenerate scanner; gcc -o compiler lex.yy.c parser.tab.c -lfl -lm; ./compiler &lt; input.txt. Lex Only skips Bison. Yacc Only skips Flex and requires its own yylex and main.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backend/services/inputAnalysis.js; backend/services/astGenerator.js; backend/services/semanticAnalyzer.js; backend/services/tacGenerator.js; backend/services/optimizer.js; backend/services/basicBlocks.js. The screenshot is the actual AST view for calculator stdin 3 + 5 * 2 followed by newline. The AST comes from Lexora’s own parser. It does not trace the uploaded grammar.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backend/services/semanticAnalyzer.js and backend/services/inputAnalysis.js. Observed input: int x = 2 + 3 * 4; int y = x + 1;. Both global variables are declared. x is read and y is not read. The AST traversal creates records and marks references. Scope lookup uses a stack of Maps. A separate observation of int x = missing + 1; reports missing as used before declaration / assignment. This is educational analysis, independent of the submitted grammar.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backend/services/inputAnalysis.js; backend/services/astGenerator.js; backend/services/semanticAnalyzer.js; backend/services/tacGenerator.js; backend/services/optimizer.js; backend/services/basicBlocks.js. Observed analyzeInput("int x = 2 + 3 * 4;"): AST declaration x:int with addition of 2 and multiplication 3*4. Symbol x global, declared true. TAC and optimized TAC shown exactly. Three assignments remain, so no instruction-count or speed claim applies.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backend/services/inputAnalysis.js; backend/services/astGenerator.js; backend/services/semanticAnalyzer.js; backend/services/tacGenerator.js; backend/services/optimizer.js; backend/services/basicBlocks.js. Observed analyzeInput("int x = 1; if (x &lt; 3) { x = x + 1; }"): B1 x=1, t1=x&lt;3, ifFalse t1 goto L1; B2 t2=x+1, x=t2; B3 L1:. Successors: B1 to B2 and B3, B2 to B3. These blocks use original TAC.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Verification date: 8 October 2026. Actual results from backend/services/compiler.js with examples/calculator/calculator.l and calculator.y: 3 + 5 * 2 followed by newline returns success true and stdout 13; (3 + 5) * 2 followed by newline returns success true and stdout 16. Separate built-in analyzer observations: int x = missing + 1; reports an undeclared reference. int a[2]; returns analysisStatus unsupported with no AST or TAC. These observations validate representative cases, not all possible inputs.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evidence: backend/services/wslRunner.js uses wsl.exe -d Ubuntu -- bash on Windows and a native Bash process on Linux. timeout limits child command execution. backend/services/tempDir.js creates separate temporary job folders. These controls do not constitute a dedicated security sandbox. The analyzer covers a supported C subset, independently from the submitted .l/.y grammar. Expanded syntax, grammar-linked visualization, and isolated public execution workers are future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README.md; frontend/src/App.jsx; frontend/src/components/OutputPanel/OutputPanel.jsx. Project evidence: backend/services/inputAnalysis.js; backend/services/astGenerator.js; backend/services/semanticAnalyzer.js; backend/services/tacGenerator.js; backend/services/optimizer.js; backend/services/basicBlocks.js.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Bovet, J. and Parr, T. (2008). ANTLRWorks: an ANTLR grammar development environment. Software: Practice and Experience, 38(12), 1305-1332. https://doi.org/10.1002/spe.872</a:t>
            </a:r>
          </a:p>
          <a:p xmlns:a="http://schemas.openxmlformats.org/drawingml/2006/main">
            <a:r>
              <a:t>Compiler Explorer, official project documentation. https://github.com/compiler-explorer/compiler-explorer/blob/main/docs/WhatIsCompilerExplorer.md</a:t>
            </a:r>
          </a:p>
          <a:p xmlns:a="http://schemas.openxmlformats.org/drawingml/2006/main">
            <a:r>
              <a:t>Flex manual. https://westes.github.io/flex/manual/Introduction.html</a:t>
            </a:r>
          </a:p>
          <a:p xmlns:a="http://schemas.openxmlformats.org/drawingml/2006/main">
            <a:r>
              <a:t>GNU Bison manual. https://www.gnu.org/s/bison/manual/bison.html</a:t>
            </a:r>
          </a:p>
          <a:p xmlns:a="http://schemas.openxmlformats.org/drawingml/2006/main">
            <a:r>
              <a:t>GCC manual. https://gcc.gnu.org/onlinedocs/gcc/Overall-Options.html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42cac7d4f24c6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294e573f6141f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971e38dfce401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012e181380488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3b383485b949d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215611910a47e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463DEA9-E136-4D63-B0BA-C367951D45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DBB9F72-B93A-4B9A-8DF7-B7F7227B0E1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66FA6E1-0454-4595-9384-A4D91D2CEA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C8E5746-A9E3-407B-B977-366F9D2605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CAF5ED5-CF43-4EB9-8B00-2B0EA821A4C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7B8B748-FB35-43A7-8F4D-ABB18B019D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55ABF85-9673-4664-B57D-0AB1AE8DC7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63CDE60-0D93-4321-9A58-C4EFCFC1786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9CB0139-E020-4090-A361-2E67A92BD3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85D77E8-71C1-45D3-AAE5-25D9422D69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1a1df6b3861414e" /><Relationship Type="http://schemas.openxmlformats.org/officeDocument/2006/relationships/slideLayout" Target="/ppt/slideLayouts/slideLayout1.xml" Id="R911dbf69bd2c41fa" /><Relationship Type="http://schemas.openxmlformats.org/officeDocument/2006/relationships/slideLayout" Target="/ppt/slideLayouts/slideLayout2.xml" Id="R5f2022f0e5ce40c1" /><Relationship Type="http://schemas.openxmlformats.org/officeDocument/2006/relationships/slideLayout" Target="/ppt/slideLayouts/slideLayout3.xml" Id="R03a08a03f3a6409a" /><Relationship Type="http://schemas.openxmlformats.org/officeDocument/2006/relationships/slideLayout" Target="/ppt/slideLayouts/slideLayout4.xml" Id="R52f4dbd66ea54adf" /><Relationship Type="http://schemas.openxmlformats.org/officeDocument/2006/relationships/slideLayout" Target="/ppt/slideLayouts/slideLayout5.xml" Id="R2fd4d004cfb64f35" /><Relationship Type="http://schemas.openxmlformats.org/officeDocument/2006/relationships/slideLayout" Target="/ppt/slideLayouts/slideLayout6.xml" Id="Rd6c33df5a33e4a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1dbf69bd2c41fa"/>
    <p:sldLayoutId xmlns:r="http://schemas.openxmlformats.org/officeDocument/2006/relationships" id="2147483650" r:id="R5f2022f0e5ce40c1"/>
    <p:sldLayoutId xmlns:r="http://schemas.openxmlformats.org/officeDocument/2006/relationships" id="2147483651" r:id="R03a08a03f3a6409a"/>
    <p:sldLayoutId xmlns:r="http://schemas.openxmlformats.org/officeDocument/2006/relationships" id="2147483652" r:id="R52f4dbd66ea54adf"/>
    <p:sldLayoutId xmlns:r="http://schemas.openxmlformats.org/officeDocument/2006/relationships" id="2147483653" r:id="R2fd4d004cfb64f35"/>
    <p:sldLayoutId xmlns:r="http://schemas.openxmlformats.org/officeDocument/2006/relationships" id="2147483654" r:id="Rd6c33df5a33e4a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09b37cb2304278" /><Relationship Type="http://schemas.openxmlformats.org/officeDocument/2006/relationships/image" Target="/ppt/media/image.jpeg" Id="R5b6cd3256ea3473a" /><Relationship Type="http://schemas.openxmlformats.org/officeDocument/2006/relationships/notesSlide" Target="/ppt/notesSlides/notesSlide1.xml" Id="R670547765fba43b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1ae5cc29a248b7" /><Relationship Type="http://schemas.openxmlformats.org/officeDocument/2006/relationships/notesSlide" Target="/ppt/notesSlides/notesSlide2.xml" Id="R7f396618fc4f435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1ff3afb067475c" /><Relationship Type="http://schemas.openxmlformats.org/officeDocument/2006/relationships/notesSlide" Target="/ppt/notesSlides/notesSlide3.xml" Id="R5c0231ea5e70469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2bd6c0871c40b4" /><Relationship Type="http://schemas.openxmlformats.org/officeDocument/2006/relationships/notesSlide" Target="/ppt/notesSlides/notesSlide4.xml" Id="Rd062ecf8af9742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aad452db3340ee" /><Relationship Type="http://schemas.openxmlformats.org/officeDocument/2006/relationships/notesSlide" Target="/ppt/notesSlides/notesSlide5.xml" Id="R30fe4d5d2cef4c2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daf012f8444400" /><Relationship Type="http://schemas.openxmlformats.org/officeDocument/2006/relationships/notesSlide" Target="/ppt/notesSlides/notesSlide6.xml" Id="R896229f970fe426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3add152d964539" /><Relationship Type="http://schemas.openxmlformats.org/officeDocument/2006/relationships/image" Target="/ppt/media/image2.jpeg" Id="R7db117b3d0984cad" /><Relationship Type="http://schemas.openxmlformats.org/officeDocument/2006/relationships/notesSlide" Target="/ppt/notesSlides/notesSlide7.xml" Id="R272ffdb61039450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12f4a4887448da" /><Relationship Type="http://schemas.openxmlformats.org/officeDocument/2006/relationships/notesSlide" Target="/ppt/notesSlides/notesSlide8.xml" Id="R0639a9be7499417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31feb8a9a147e0" /><Relationship Type="http://schemas.openxmlformats.org/officeDocument/2006/relationships/notesSlide" Target="/ppt/notesSlides/notesSlide9.xml" Id="R31ffa8a5f995437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de841864854c6a" /><Relationship Type="http://schemas.openxmlformats.org/officeDocument/2006/relationships/notesSlide" Target="/ppt/notesSlides/notesSlide10.xml" Id="R4274de6ffcc2493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83809d4f8c4ea5" /><Relationship Type="http://schemas.openxmlformats.org/officeDocument/2006/relationships/notesSlide" Target="/ppt/notesSlides/notesSlide11.xml" Id="Re8795b62075348c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e6df7dbfec467f" /><Relationship Type="http://schemas.openxmlformats.org/officeDocument/2006/relationships/image" Target="/ppt/media/image3.jpeg" Id="Racb3894a2e984674" /><Relationship Type="http://schemas.openxmlformats.org/officeDocument/2006/relationships/notesSlide" Target="/ppt/notesSlides/notesSlide12.xml" Id="R85fe6608716e498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847921afd343ea" /><Relationship Type="http://schemas.openxmlformats.org/officeDocument/2006/relationships/notesSlide" Target="/ppt/notesSlides/notesSlide13.xml" Id="Rc6bcfc5913474b6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d5e90c1e2b4200" /><Relationship Type="http://schemas.openxmlformats.org/officeDocument/2006/relationships/notesSlide" Target="/ppt/notesSlides/notesSlide14.xml" Id="R093096bea706441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893cc2ec674e88" /><Relationship Type="http://schemas.openxmlformats.org/officeDocument/2006/relationships/notesSlide" Target="/ppt/notesSlides/notesSlide15.xml" Id="R3efc6c4f68fa4e1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ab70549d314e5a" /><Relationship Type="http://schemas.openxmlformats.org/officeDocument/2006/relationships/notesSlide" Target="/ppt/notesSlides/notesSlide16.xml" Id="Rd5af36a9b7f54bd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007911e7f74b4c" /><Relationship Type="http://schemas.openxmlformats.org/officeDocument/2006/relationships/notesSlide" Target="/ppt/notesSlides/notesSlide17.xml" Id="R27e67cb33f6141b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382f20a53e4414" /><Relationship Type="http://schemas.openxmlformats.org/officeDocument/2006/relationships/notesSlide" Target="/ppt/notesSlides/notesSlide18.xml" Id="R326c22e1a735412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80b014a3c843c6" /><Relationship Type="http://schemas.openxmlformats.org/officeDocument/2006/relationships/notesSlide" Target="/ppt/notesSlides/notesSlide19.xml" Id="R04ef505d0e3549e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B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167494B-C1CF-4043-AA6A-C947A2B4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19EA191-E0C1-4014-8137-C6398D37F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572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20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buNone/>
              <a:defRPr sz="1020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020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Lexora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703C723-C083-41DE-8104-2C4B459C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24175"/>
            <a:ext cx="4248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 compiler-design</a:t>
            </a:r>
          </a:p>
          <a:p xmlns:a="http://schemas.openxmlformats.org/drawingml/2006/main">
            <a:pPr>
              <a:buNone/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workbench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99090DF-82C2-46DB-8B12-58B7F555F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14850"/>
            <a:ext cx="4000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Real Lex/Yacc execution with visual explanations of compiler concepts.</a:t>
            </a:r>
          </a:p>
        </p:txBody>
      </p:sp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E358FE0C-F904-4DC8-9A35-C74367F806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6cd3256ea3473a"/>
          <a:stretch xmlns:a="http://schemas.openxmlformats.org/drawingml/2006/main"/>
        </p:blipFill>
        <p:spPr>
          <a:xfrm xmlns:a="http://schemas.openxmlformats.org/drawingml/2006/main">
            <a:off x="5200650" y="2458045"/>
            <a:ext cx="6381750" cy="3589734"/>
          </a:xfrm>
          <a:prstGeom xmlns:a="http://schemas.openxmlformats.org/drawingml/2006/main" prst="rect">
            <a:avLst/>
          </a:prstGeom>
        </p:spPr>
      </p:pic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CFDDCF8-44DD-4EAA-AC03-B4153910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666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1350" b="1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COMPILER DESIGN PROJECT</a:t>
            </a:r>
          </a:p>
        </p:txBody>
      </p:sp>
    </p:spTree>
    <p:extLst>
      <p:ext uri="{BB962C8B-B14F-4D97-AF65-F5344CB8AC3E}">
        <p14:creationId xmlns:p14="http://schemas.microsoft.com/office/powerpoint/2010/main" val="6169533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A223304-9DBF-42BD-BF71-84EA0BCA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Project overview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4AB1335-C7A7-43D2-A446-78E5E8231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DBE2F73-5A53-48A1-AFE5-20ED3264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30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30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Lexora brings source editing,</a:t>
            </a:r>
          </a:p>
          <a:p xmlns:a="http://schemas.openxmlformats.org/drawingml/2006/main">
            <a:pPr>
              <a:buNone/>
              <a:defRPr sz="30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30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native compilation, and compiler</a:t>
            </a:r>
          </a:p>
          <a:p xmlns:a="http://schemas.openxmlformats.org/drawingml/2006/main">
            <a:pPr>
              <a:buNone/>
              <a:defRPr sz="30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30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analysis into one browser workspace.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AC2876C-4EDF-4A14-A176-686BCBB63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Native execution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BE9D4FD-0F80-4300-9154-55C544C77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4953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Students compile selected Lex and Yacc specifications using Flex, Bison, and GCC.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F4EF365-FCA4-4E8F-AF48-9BF97E23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57625"/>
            <a:ext cx="514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Educational analysis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0B836D0-68E7-49E3-BA0C-52873936C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29125"/>
            <a:ext cx="5143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A built-in analyzer explains supported input through syntax trees, symbols, and intermediate code.</a:t>
            </a:r>
          </a:p>
        </p:txBody>
      </p:sp>
    </p:spTree>
    <p:extLst>
      <p:ext uri="{BB962C8B-B14F-4D97-AF65-F5344CB8AC3E}">
        <p14:creationId xmlns:p14="http://schemas.microsoft.com/office/powerpoint/2010/main" val="16790339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11B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CB6B76A-919E-45C0-B099-74E70A92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Problem identification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77032E0-639D-4433-A5F8-591E9FC4E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728A9B2-3370-400D-87DE-FA9A550F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6096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The compilation process is</a:t>
            </a:r>
          </a:p>
          <a:p xmlns:a="http://schemas.openxmlformats.org/drawingml/2006/main">
            <a:pPr>
              <a:buNone/>
              <a:defRPr sz="33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difficult to understand when</a:t>
            </a:r>
          </a:p>
          <a:p xmlns:a="http://schemas.openxmlformats.org/drawingml/2006/main">
            <a:pPr>
              <a:buNone/>
              <a:defRPr sz="33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its intermediate steps</a:t>
            </a:r>
          </a:p>
          <a:p xmlns:a="http://schemas.openxmlformats.org/drawingml/2006/main">
            <a:pPr>
              <a:buNone/>
              <a:defRPr sz="33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remain hidden.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412AD3-88C7-420A-824B-433BAA160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52600"/>
            <a:ext cx="4333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9EE7C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2100" b="1">
                <a:solidFill>
                  <a:srgbClr val="9EE7CE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9EE7CE"/>
                </a:solidFill>
                <a:latin typeface="Segoe UI"/>
                <a:ea typeface="Segoe UI"/>
                <a:cs typeface="Segoe UI"/>
              </a:rPr>
              <a:t>Fragmented laboratory workflow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5E3EB72-4B0D-43C2-934B-1E0AF707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81250"/>
            <a:ext cx="433387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Students manage separate files and commands to generate, compile, and execute a lexer or parser.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F1295CA-D576-44BF-894F-867EF6297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67175"/>
            <a:ext cx="4333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9EE7C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2100" b="1">
                <a:solidFill>
                  <a:srgbClr val="9EE7CE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9EE7CE"/>
                </a:solidFill>
                <a:latin typeface="Segoe UI"/>
                <a:ea typeface="Segoe UI"/>
                <a:cs typeface="Segoe UI"/>
              </a:rPr>
              <a:t>Limited explanatory feedback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D2BE471-9303-4248-A09C-0B38C3C3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86300"/>
            <a:ext cx="4333875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Program output alone does not explain syntax structure, symbol scope, or intermediate code.</a:t>
            </a:r>
          </a:p>
        </p:txBody>
      </p:sp>
    </p:spTree>
    <p:extLst>
      <p:ext uri="{BB962C8B-B14F-4D97-AF65-F5344CB8AC3E}">
        <p14:creationId xmlns:p14="http://schemas.microsoft.com/office/powerpoint/2010/main" val="10474629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6F710BE1-F202-42F0-985A-330E44F9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Project objectives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ED06FFD-2C22-4D8C-A030-0B45B4DC5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CD7E163-ACA8-4094-A00F-6CF2D34A9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819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525" b="0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3525" b="0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3525" b="0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987E070-CC6B-47EC-9229-5B10CA15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724025"/>
            <a:ext cx="4191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Provide an integrated workspace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2D93699-1891-4A68-94BA-8F8E281F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562225"/>
            <a:ext cx="4191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Students can edit specifications, select targets, and supply program input.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0CD78E9-0A1F-41D5-9FEF-5BFEBE28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95450"/>
            <a:ext cx="819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525" b="0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3525" b="0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3525" b="0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36A68170-2AF2-48B3-ABCF-D4A804E8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724025"/>
            <a:ext cx="4191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Execute real compiler tools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C4BD04A-0FD8-488E-8315-84D115F3D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62225"/>
            <a:ext cx="4191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The backend generates C sources, builds an executable, and captures its output.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C483488E-A64B-46BD-A68E-5F8A7248D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819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525" b="0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3525" b="0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3525" b="0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DAC5DD7-48C9-49D0-89B6-79B04A252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981450"/>
            <a:ext cx="4191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Explain compiler concepts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F394381C-BD6F-4F13-B8FB-54436B1E8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819650"/>
            <a:ext cx="4191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Visual views connect tokens and syntax structure with symbols and intermediate code.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F4262F2E-5BB4-45C5-9CE6-AE151C71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52875"/>
            <a:ext cx="819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525" b="0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3525" b="0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3525" b="0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19237F5F-E8D6-41CC-99FA-CD237277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981450"/>
            <a:ext cx="4191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Support repeatable experiments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3826077-07C3-49C8-84A7-97A93A61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819650"/>
            <a:ext cx="4191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Browser drafts, examples, and file downloads help students continue their work.</a:t>
            </a:r>
          </a:p>
        </p:txBody>
      </p:sp>
    </p:spTree>
    <p:extLst>
      <p:ext uri="{BB962C8B-B14F-4D97-AF65-F5344CB8AC3E}">
        <p14:creationId xmlns:p14="http://schemas.microsoft.com/office/powerpoint/2010/main" val="18040704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831410D-9F05-4921-8375-30B7CB2A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Literature survey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16E1E4-5C8D-4279-A1C6-3A6FB5612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FCEDA9-5814-4ED6-B6AF-6DD5AA68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81175"/>
            <a:ext cx="1097280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75" b="0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2475" b="0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ANTLRWorks (2008) demonstrates visual grammar debugging to help developers inspect parser behavior [1]. Compiler Explorer provides browser-based compilation with visible compiler output [2]. Flex and Bison supply the scanner and parser generation used in traditional Lex/Yacc workflows [3, 4]. Together, these references motivate Lexora's focus on a dedicated teaching workspace that combines native specification execution with a separate analyzer for program structure and intermediate code.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BB0662-F2F2-4039-AAA9-E9C335130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Related work: ANTLRWorks [1], Compiler Explorer [2], Flex and Bison [3, 4].</a:t>
            </a:r>
          </a:p>
        </p:txBody>
      </p:sp>
    </p:spTree>
    <p:extLst>
      <p:ext uri="{BB962C8B-B14F-4D97-AF65-F5344CB8AC3E}">
        <p14:creationId xmlns:p14="http://schemas.microsoft.com/office/powerpoint/2010/main" val="2288977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11B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Straight Arrow Connector 13">
            <a:extLst xmlns:a="http://schemas.openxmlformats.org/drawingml/2006/main">
              <a:ext uri="{FF2B5EF4-FFF2-40B4-BE49-F238E27FC236}">
                <a16:creationId xmlns:a16="http://schemas.microsoft.com/office/drawing/2014/main" id="{7EC18CFE-6608-423C-9FF1-6C2D81067B86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467600" y="5681663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cxnSp>
        <p:nvCxnSpPr>
          <p:cNvPr id="13" name="Straight Arrow Connector 12">
            <a:extLst xmlns:a="http://schemas.openxmlformats.org/drawingml/2006/main">
              <a:ext uri="{FF2B5EF4-FFF2-40B4-BE49-F238E27FC236}">
                <a16:creationId xmlns:a16="http://schemas.microsoft.com/office/drawing/2014/main" id="{537353F7-EB9D-4D00-979A-FEA045A789E3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371850" y="5681663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cxnSp>
        <p:nvCxnSpPr>
          <p:cNvPr id="9" name="Straight Arrow Connector 8">
            <a:extLst xmlns:a="http://schemas.openxmlformats.org/drawingml/2006/main">
              <a:ext uri="{FF2B5EF4-FFF2-40B4-BE49-F238E27FC236}">
                <a16:creationId xmlns:a16="http://schemas.microsoft.com/office/drawing/2014/main" id="{F9D1C09F-04A7-4685-8388-DB626D87473E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467600" y="4405313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cxnSp>
        <p:nvCxnSpPr>
          <p:cNvPr id="8" name="Straight Arrow Connector 7">
            <a:extLst xmlns:a="http://schemas.openxmlformats.org/drawingml/2006/main">
              <a:ext uri="{FF2B5EF4-FFF2-40B4-BE49-F238E27FC236}">
                <a16:creationId xmlns:a16="http://schemas.microsoft.com/office/drawing/2014/main" id="{28F6F3B3-9984-40C1-AA4B-5077B3E53203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371850" y="4405313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E25A479F-FD65-4EE9-8F03-81B5A5FC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Novelty and project contribution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F3B6D74-2533-466F-9981-ED0B1A02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821599F-D6A9-474C-8060-186CAFFF9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9728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32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 dedicated website for compiling</a:t>
            </a:r>
          </a:p>
          <a:p xmlns:a="http://schemas.openxmlformats.org/drawingml/2006/main">
            <a:pPr>
              <a:buNone/>
              <a:defRPr sz="32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Lex/Yacc code and visualizing</a:t>
            </a:r>
          </a:p>
          <a:p xmlns:a="http://schemas.openxmlformats.org/drawingml/2006/main">
            <a:pPr>
              <a:buNone/>
              <a:defRPr sz="32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compiler concepts.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6EBF7DE-68AE-461C-9A99-9E9E547E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Students can run selected specifications and inspect supported input in one dedicated workspace.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A328791-5C8B-4C4D-B3C8-E83E1170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27622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AE1E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buNone/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Selected .l / .y files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26154BC-5819-436D-9ABD-CF84DDE7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010025"/>
            <a:ext cx="27622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F4"/>
          </a:solidFill>
          <a:ln xmlns:a="http://schemas.openxmlformats.org/drawingml/2006/main" w="12383">
            <a:solidFill>
              <a:srgbClr val="315EF4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Flex + Bison + GCC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F804EDF-9DBC-4D83-8922-1E00C991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10025"/>
            <a:ext cx="27622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AE1E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buNone/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Native output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646C76F-DACC-43B4-AC18-802E525EE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27622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AE1E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buNone/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Program input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3D824357-2D33-42C1-BB7A-17903092E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286375"/>
            <a:ext cx="27622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F4"/>
          </a:solidFill>
          <a:ln xmlns:a="http://schemas.openxmlformats.org/drawingml/2006/main" w="12383">
            <a:solidFill>
              <a:srgbClr val="315EF4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Built-in analyzer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69E59BDE-E6CF-460E-9F1B-8CAFF528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286375"/>
            <a:ext cx="27622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AE1E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buNone/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Educational views</a:t>
            </a:r>
          </a:p>
        </p:txBody>
      </p:sp>
    </p:spTree>
    <p:extLst>
      <p:ext uri="{BB962C8B-B14F-4D97-AF65-F5344CB8AC3E}">
        <p14:creationId xmlns:p14="http://schemas.microsoft.com/office/powerpoint/2010/main" val="3552529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98205EE-7E5D-44E7-8A39-AD24502D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The Lexora workspace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D43EDE0-7994-4F4E-9BAB-4FEFB9395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07</a:t>
            </a:r>
          </a:p>
        </p:txBody>
      </p:sp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8405A74D-7CD5-4A6D-8A94-3E4B4E1C47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b117b3d0984cad"/>
          <a:stretch xmlns:a="http://schemas.openxmlformats.org/drawingml/2006/main"/>
        </p:blipFill>
        <p:spPr>
          <a:xfrm xmlns:a="http://schemas.openxmlformats.org/drawingml/2006/main">
            <a:off x="609600" y="1657350"/>
            <a:ext cx="8077200" cy="4543425"/>
          </a:xfrm>
          <a:prstGeom xmlns:a="http://schemas.openxmlformats.org/drawingml/2006/main" prst="rect">
            <a:avLst/>
          </a:prstGeom>
        </p:spPr>
      </p:pic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E27EF57-C6E8-4571-8705-33FBD9D4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895475"/>
            <a:ext cx="2495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Source editing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3172BA9-0F95-43FC-9505-845CBA1A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00325"/>
            <a:ext cx="24955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The editor holds the selected lexer or parser specification.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A1E603E-58EB-4776-AD70-3613DC8C7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257675"/>
            <a:ext cx="2495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Analysis views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0DE644A-BCD9-4DD0-BA0E-6D1BC9F3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962525"/>
            <a:ext cx="24955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The token table records each lexeme and its position in the input.</a:t>
            </a:r>
          </a:p>
        </p:txBody>
      </p:sp>
    </p:spTree>
    <p:extLst>
      <p:ext uri="{BB962C8B-B14F-4D97-AF65-F5344CB8AC3E}">
        <p14:creationId xmlns:p14="http://schemas.microsoft.com/office/powerpoint/2010/main" val="9277991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Straight Arrow Connector 13">
            <a:extLst xmlns:a="http://schemas.openxmlformats.org/drawingml/2006/main">
              <a:ext uri="{FF2B5EF4-FFF2-40B4-BE49-F238E27FC236}">
                <a16:creationId xmlns:a16="http://schemas.microsoft.com/office/drawing/2014/main" id="{954520BB-C80F-4A6D-84D6-0EC7A80E8824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10039350" y="2867025"/>
            <a:ext cx="0" cy="123825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cxnSp>
        <p:nvCxnSpPr>
          <p:cNvPr id="13" name="Straight Arrow Connector 12">
            <a:extLst xmlns:a="http://schemas.openxmlformats.org/drawingml/2006/main">
              <a:ext uri="{FF2B5EF4-FFF2-40B4-BE49-F238E27FC236}">
                <a16:creationId xmlns:a16="http://schemas.microsoft.com/office/drawing/2014/main" id="{E8850D93-B488-4413-A15B-8E09FD426CAB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6086475" y="2867025"/>
            <a:ext cx="0" cy="123825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cxnSp>
        <p:nvCxnSpPr>
          <p:cNvPr id="12" name="Straight Arrow Connector 11">
            <a:extLst xmlns:a="http://schemas.openxmlformats.org/drawingml/2006/main">
              <a:ext uri="{FF2B5EF4-FFF2-40B4-BE49-F238E27FC236}">
                <a16:creationId xmlns:a16="http://schemas.microsoft.com/office/drawing/2014/main" id="{A05EB3D0-5CA3-47D3-B4A5-BF8AAF358F10}"/>
              </a:ext>
            </a:extLst>
          </p:cNvPr>
          <p:cNvCxnSpPr>
            <a:stCxn xmlns:a="http://schemas.openxmlformats.org/drawingml/2006/main" id="3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2133600" y="2867025"/>
            <a:ext cx="0" cy="123825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cxnSp>
        <p:nvCxnSpPr>
          <p:cNvPr id="7" name="Straight Arrow Connector 6">
            <a:extLst xmlns:a="http://schemas.openxmlformats.org/drawingml/2006/main">
              <a:ext uri="{FF2B5EF4-FFF2-40B4-BE49-F238E27FC236}">
                <a16:creationId xmlns:a16="http://schemas.microsoft.com/office/drawing/2014/main" id="{137B2BBD-C51F-4452-9213-99CD44A6F3C1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610475" y="2333625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cxnSp>
        <p:nvCxnSpPr>
          <p:cNvPr id="6" name="Straight Arrow Connector 5">
            <a:extLst xmlns:a="http://schemas.openxmlformats.org/drawingml/2006/main">
              <a:ext uri="{FF2B5EF4-FFF2-40B4-BE49-F238E27FC236}">
                <a16:creationId xmlns:a16="http://schemas.microsoft.com/office/drawing/2014/main" id="{664576F5-537F-4F3D-A2C4-2EB5C52B265F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657600" y="2333625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B183C84-9332-473B-A3ED-E77DD1142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System architecture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7FCF2C3-87A6-4DDC-BCD5-B05170900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08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28CEA01-8F04-436C-BFD4-129A22A3C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304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12383">
            <a:solidFill>
              <a:srgbClr val="315EF4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buNone/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Browser interface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React + CodeMirror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D3878E0-8301-4264-AB81-53E395A57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800225"/>
            <a:ext cx="304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F4"/>
          </a:solidFill>
          <a:ln xmlns:a="http://schemas.openxmlformats.org/drawingml/2006/main" w="12383">
            <a:solidFill>
              <a:srgbClr val="315EF4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Backend API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Node.js + Express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9738644-C2B2-4755-88D9-FEDA1879A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800225"/>
            <a:ext cx="304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12383">
            <a:solidFill>
              <a:srgbClr val="315EF4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buNone/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WSL Ubuntu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Flex + Bison + GCC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71F050F-6B06-425B-B075-851142A5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1571625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157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HTTP / JSON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9F78964-6A0D-4EDB-9834-8B45A8BF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3048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AE1E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buNone/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Browser localStorage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Workspace drafts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60EBFA8-B5A6-468D-9AC1-66967581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105275"/>
            <a:ext cx="3048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AE1E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buNone/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JavaScript analyzer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AST, symbols, and TAC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39EB497-42D4-4D28-9B82-1BF1D6F3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105275"/>
            <a:ext cx="3048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AE1E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buNone/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Temporary job directory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Sources and executable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7BC7139E-BE7A-405F-942A-ECC65595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530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The browser sends JSON requests. The backend returns output, errors, and analysis as JSON.</a:t>
            </a:r>
          </a:p>
        </p:txBody>
      </p:sp>
    </p:spTree>
    <p:extLst>
      <p:ext uri="{BB962C8B-B14F-4D97-AF65-F5344CB8AC3E}">
        <p14:creationId xmlns:p14="http://schemas.microsoft.com/office/powerpoint/2010/main" val="8256289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Straight Arrow Connector 15">
            <a:extLst xmlns:a="http://schemas.openxmlformats.org/drawingml/2006/main">
              <a:ext uri="{FF2B5EF4-FFF2-40B4-BE49-F238E27FC236}">
                <a16:creationId xmlns:a16="http://schemas.microsoft.com/office/drawing/2014/main" id="{0B3B2F77-A5A9-44C0-9466-52454564E522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4086225" y="415290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cxnSp>
        <p:nvCxnSpPr>
          <p:cNvPr id="14" name="Straight Arrow Connector 13">
            <a:extLst xmlns:a="http://schemas.openxmlformats.org/drawingml/2006/main">
              <a:ext uri="{FF2B5EF4-FFF2-40B4-BE49-F238E27FC236}">
                <a16:creationId xmlns:a16="http://schemas.microsoft.com/office/drawing/2014/main" id="{ED53C29C-7093-4D2E-907B-9E0199970713}"/>
              </a:ext>
            </a:extLst>
          </p:cNvPr>
          <p:cNvCxnSpPr>
            <a:stCxn xmlns:a="http://schemas.openxmlformats.org/drawingml/2006/main" id="11" idx="0"/>
            <a:endCxn xmlns:a="http://schemas.openxmlformats.org/drawingml/2006/main" id="13" idx="2"/>
          </p:cNvCxnSpPr>
          <p:nvPr/>
        </p:nvCxnSpPr>
        <p:spPr>
          <a:xfrm xmlns:a="http://schemas.openxmlformats.org/drawingml/2006/main" flipV="1">
            <a:off x="9991725" y="3676650"/>
            <a:ext cx="0" cy="123825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cxnSp>
        <p:nvCxnSpPr>
          <p:cNvPr id="12" name="Straight Arrow Connector 11">
            <a:extLst xmlns:a="http://schemas.openxmlformats.org/drawingml/2006/main">
              <a:ext uri="{FF2B5EF4-FFF2-40B4-BE49-F238E27FC236}">
                <a16:creationId xmlns:a16="http://schemas.microsoft.com/office/drawing/2014/main" id="{FB3085A9-AD7A-4A41-B691-7ABACB0F95C9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086225" y="5248275"/>
            <a:ext cx="43338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cxnSp>
        <p:nvCxnSpPr>
          <p:cNvPr id="9" name="Straight Arrow Connector 8">
            <a:extLst xmlns:a="http://schemas.openxmlformats.org/drawingml/2006/main">
              <a:ext uri="{FF2B5EF4-FFF2-40B4-BE49-F238E27FC236}">
                <a16:creationId xmlns:a16="http://schemas.microsoft.com/office/drawing/2014/main" id="{23A9CA52-077E-4077-9C09-DDD907F73FAE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2347913" y="45720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cxnSp>
        <p:nvCxnSpPr>
          <p:cNvPr id="8" name="Straight Arrow Connector 7">
            <a:extLst xmlns:a="http://schemas.openxmlformats.org/drawingml/2006/main">
              <a:ext uri="{FF2B5EF4-FFF2-40B4-BE49-F238E27FC236}">
                <a16:creationId xmlns:a16="http://schemas.microsoft.com/office/drawing/2014/main" id="{DD105F2C-AD65-4576-847F-6E383CD1FF19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2347913" y="33909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cxnSp>
        <p:nvCxnSpPr>
          <p:cNvPr id="7" name="Straight Arrow Connector 6">
            <a:extLst xmlns:a="http://schemas.openxmlformats.org/drawingml/2006/main">
              <a:ext uri="{FF2B5EF4-FFF2-40B4-BE49-F238E27FC236}">
                <a16:creationId xmlns:a16="http://schemas.microsoft.com/office/drawing/2014/main" id="{D715BED2-D39D-4B86-A5B8-A68A11965386}"/>
              </a:ext>
            </a:extLst>
          </p:cNvPr>
          <p:cNvCxnSpPr>
            <a:stCxn xmlns:a="http://schemas.openxmlformats.org/drawingml/2006/main" id="3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>
            <a:off x="2347913" y="238125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214FB579-C5C1-4C43-8026-522F8312A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Working flowchart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8DF3E86-B664-4682-8187-31310761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09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5E939BC-8AF3-4EFD-A35C-5487A5C9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476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12383">
            <a:solidFill>
              <a:srgbClr val="315EF4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buNone/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Edit files and program input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064A3E6-261C-432C-9B13-4AD1925A1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3476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12383">
            <a:solidFill>
              <a:srgbClr val="315EF4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buNone/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Send code and input as JSON</a:t>
            </a:r>
          </a:p>
        </p:txBody>
      </p:sp>
      <p:sp>
        <p:nvSpPr>
          <p:cNvPr id="5" name="Diamond 4">
            <a:extLst xmlns:a="http://schemas.openxmlformats.org/drawingml/2006/main">
              <a:ext uri="{FF2B5EF4-FFF2-40B4-BE49-F238E27FC236}">
                <a16:creationId xmlns:a16="http://schemas.microsoft.com/office/drawing/2014/main" id="{71C85116-24B2-4662-8CD5-F091DDCF0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476625" cy="838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12383">
            <a:solidFill>
              <a:srgbClr val="315EF4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buNone/>
              <a:defRPr sz="180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Validate request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6E5A4D2-446C-4BFA-85EE-C25680EFC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3476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12383">
            <a:solidFill>
              <a:srgbClr val="315EF4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buNone/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Analyze input and prepare files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7505FF4-6C69-4C31-9706-E123784A9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5815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150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Valid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DA8387B-AA72-4611-9073-70BE8976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914900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F4"/>
          </a:solidFill>
          <a:ln xmlns:a="http://schemas.openxmlformats.org/drawingml/2006/main" w="12383">
            <a:solidFill>
              <a:srgbClr val="315EF4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Generate C, compile, and run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443FD42-6BB7-4D87-8F92-FCA209D5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2415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12383">
            <a:solidFill>
              <a:srgbClr val="315EF4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buNone/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Clean temporary files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and return results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B78A607B-DF1D-403C-9229-EF2B8B123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733800"/>
            <a:ext cx="2857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AE1E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buNone/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Return a validation error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3C3DC034-DB18-4236-BE4A-8CFB284AA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381375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15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Invalid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0B779B58-3E8F-4BEC-A8EC-D541C341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95450"/>
            <a:ext cx="31432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Failures identify the failing phase and preserve available results.</a:t>
            </a:r>
          </a:p>
        </p:txBody>
      </p:sp>
    </p:spTree>
    <p:extLst>
      <p:ext uri="{BB962C8B-B14F-4D97-AF65-F5344CB8AC3E}">
        <p14:creationId xmlns:p14="http://schemas.microsoft.com/office/powerpoint/2010/main" val="14862857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571BD2-3323-4553-B1D0-B049963DD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Data storage and lifecycle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50CD7C-FAF1-4EE7-8E99-DD80F94D0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ACB9E7-133D-4264-B598-C764EAB49368}"/>
              </a:ext>
            </a:extLst>
          </p:cNvPr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10972800" cy="3943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4333875"/>
                <a:gridCol w="3495675"/>
              </a:tblGrid>
              <a:tr h="5905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Data</a:t>
                      </a:r>
                    </a:p>
                  </a:txBody>
                  <a:tcPr marL="91440" marR="91440" marT="45720" marB="45720">
                    <a:solidFill>
                      <a:srgbClr val="111B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Location</a:t>
                      </a:r>
                    </a:p>
                  </a:txBody>
                  <a:tcPr marL="91440" marR="91440" marT="45720" marB="45720">
                    <a:solidFill>
                      <a:srgbClr val="111B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Lifetime</a:t>
                      </a:r>
                    </a:p>
                  </a:txBody>
                  <a:tcPr marL="91440" marR="91440" marT="45720" marB="45720">
                    <a:solidFill>
                      <a:srgbClr val="111B31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E"/>
                          </a:solidFill>
                          <a:latin typeface="Segoe UI"/>
                          <a:ea typeface="Segoe UI"/>
                          <a:cs typeface="Segoe UI"/>
                        </a:rPr>
                        <a:t>Source drafts and input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E"/>
                          </a:solidFill>
                          <a:latin typeface="Segoe UI"/>
                          <a:ea typeface="Segoe UI"/>
                          <a:cs typeface="Segoe UI"/>
                        </a:rPr>
                        <a:t>Browser localStorage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E"/>
                          </a:solidFill>
                          <a:latin typeface="Segoe UI"/>
                          <a:ea typeface="Segoe UI"/>
                          <a:cs typeface="Segoe UI"/>
                        </a:rPr>
                        <a:t>Across reloads until cleared.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E"/>
                          </a:solidFill>
                          <a:latin typeface="Segoe UI"/>
                          <a:ea typeface="Segoe UI"/>
                          <a:cs typeface="Segoe UI"/>
                        </a:rPr>
                        <a:t>Sources and generated executable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E"/>
                          </a:solidFill>
                          <a:latin typeface="Segoe UI"/>
                          <a:ea typeface="Segoe UI"/>
                          <a:cs typeface="Segoe UI"/>
                        </a:rPr>
                        <a:t>Backend temporary job folder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E"/>
                          </a:solidFill>
                          <a:latin typeface="Segoe UI"/>
                          <a:ea typeface="Segoe UI"/>
                          <a:cs typeface="Segoe UI"/>
                        </a:rPr>
                        <a:t>One request, then cleanup.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E"/>
                          </a:solidFill>
                          <a:latin typeface="Segoe UI"/>
                          <a:ea typeface="Segoe UI"/>
                          <a:cs typeface="Segoe UI"/>
                        </a:rPr>
                        <a:t>Output and analysis results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E"/>
                          </a:solidFill>
                          <a:latin typeface="Segoe UI"/>
                          <a:ea typeface="Segoe UI"/>
                          <a:cs typeface="Segoe UI"/>
                        </a:rPr>
                        <a:t>Backend memory and browser state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E"/>
                          </a:solidFill>
                          <a:latin typeface="Segoe UI"/>
                          <a:ea typeface="Segoe UI"/>
                          <a:cs typeface="Segoe UI"/>
                        </a:rPr>
                        <a:t>Current request and result.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E"/>
                          </a:solidFill>
                          <a:latin typeface="Segoe UI"/>
                          <a:ea typeface="Segoe UI"/>
                          <a:cs typeface="Segoe UI"/>
                        </a:rPr>
                        <a:t>Downloaded source files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E"/>
                          </a:solidFill>
                          <a:latin typeface="Segoe UI"/>
                          <a:ea typeface="Segoe UI"/>
                          <a:cs typeface="Segoe UI"/>
                        </a:rPr>
                        <a:t>User-selected download location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E"/>
                          </a:solidFill>
                          <a:latin typeface="Segoe UI"/>
                          <a:ea typeface="Segoe UI"/>
                          <a:cs typeface="Segoe UI"/>
                        </a:rPr>
                        <a:t>Until the user removes them.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F3D83C-B0AB-4C27-8CAC-48C3A803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769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Lexora uses browser storage for drafts and temporary files for compilation. It has no application database.</a:t>
            </a:r>
          </a:p>
        </p:txBody>
      </p:sp>
    </p:spTree>
    <p:extLst>
      <p:ext uri="{BB962C8B-B14F-4D97-AF65-F5344CB8AC3E}">
        <p14:creationId xmlns:p14="http://schemas.microsoft.com/office/powerpoint/2010/main" val="450980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11B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Straight Arrow Connector 8">
            <a:extLst xmlns:a="http://schemas.openxmlformats.org/drawingml/2006/main">
              <a:ext uri="{FF2B5EF4-FFF2-40B4-BE49-F238E27FC236}">
                <a16:creationId xmlns:a16="http://schemas.microsoft.com/office/drawing/2014/main" id="{84677933-325E-42A2-BE45-1069AB5D225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667750" y="230505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cxnSp>
        <p:nvCxnSpPr>
          <p:cNvPr id="8" name="Straight Arrow Connector 7">
            <a:extLst xmlns:a="http://schemas.openxmlformats.org/drawingml/2006/main">
              <a:ext uri="{FF2B5EF4-FFF2-40B4-BE49-F238E27FC236}">
                <a16:creationId xmlns:a16="http://schemas.microsoft.com/office/drawing/2014/main" id="{DAE07DCE-9C65-4176-AB42-DFDB49E77691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772150" y="230505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cxnSp>
        <p:nvCxnSpPr>
          <p:cNvPr id="7" name="Straight Arrow Connector 6">
            <a:extLst xmlns:a="http://schemas.openxmlformats.org/drawingml/2006/main">
              <a:ext uri="{FF2B5EF4-FFF2-40B4-BE49-F238E27FC236}">
                <a16:creationId xmlns:a16="http://schemas.microsoft.com/office/drawing/2014/main" id="{C2739657-D6A4-4844-BECC-9729150F4BD8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876550" y="230505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21B6F42-4444-4E80-BAB3-5249E50D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Native compilation pipeline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2691901-DBE8-4439-845F-0135106DF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11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BC33A9A-973D-4BE3-9E96-6BA6F8A13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22669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AE1E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buNone/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Flex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3BA6317-A2D9-433D-891E-AB8D6B9DB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24050"/>
            <a:ext cx="22669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AE1E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buNone/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Bison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F45045F-0DEF-404B-910B-9ACB6A66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24050"/>
            <a:ext cx="22669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F4"/>
          </a:solidFill>
          <a:ln xmlns:a="http://schemas.openxmlformats.org/drawingml/2006/main" w="12383">
            <a:solidFill>
              <a:srgbClr val="315EF4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GCC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5EA4891-A5C3-47E7-A8E0-51A8C4C5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24050"/>
            <a:ext cx="22669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AE1E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buNone/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Execution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FDB29F4A-94D6-4FB1-857C-5ACDAE29A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22669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lex.l produces</a:t>
            </a:r>
          </a:p>
          <a:p xmlns:a="http://schemas.openxmlformats.org/drawingml/2006/main">
            <a:pPr>
              <a:buNone/>
              <a:defRPr sz="202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lex.yy.c.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B346BFCA-83B2-4D12-9666-3D5B3B8A8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00375"/>
            <a:ext cx="2476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parser.y produces</a:t>
            </a:r>
          </a:p>
          <a:p xmlns:a="http://schemas.openxmlformats.org/drawingml/2006/main">
            <a:pPr>
              <a:buNone/>
              <a:defRPr sz="202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parser.tab.c and</a:t>
            </a:r>
          </a:p>
          <a:p xmlns:a="http://schemas.openxmlformats.org/drawingml/2006/main">
            <a:pPr>
              <a:buNone/>
              <a:defRPr sz="202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parser.tab.h.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D2B6EB42-7C35-4C2A-A360-47E625275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00375"/>
            <a:ext cx="2419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Generated C files</a:t>
            </a:r>
          </a:p>
          <a:p xmlns:a="http://schemas.openxmlformats.org/drawingml/2006/main">
            <a:pPr>
              <a:buNone/>
              <a:defRPr sz="202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produce an executable</a:t>
            </a:r>
          </a:p>
          <a:p xmlns:a="http://schemas.openxmlformats.org/drawingml/2006/main">
            <a:pPr>
              <a:buNone/>
              <a:defRPr sz="202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named compiler.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B64F9D58-F742-49B7-816D-A5F24C7E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000375"/>
            <a:ext cx="23050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The executable reads</a:t>
            </a:r>
          </a:p>
          <a:p xmlns:a="http://schemas.openxmlformats.org/drawingml/2006/main">
            <a:pPr>
              <a:buNone/>
              <a:defRPr sz="202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input.txt and writes</a:t>
            </a:r>
          </a:p>
          <a:p xmlns:a="http://schemas.openxmlformats.org/drawingml/2006/main">
            <a:pPr>
              <a:buNone/>
              <a:defRPr sz="202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standard output.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B6293B5B-3E42-400D-871D-AA7F7D72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gcc</a:t>
            </a:r>
            <a:r>
              <a:rPr sz="217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-o compiler </a:t>
            </a:r>
            <a:r>
              <a:rPr sz="217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lex.yy.c</a:t>
            </a:r>
            <a:r>
              <a:rPr sz="217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17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parser.tab.c</a:t>
            </a:r>
            <a:r>
              <a:rPr sz="217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-</a:t>
            </a:r>
            <a:r>
              <a:rPr sz="217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lfl</a:t>
            </a:r>
            <a:r>
              <a:rPr sz="217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-</a:t>
            </a:r>
            <a:r>
              <a:rPr sz="217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lm</a:t>
            </a:r>
            <a:endParaRPr sz="2175" b="0">
              <a:solidFill>
                <a:srgbClr val="FFFFFF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2FAEAEF0-671C-4A9C-89F5-5B37BB54E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Windows backend: WSL Ubuntu. The scanner uses the token header generated by Bison.</a:t>
            </a:r>
          </a:p>
        </p:txBody>
      </p:sp>
    </p:spTree>
    <p:extLst>
      <p:ext uri="{BB962C8B-B14F-4D97-AF65-F5344CB8AC3E}">
        <p14:creationId xmlns:p14="http://schemas.microsoft.com/office/powerpoint/2010/main" val="105072542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F8D4E9A-2B14-43FD-A2FB-3787E2816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Educational analysis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A0BF4A4-6B2A-4016-8B8E-4D37AF5B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12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2373898-3447-4E3C-A1DF-B92AB8C1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581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625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2625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2625" b="1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Input: 3 + 5 * 2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FAA2943-5B9F-45DF-83FD-AF4D4F0F0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58293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24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The built-in parser groups multiplication before addition and constructs an abstract syntax tree.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1C05D0B-6787-470C-912D-62A70E77B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5829300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The analyzer also derives scoped symbols, three-address code, optimization results, and basic blocks.</a:t>
            </a:r>
          </a:p>
        </p:txBody>
      </p:sp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9A021B88-41D3-495A-819C-49D48318CF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b3894a2e984674"/>
          <a:stretch xmlns:a="http://schemas.openxmlformats.org/drawingml/2006/main"/>
        </p:blipFill>
        <p:spPr>
          <a:xfrm xmlns:a="http://schemas.openxmlformats.org/drawingml/2006/main">
            <a:off x="7107267" y="1657350"/>
            <a:ext cx="4454465" cy="3886200"/>
          </a:xfrm>
          <a:prstGeom xmlns:a="http://schemas.openxmlformats.org/drawingml/2006/main" prst="rect">
            <a:avLst/>
          </a:prstGeom>
        </p:spPr>
      </p:pic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BDE4A47-5EDC-48B4-80FA-02AA994DC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The built-in analyzer creates these views from supported input. The submitted Lex/Yacc grammar controls native execution.</a:t>
            </a:r>
          </a:p>
        </p:txBody>
      </p:sp>
    </p:spTree>
    <p:extLst>
      <p:ext uri="{BB962C8B-B14F-4D97-AF65-F5344CB8AC3E}">
        <p14:creationId xmlns:p14="http://schemas.microsoft.com/office/powerpoint/2010/main" val="25304998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5EFB43-8014-41BC-BFE4-F82021BF5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Symbol table and semantic checks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AFFDAC-7FAB-4B4E-9F0A-859A930B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D3A31A-3A45-49A8-A9B7-E91C4631B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66675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75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2475" b="1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int x = 2 + 3 * 4;</a:t>
            </a:r>
          </a:p>
          <a:p xmlns:a="http://schemas.openxmlformats.org/drawingml/2006/main">
            <a:pPr>
              <a:defRPr sz="2475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2475" b="1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int y = x + 1;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F2521C-942C-400C-A491-11C08052580B}"/>
              </a:ext>
            </a:extLst>
          </p:cNvPr>
          <p:cNvGraphicFramePr/>
          <p:nvPr/>
        </p:nvGraphicFramePr>
        <p:xfrm>
          <a:off xmlns:a="http://schemas.openxmlformats.org/drawingml/2006/main" x="609600" y="3067050"/>
          <a:ext xmlns:a="http://schemas.openxmlformats.org/drawingml/2006/main" cx="5905500" cy="1943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952500"/>
                <a:gridCol w="1524000"/>
                <a:gridCol w="1428750"/>
                <a:gridCol w="1047750"/>
              </a:tblGrid>
              <a:tr h="5905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Name</a:t>
                      </a:r>
                    </a:p>
                  </a:txBody>
                  <a:tcPr marL="91440" marR="91440" marT="45720" marB="45720">
                    <a:solidFill>
                      <a:srgbClr val="111B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Type</a:t>
                      </a:r>
                    </a:p>
                  </a:txBody>
                  <a:tcPr marL="91440" marR="91440" marT="45720" marB="45720">
                    <a:solidFill>
                      <a:srgbClr val="111B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Scope</a:t>
                      </a:r>
                    </a:p>
                  </a:txBody>
                  <a:tcPr marL="91440" marR="91440" marT="45720" marB="45720">
                    <a:solidFill>
                      <a:srgbClr val="111B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Declared</a:t>
                      </a:r>
                    </a:p>
                  </a:txBody>
                  <a:tcPr marL="91440" marR="91440" marT="45720" marB="45720">
                    <a:solidFill>
                      <a:srgbClr val="111B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Used</a:t>
                      </a:r>
                    </a:p>
                  </a:txBody>
                  <a:tcPr marL="91440" marR="91440" marT="45720" marB="45720">
                    <a:solidFill>
                      <a:srgbClr val="111B31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E"/>
                          </a:solidFill>
                          <a:latin typeface="Segoe UI"/>
                          <a:ea typeface="Segoe UI"/>
                          <a:cs typeface="Segoe UI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E"/>
                          </a:solidFill>
                          <a:latin typeface="Segoe UI"/>
                          <a:ea typeface="Segoe UI"/>
                          <a:cs typeface="Segoe UI"/>
                        </a:rPr>
                        <a:t>int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E"/>
                          </a:solidFill>
                          <a:latin typeface="Segoe UI"/>
                          <a:ea typeface="Segoe UI"/>
                          <a:cs typeface="Segoe UI"/>
                        </a:rPr>
                        <a:t>global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E"/>
                          </a:solidFill>
                          <a:latin typeface="Segoe UI"/>
                          <a:ea typeface="Segoe UI"/>
                          <a:cs typeface="Segoe UI"/>
                        </a:rPr>
                        <a:t>Yes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E"/>
                          </a:solidFill>
                          <a:latin typeface="Segoe UI"/>
                          <a:ea typeface="Segoe UI"/>
                          <a:cs typeface="Segoe UI"/>
                        </a:rPr>
                        <a:t>Yes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E"/>
                          </a:solidFill>
                          <a:latin typeface="Segoe UI"/>
                          <a:ea typeface="Segoe UI"/>
                          <a:cs typeface="Segoe UI"/>
                        </a:rPr>
                        <a:t>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E"/>
                          </a:solidFill>
                          <a:latin typeface="Segoe UI"/>
                          <a:ea typeface="Segoe UI"/>
                          <a:cs typeface="Segoe UI"/>
                        </a:rPr>
                        <a:t>int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E"/>
                          </a:solidFill>
                          <a:latin typeface="Segoe UI"/>
                          <a:ea typeface="Segoe UI"/>
                          <a:cs typeface="Segoe UI"/>
                        </a:rPr>
                        <a:t>global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E"/>
                          </a:solidFill>
                          <a:latin typeface="Segoe UI"/>
                          <a:ea typeface="Segoe UI"/>
                          <a:cs typeface="Segoe UI"/>
                        </a:rPr>
                        <a:t>Yes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E"/>
                          </a:solidFill>
                          <a:latin typeface="Segoe UI"/>
                          <a:ea typeface="Segoe UI"/>
                          <a:cs typeface="Segoe UI"/>
                        </a:rPr>
                        <a:t>No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9FFAEF-264F-453E-9C49-91901D0BA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733550"/>
            <a:ext cx="43624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How entries are generated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24881C-53B8-4BAE-B3DB-F2A513DE2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581275"/>
            <a:ext cx="43624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The analyzer visits the syntax tree. Declarations create entries, and references mark names as used.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4AEA2B-4FD1-4E4E-A654-15EEDB1C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286250"/>
            <a:ext cx="4362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Scope and error checks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1E1EEB-7F1C-4EAC-AAB1-F3ECBF04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981575"/>
            <a:ext cx="43624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Nested scopes control name lookup. Undeclared names and duplicate declarations produce errors.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E3F87C-5772-47DE-8A63-47C2646C3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53075"/>
            <a:ext cx="5905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The table records declarations and usage, rather than live runtime values.</a:t>
            </a:r>
          </a:p>
        </p:txBody>
      </p:sp>
    </p:spTree>
    <p:extLst>
      <p:ext uri="{BB962C8B-B14F-4D97-AF65-F5344CB8AC3E}">
        <p14:creationId xmlns:p14="http://schemas.microsoft.com/office/powerpoint/2010/main" val="150408758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Straight Arrow Connector 13">
            <a:extLst xmlns:a="http://schemas.openxmlformats.org/drawingml/2006/main">
              <a:ext uri="{FF2B5EF4-FFF2-40B4-BE49-F238E27FC236}">
                <a16:creationId xmlns:a16="http://schemas.microsoft.com/office/drawing/2014/main" id="{ADBCC049-ADB4-4D67-8ED2-F9F55A64EB75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3829050" y="5181600"/>
            <a:ext cx="790575" cy="43815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cxnSp>
        <p:nvCxnSpPr>
          <p:cNvPr id="13" name="Straight Arrow Connector 12">
            <a:extLst xmlns:a="http://schemas.openxmlformats.org/drawingml/2006/main">
              <a:ext uri="{FF2B5EF4-FFF2-40B4-BE49-F238E27FC236}">
                <a16:creationId xmlns:a16="http://schemas.microsoft.com/office/drawing/2014/main" id="{5300FB3D-0862-4D94-B081-4B1AC2475D36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3114675" y="5181600"/>
            <a:ext cx="714375" cy="43815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cxnSp>
        <p:nvCxnSpPr>
          <p:cNvPr id="12" name="Straight Arrow Connector 11">
            <a:extLst xmlns:a="http://schemas.openxmlformats.org/drawingml/2006/main">
              <a:ext uri="{FF2B5EF4-FFF2-40B4-BE49-F238E27FC236}">
                <a16:creationId xmlns:a16="http://schemas.microsoft.com/office/drawing/2014/main" id="{5EA7281A-77CF-43E0-A8AF-A20C8CA2876E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2447925" y="4143375"/>
            <a:ext cx="1381125" cy="51435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cxnSp>
        <p:nvCxnSpPr>
          <p:cNvPr id="11" name="Straight Arrow Connector 10">
            <a:extLst xmlns:a="http://schemas.openxmlformats.org/drawingml/2006/main">
              <a:ext uri="{FF2B5EF4-FFF2-40B4-BE49-F238E27FC236}">
                <a16:creationId xmlns:a16="http://schemas.microsoft.com/office/drawing/2014/main" id="{F3B1BDC1-E1AB-484C-A3C5-821FB705FD0F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 flipH="1">
            <a:off x="1152525" y="4143375"/>
            <a:ext cx="1295400" cy="51435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cxnSp>
        <p:nvCxnSpPr>
          <p:cNvPr id="10" name="Straight Arrow Connector 9">
            <a:extLst xmlns:a="http://schemas.openxmlformats.org/drawingml/2006/main">
              <a:ext uri="{FF2B5EF4-FFF2-40B4-BE49-F238E27FC236}">
                <a16:creationId xmlns:a16="http://schemas.microsoft.com/office/drawing/2014/main" id="{B05A8EC0-D125-40E0-B7DA-1BE37479A59F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2447925" y="3152775"/>
            <a:ext cx="0" cy="41910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54784E8A-0BEE-49CE-8352-4A1E07A09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Worked example: intermediate code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5B142C4-3564-4BBF-A1B3-1908211A5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14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3FB7813-2360-498C-9758-020A8777D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270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int x = 2 + 3 * 4;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50CCAAD-FDAD-46FE-BD87-EAB12024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524125"/>
            <a:ext cx="2667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F4"/>
          </a:solidFill>
          <a:ln xmlns:a="http://schemas.openxmlformats.org/drawingml/2006/main" w="12383">
            <a:solidFill>
              <a:srgbClr val="315EF4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Declare x : int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D0EFC84-7BC1-4A4A-AE3A-4E5E504C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3571875"/>
            <a:ext cx="1143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12383">
            <a:solidFill>
              <a:srgbClr val="315EF4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buNone/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+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8387C4D-71A7-4B65-9DFA-35312C79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577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12383">
            <a:solidFill>
              <a:srgbClr val="315EF4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buNone/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A3CF39F-5DD1-4F93-8688-770400C2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6577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12383">
            <a:solidFill>
              <a:srgbClr val="315EF4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buNone/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*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A774200-1830-4E69-BDE6-FF353087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619750"/>
            <a:ext cx="742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12383">
            <a:solidFill>
              <a:srgbClr val="315EF4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buNone/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81205E7-5743-419D-9F41-233B9EB64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619750"/>
            <a:ext cx="742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12383">
            <a:solidFill>
              <a:srgbClr val="315EF4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buNone/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3C384A4E-857F-4EC8-BB8E-E21AF83E4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146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Original TAC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F4DF4E9F-FAF4-482E-8858-A18A07C6A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24200"/>
            <a:ext cx="5048250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75" b="0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2475" b="0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2475" b="0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t1 = 3 * 4</a:t>
            </a:r>
          </a:p>
          <a:p xmlns:a="http://schemas.openxmlformats.org/drawingml/2006/main">
            <a:pPr>
              <a:buNone/>
              <a:defRPr sz="2475" b="0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2475" b="0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t2 = 2 + t1</a:t>
            </a:r>
          </a:p>
          <a:p xmlns:a="http://schemas.openxmlformats.org/drawingml/2006/main">
            <a:pPr>
              <a:buNone/>
              <a:defRPr sz="2475" b="0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2475" b="0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x = t2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01F66320-D3AF-451F-A9DA-D07F264F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146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Optimized TAC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793C704F-DF52-45ED-96FD-839A56A8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24200"/>
            <a:ext cx="2333625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75" b="0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2475" b="0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2475" b="0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t1 = 12</a:t>
            </a:r>
          </a:p>
          <a:p xmlns:a="http://schemas.openxmlformats.org/drawingml/2006/main">
            <a:pPr>
              <a:buNone/>
              <a:defRPr sz="2475" b="0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2475" b="0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t2 = 14</a:t>
            </a:r>
          </a:p>
          <a:p xmlns:a="http://schemas.openxmlformats.org/drawingml/2006/main">
            <a:pPr>
              <a:buNone/>
              <a:defRPr sz="2475" b="0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2475" b="0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x = 14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0703D417-2F83-4930-97C6-58E8E8B10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962525"/>
            <a:ext cx="54102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Constant folding evaluates arithmetic.</a:t>
            </a:r>
          </a:p>
          <a:p xmlns:a="http://schemas.openxmlformats.org/drawingml/2006/main">
            <a:pPr>
              <a:buNone/>
              <a:defRPr sz="195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Constant propagation substitutes known values.</a:t>
            </a:r>
          </a:p>
        </p:txBody>
      </p:sp>
    </p:spTree>
    <p:extLst>
      <p:ext uri="{BB962C8B-B14F-4D97-AF65-F5344CB8AC3E}">
        <p14:creationId xmlns:p14="http://schemas.microsoft.com/office/powerpoint/2010/main" val="50971196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Connector: Elbow 10">
            <a:extLst xmlns:a="http://schemas.openxmlformats.org/drawingml/2006/main">
              <a:ext uri="{FF2B5EF4-FFF2-40B4-BE49-F238E27FC236}">
                <a16:creationId xmlns:a16="http://schemas.microsoft.com/office/drawing/2014/main" id="{78A98F29-6746-4FC7-B072-9B67F354AF1E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3"/>
          </p:cNvCxnSpPr>
          <p:nvPr/>
        </p:nvCxnSpPr>
        <p:spPr>
          <a:xfrm xmlns:a="http://schemas.openxmlformats.org/drawingml/2006/main">
            <a:off x="10382250" y="2400300"/>
            <a:ext cx="1257300" cy="3524250"/>
          </a:xfrm>
          <a:prstGeom xmlns:a="http://schemas.openxmlformats.org/drawingml/2006/main" prst="bentConnector4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cxnSp>
        <p:nvCxnSpPr>
          <p:cNvPr id="10" name="Straight Arrow Connector 9">
            <a:extLst xmlns:a="http://schemas.openxmlformats.org/drawingml/2006/main">
              <a:ext uri="{FF2B5EF4-FFF2-40B4-BE49-F238E27FC236}">
                <a16:creationId xmlns:a16="http://schemas.microsoft.com/office/drawing/2014/main" id="{5C86537E-9610-4297-A633-7D3DCD33B140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8477250" y="4953000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cxnSp>
        <p:nvCxnSpPr>
          <p:cNvPr id="9" name="Straight Arrow Connector 8">
            <a:extLst xmlns:a="http://schemas.openxmlformats.org/drawingml/2006/main">
              <a:ext uri="{FF2B5EF4-FFF2-40B4-BE49-F238E27FC236}">
                <a16:creationId xmlns:a16="http://schemas.microsoft.com/office/drawing/2014/main" id="{B57F3026-E929-4F07-AD86-C3BF5922EEEA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8477250" y="3152775"/>
            <a:ext cx="0" cy="70485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4EAF129-7003-420C-8170-857A2FF6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Basic blocks and control flow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B2A9C67-9772-45AF-8517-9164F9F9E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15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C803F55-B4FC-4E34-9ABD-61855D4F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429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75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2475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2475" b="1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int x = 1;</a:t>
            </a:r>
          </a:p>
          <a:p xmlns:a="http://schemas.openxmlformats.org/drawingml/2006/main">
            <a:pPr>
              <a:buNone/>
              <a:defRPr sz="2475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2475" b="1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if (x &lt; 3) { x = x + 1; }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73BD8FF-3D3D-4DAA-8F4C-BAB2C735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95675"/>
            <a:ext cx="50577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232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2325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A basic block contains consecutive instructions with no internal branch.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C343476-04B9-4312-ACF6-9B10DB3D0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5057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Lexora identifies block leaders and records the successor relationships in the original TAC.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0D816EF-AC7A-4645-875E-448304F04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47825"/>
            <a:ext cx="38100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F4"/>
          </a:solidFill>
          <a:ln xmlns:a="http://schemas.openxmlformats.org/drawingml/2006/main" w="12383">
            <a:solidFill>
              <a:srgbClr val="315EF4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B1: Test condition</a:t>
            </a:r>
          </a:p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x = 1</a:t>
            </a:r>
          </a:p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t1 = x &lt; 3</a:t>
            </a:r>
          </a:p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ifFalse t1 goto L1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466E6C0-527C-428D-A4F3-F606E5B1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57625"/>
            <a:ext cx="38100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12383">
            <a:solidFill>
              <a:srgbClr val="315EF4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buNone/>
              <a:defRPr sz="19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B2: Execute body</a:t>
            </a:r>
          </a:p>
          <a:p xmlns:a="http://schemas.openxmlformats.org/drawingml/2006/main">
            <a:pPr algn="ctr">
              <a:buNone/>
              <a:defRPr sz="19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t2 = x + 1</a:t>
            </a:r>
          </a:p>
          <a:p xmlns:a="http://schemas.openxmlformats.org/drawingml/2006/main">
            <a:pPr algn="ctr">
              <a:buNone/>
              <a:defRPr sz="19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x = t2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B01BA1F-E1AF-4FA2-BF7E-D6DDD045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619750"/>
            <a:ext cx="3810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AE1E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buNone/>
              <a:defRPr sz="172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B3: Continue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L1: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A884189-62B0-4A8D-B33E-C21E3755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14700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165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True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FA4A1CB1-1529-4E44-A154-46CDB68E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94335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165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27322317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B792F8-71F0-4A30-BD2E-E03BF9AAA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Demonstration and observed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52AF4B-7648-4A57-9012-9397A686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16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463746-CE99-4B98-910B-7AE55EB2511A}"/>
              </a:ext>
            </a:extLst>
          </p:cNvPr>
          <p:cNvGraphicFramePr/>
          <p:nvPr/>
        </p:nvGraphicFramePr>
        <p:xfrm>
          <a:off xmlns:a="http://schemas.openxmlformats.org/drawingml/2006/main" x="609600" y="1704975"/>
          <a:ext xmlns:a="http://schemas.openxmlformats.org/drawingml/2006/main" cx="10972800" cy="3933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76625"/>
                <a:gridCol w="3781425"/>
                <a:gridCol w="3714750"/>
              </a:tblGrid>
              <a:tr h="5905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Check</a:t>
                      </a:r>
                    </a:p>
                  </a:txBody>
                  <a:tcPr marL="91440" marR="91440" marT="45720" marB="45720">
                    <a:solidFill>
                      <a:srgbClr val="111B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Input</a:t>
                      </a:r>
                    </a:p>
                  </a:txBody>
                  <a:tcPr marL="91440" marR="91440" marT="45720" marB="45720">
                    <a:solidFill>
                      <a:srgbClr val="111B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Observed result</a:t>
                      </a:r>
                    </a:p>
                  </a:txBody>
                  <a:tcPr marL="91440" marR="91440" marT="45720" marB="45720">
                    <a:solidFill>
                      <a:srgbClr val="111B31"/>
                    </a:solidFill>
                  </a:tcPr>
                </a:tc>
              </a:tr>
              <a:tr h="835819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E"/>
                          </a:solidFill>
                          <a:latin typeface="Segoe UI"/>
                          <a:ea typeface="Segoe UI"/>
                          <a:cs typeface="Segoe UI"/>
                        </a:rPr>
                        <a:t>Native calculator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E"/>
                          </a:solidFill>
                          <a:latin typeface="Segoe UI"/>
                          <a:ea typeface="Segoe UI"/>
                          <a:cs typeface="Segoe UI"/>
                        </a:rPr>
                        <a:t>3 + 5 * 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E"/>
                          </a:solidFill>
                          <a:latin typeface="Segoe UI"/>
                          <a:ea typeface="Segoe UI"/>
                          <a:cs typeface="Segoe UI"/>
                        </a:rPr>
                        <a:t>13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35819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E"/>
                          </a:solidFill>
                          <a:latin typeface="Segoe UI"/>
                          <a:ea typeface="Segoe UI"/>
                          <a:cs typeface="Segoe UI"/>
                        </a:rPr>
                        <a:t>Parentheses and precedence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E"/>
                          </a:solidFill>
                          <a:latin typeface="Segoe UI"/>
                          <a:ea typeface="Segoe UI"/>
                          <a:cs typeface="Segoe UI"/>
                        </a:rPr>
                        <a:t>(3 + 5) * 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E"/>
                          </a:solidFill>
                          <a:latin typeface="Segoe UI"/>
                          <a:ea typeface="Segoe UI"/>
                          <a:cs typeface="Segoe UI"/>
                        </a:rPr>
                        <a:t>16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35819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E"/>
                          </a:solidFill>
                          <a:latin typeface="Segoe UI"/>
                          <a:ea typeface="Segoe UI"/>
                          <a:cs typeface="Segoe UI"/>
                        </a:rPr>
                        <a:t>Semantic analysis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E"/>
                          </a:solidFill>
                          <a:latin typeface="Segoe UI"/>
                          <a:ea typeface="Segoe UI"/>
                          <a:cs typeface="Segoe UI"/>
                        </a:rPr>
                        <a:t>int x = missing + 1;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E"/>
                          </a:solidFill>
                          <a:latin typeface="Segoe UI"/>
                          <a:ea typeface="Segoe UI"/>
                          <a:cs typeface="Segoe UI"/>
                        </a:rPr>
                        <a:t>Undeclared name reported.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35819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E"/>
                          </a:solidFill>
                          <a:latin typeface="Segoe UI"/>
                          <a:ea typeface="Segoe UI"/>
                          <a:cs typeface="Segoe UI"/>
                        </a:rPr>
                        <a:t>Analyzer scope boundary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E"/>
                          </a:solidFill>
                          <a:latin typeface="Segoe UI"/>
                          <a:ea typeface="Segoe UI"/>
                          <a:cs typeface="Segoe UI"/>
                        </a:rPr>
                        <a:t>int a[2];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E"/>
                          </a:solidFill>
                          <a:latin typeface="Segoe UI"/>
                          <a:ea typeface="Segoe UI"/>
                          <a:cs typeface="Segoe UI"/>
                        </a:rPr>
                        <a:t>Unsupported syntax reported.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528681-EECC-4472-AA44-A84319ED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Calculator inputs end with a newline. The last two checks exercise the separate built-in analyzer.</a:t>
            </a:r>
          </a:p>
        </p:txBody>
      </p:sp>
    </p:spTree>
    <p:extLst>
      <p:ext uri="{BB962C8B-B14F-4D97-AF65-F5344CB8AC3E}">
        <p14:creationId xmlns:p14="http://schemas.microsoft.com/office/powerpoint/2010/main" val="18716304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D6FF38C-FDD9-4D9B-8BCE-F225F0A0F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Scope, limitations, and next steps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D1EDDDD-7075-42F2-951D-67C4F66A9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17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6DFB369-6540-4526-8B55-75EF1BF18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240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Current implementation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2984A92-25A3-4028-AF7F-29DCEB5DB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5048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The analyzer supports a C subset. Arrays, structures, and pointer declarations remain outside its current scope.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E6D704A-6757-4005-9A2D-D089D5DB0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50482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Programs run through WSL with temporary job folders and timeouts. A dedicated security sandbox is not implemented.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D07383F-9F9A-4443-95BB-E56963549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62125"/>
            <a:ext cx="514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240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Next steps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A6AA043-A6D9-479B-BCAF-CF4B247F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47925"/>
            <a:ext cx="5143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Expand language support and connect analysis views to the submitted grammar.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1B1E946-0294-4D37-8C2D-C56810E8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43375"/>
            <a:ext cx="5143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Use isolated execution workers with restricted file and network access before public deployment.</a:t>
            </a:r>
          </a:p>
        </p:txBody>
      </p:sp>
    </p:spTree>
    <p:extLst>
      <p:ext uri="{BB962C8B-B14F-4D97-AF65-F5344CB8AC3E}">
        <p14:creationId xmlns:p14="http://schemas.microsoft.com/office/powerpoint/2010/main" val="186388343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11B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2217B53-CB35-4D37-ADDC-FCD8D542A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Conclusion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D27FBA1-90F7-4A23-ABB6-8E4DE94B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18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04FFE6B-B2A3-46C4-978A-6CF870F7D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972800" cy="2276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4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Lexora makes compiler-design</a:t>
            </a:r>
          </a:p>
          <a:p xmlns:a="http://schemas.openxmlformats.org/drawingml/2006/main">
            <a:pPr>
              <a:buNone/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4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experiments easier to run</a:t>
            </a:r>
          </a:p>
          <a:p xmlns:a="http://schemas.openxmlformats.org/drawingml/2006/main">
            <a:pPr>
              <a:buNone/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4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and easier to explain.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9F0C542-2D3F-429F-A053-2B73AC2E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0575"/>
            <a:ext cx="100774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7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247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2475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The project combines native tool execution with educational representations of program input in a persistent browser workspace.</a:t>
            </a:r>
          </a:p>
        </p:txBody>
      </p:sp>
    </p:spTree>
    <p:extLst>
      <p:ext uri="{BB962C8B-B14F-4D97-AF65-F5344CB8AC3E}">
        <p14:creationId xmlns:p14="http://schemas.microsoft.com/office/powerpoint/2010/main" val="102591541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AB5ED1DD-8903-4667-BC14-DCE6ED7F6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References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6A7F81B-65A8-4252-9E4B-A91B6E8B3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19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BE8F4B-CC73-48C5-B3E8-807DAFF25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742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7B37F0-73E8-4E9E-8CFA-E4C0DE61A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457325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Bovet and Parr (2008): ANTLRWorks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15760E-F99E-423F-ADBA-AFE54685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19275"/>
            <a:ext cx="9906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Software: Practice and Experience 38(12), 1305-1332.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C08697-117B-4E22-8D7A-74862C77E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14550"/>
            <a:ext cx="9906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https://doi.org/10.1002/spe.872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8011CB-8F86-4A83-9BEA-D115C6BB5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742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220F09-A399-4815-9903-FB7C3F46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28875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Compiler Explorer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A0CC2B-D56E-433B-A486-C1BD5C483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90825"/>
            <a:ext cx="9906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Official project documentation for interactive compilation.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DD1959-F8B2-4219-8ED7-19F265EB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86100"/>
            <a:ext cx="9906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https://github.com/compiler-explorer/compiler-explorer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A4E1C9-A613-40D1-9D91-10FF72D3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42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FF8513-6AC0-4FB8-885B-D747847ED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00425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Official Flex documentation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974A2C-629C-4456-91BA-439D88E0C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62375"/>
            <a:ext cx="9906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Scanner generation from lexical rules.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9D2784-027F-4147-B797-F78D91AA8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57650"/>
            <a:ext cx="9906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https://westes.github.io/flex/manual/Introduction.html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CD9A4B-5BF7-47D9-919A-1B22BBB5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71975"/>
            <a:ext cx="742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CD0576-2401-4874-8CB6-A63755175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71975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Official GNU Bison documentation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F7891A-6228-418D-A729-372CC5C0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33925"/>
            <a:ext cx="9906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Parser generation from grammar specifications.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91FDED-DD64-4AC6-BA52-054AB66D9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29200"/>
            <a:ext cx="9906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https://www.gnu.org/s/bison/manual/bison.html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70C5BB-C461-4151-8136-C737FAD0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43525"/>
            <a:ext cx="742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E9F1698-2847-4C6D-BE6B-350034B19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43525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Official GCC documentation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B4A933-98EE-4735-8BF5-EC36F40F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05475"/>
            <a:ext cx="9906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Compilation stages and executable generation.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847F08C-0461-4A5C-911A-2D46B8269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00750"/>
            <a:ext cx="9906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https://gcc.gnu.org/onlinedocs/gcc/Overall-Options.html</a:t>
            </a:r>
          </a:p>
        </p:txBody>
      </p:sp>
    </p:spTree>
    <p:extLst>
      <p:ext uri="{BB962C8B-B14F-4D97-AF65-F5344CB8AC3E}">
        <p14:creationId xmlns:p14="http://schemas.microsoft.com/office/powerpoint/2010/main" val="5861995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2026-10-08T08:02:01.5440000Z</dcterms:created>
  <dcterms:modified xsi:type="dcterms:W3CDTF">2026-10-08T08:02:01.5440000Z</dcterms:modified>
</coreProperties>
</file>
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7a10db0c0674a44" /><Relationship Type="http://schemas.openxmlformats.org/officeDocument/2006/relationships/extended-properties" Target="/docProps/app.xml" Id="R1e41b47427154470" /><Relationship Type="http://schemas.openxmlformats.org/officeDocument/2006/relationships/officeDocument" Target="/ppt/presentation.xml" Id="R6be2f39676be4fe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bb81926d1c04f43"/>
  </p:sldMasterIdLst>
  <p:notesMasterIdLst>
    <p:notesMasterId xmlns:r="http://schemas.openxmlformats.org/officeDocument/2006/relationships" r:id="Raccd869c1dda4e09"/>
  </p:notesMasterIdLst>
  <p:sldIdLst>
    <p:sldId xmlns:r="http://schemas.openxmlformats.org/officeDocument/2006/relationships" id="256" r:id="Re6501b7c621a4fb2"/>
    <p:sldId xmlns:r="http://schemas.openxmlformats.org/officeDocument/2006/relationships" id="257" r:id="R6a97fcddcbd943ab"/>
    <p:sldId xmlns:r="http://schemas.openxmlformats.org/officeDocument/2006/relationships" id="258" r:id="R193fd2e1ca1d44f2"/>
    <p:sldId xmlns:r="http://schemas.openxmlformats.org/officeDocument/2006/relationships" id="259" r:id="R3f38536b5ea84963"/>
    <p:sldId xmlns:r="http://schemas.openxmlformats.org/officeDocument/2006/relationships" id="260" r:id="R042f4c79e50d4d0b"/>
    <p:sldId xmlns:r="http://schemas.openxmlformats.org/officeDocument/2006/relationships" id="261" r:id="Ra9d8d3cd3d494a99"/>
    <p:sldId xmlns:r="http://schemas.openxmlformats.org/officeDocument/2006/relationships" id="262" r:id="R367c6b6d98e34c02"/>
    <p:sldId xmlns:r="http://schemas.openxmlformats.org/officeDocument/2006/relationships" id="263" r:id="R300bd6e764014f78"/>
    <p:sldId xmlns:r="http://schemas.openxmlformats.org/officeDocument/2006/relationships" id="264" r:id="Rbd4d93fdb18d45a6"/>
    <p:sldId xmlns:r="http://schemas.openxmlformats.org/officeDocument/2006/relationships" id="265" r:id="Rca2c0b150822426d"/>
    <p:sldId xmlns:r="http://schemas.openxmlformats.org/officeDocument/2006/relationships" id="266" r:id="R314bca1ff85d4087"/>
    <p:sldId xmlns:r="http://schemas.openxmlformats.org/officeDocument/2006/relationships" id="267" r:id="R647bad6992e34fdb"/>
    <p:sldId xmlns:r="http://schemas.openxmlformats.org/officeDocument/2006/relationships" id="268" r:id="R9dc908871e4b4cfc"/>
    <p:sldId xmlns:r="http://schemas.openxmlformats.org/officeDocument/2006/relationships" id="269" r:id="Rdad5830889b94c31"/>
    <p:sldId xmlns:r="http://schemas.openxmlformats.org/officeDocument/2006/relationships" id="270" r:id="R5db35913663d40a1"/>
    <p:sldId xmlns:r="http://schemas.openxmlformats.org/officeDocument/2006/relationships" id="271" r:id="R7661a8e5d5e64e5d"/>
    <p:sldId xmlns:r="http://schemas.openxmlformats.org/officeDocument/2006/relationships" id="272" r:id="Rd24c17c6d2be4088"/>
  </p:sldIdLst>
  <p:sldSz cx="12192000" cy="6858000"/>
  <p:notesSz cx="6858000" cy="9144000"/>
  <p:defaultTextStyle>
    <a:defPPr xmlns:a="http://schemas.openxmlformats.org/drawingml/2006/main">
      <a:buNone/>
    </a:defPPr>
    <a:lvl1pPr xmlns:a="http://schemas.openxmlformats.org/drawingml/2006/main"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0076983d33b433a" /><Relationship Type="http://schemas.openxmlformats.org/officeDocument/2006/relationships/slideMaster" Target="/ppt/slideMasters/slideMaster1.xml" Id="Rebb81926d1c04f43" /><Relationship Type="http://schemas.openxmlformats.org/officeDocument/2006/relationships/notesMaster" Target="/ppt/notesMasters/notesMaster1.xml" Id="Raccd869c1dda4e09" /><Relationship Type="http://schemas.openxmlformats.org/officeDocument/2006/relationships/presProps" Target="/ppt/presProps.xml" Id="Rc490f72a39904e5d" /><Relationship Type="http://schemas.openxmlformats.org/officeDocument/2006/relationships/viewProps" Target="/ppt/viewProps.xml" Id="Raac7a531225c4719" /><Relationship Type="http://schemas.openxmlformats.org/officeDocument/2006/relationships/tableStyles" Target="/ppt/tableStyles.xml" Id="Rb21aae0112434e81" /><Relationship Type="http://schemas.openxmlformats.org/officeDocument/2006/relationships/slide" Target="/ppt/slides/slide1.xml" Id="Re6501b7c621a4fb2" /><Relationship Type="http://schemas.openxmlformats.org/officeDocument/2006/relationships/slide" Target="/ppt/slides/slide2.xml" Id="R6a97fcddcbd943ab" /><Relationship Type="http://schemas.openxmlformats.org/officeDocument/2006/relationships/slide" Target="/ppt/slides/slide3.xml" Id="R193fd2e1ca1d44f2" /><Relationship Type="http://schemas.openxmlformats.org/officeDocument/2006/relationships/slide" Target="/ppt/slides/slide4.xml" Id="R3f38536b5ea84963" /><Relationship Type="http://schemas.openxmlformats.org/officeDocument/2006/relationships/slide" Target="/ppt/slides/slide5.xml" Id="R042f4c79e50d4d0b" /><Relationship Type="http://schemas.openxmlformats.org/officeDocument/2006/relationships/slide" Target="/ppt/slides/slide6.xml" Id="Ra9d8d3cd3d494a99" /><Relationship Type="http://schemas.openxmlformats.org/officeDocument/2006/relationships/slide" Target="/ppt/slides/slide7.xml" Id="R367c6b6d98e34c02" /><Relationship Type="http://schemas.openxmlformats.org/officeDocument/2006/relationships/slide" Target="/ppt/slides/slide8.xml" Id="R300bd6e764014f78" /><Relationship Type="http://schemas.openxmlformats.org/officeDocument/2006/relationships/slide" Target="/ppt/slides/slide9.xml" Id="Rbd4d93fdb18d45a6" /><Relationship Type="http://schemas.openxmlformats.org/officeDocument/2006/relationships/slide" Target="/ppt/slides/slide10.xml" Id="Rca2c0b150822426d" /><Relationship Type="http://schemas.openxmlformats.org/officeDocument/2006/relationships/slide" Target="/ppt/slides/slide11.xml" Id="R314bca1ff85d4087" /><Relationship Type="http://schemas.openxmlformats.org/officeDocument/2006/relationships/slide" Target="/ppt/slides/slide12.xml" Id="R647bad6992e34fdb" /><Relationship Type="http://schemas.openxmlformats.org/officeDocument/2006/relationships/slide" Target="/ppt/slides/slide13.xml" Id="R9dc908871e4b4cfc" /><Relationship Type="http://schemas.openxmlformats.org/officeDocument/2006/relationships/slide" Target="/ppt/slides/slide14.xml" Id="Rdad5830889b94c31" /><Relationship Type="http://schemas.openxmlformats.org/officeDocument/2006/relationships/slide" Target="/ppt/slides/slide15.xml" Id="R5db35913663d40a1" /><Relationship Type="http://schemas.openxmlformats.org/officeDocument/2006/relationships/slide" Target="/ppt/slides/slide16.xml" Id="R7661a8e5d5e64e5d" /><Relationship Type="http://schemas.openxmlformats.org/officeDocument/2006/relationships/slide" Target="/ppt/slides/slide17.xml" Id="Rd24c17c6d2be408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c9be0bc15db4eb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0ec78ee00664753" /><Relationship Type="http://schemas.openxmlformats.org/officeDocument/2006/relationships/notesMaster" Target="/ppt/notesMasters/notesMaster1.xml" Id="R6853040ecee1425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6c02d06f29343fd" /><Relationship Type="http://schemas.openxmlformats.org/officeDocument/2006/relationships/notesMaster" Target="/ppt/notesMasters/notesMaster1.xml" Id="Rd221643418b04cc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9b4c26e154d4954" /><Relationship Type="http://schemas.openxmlformats.org/officeDocument/2006/relationships/notesMaster" Target="/ppt/notesMasters/notesMaster1.xml" Id="R7f71f76f57244a9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a6feb1829744511" /><Relationship Type="http://schemas.openxmlformats.org/officeDocument/2006/relationships/notesMaster" Target="/ppt/notesMasters/notesMaster1.xml" Id="R5401d847723d44b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ae50526e5634558" /><Relationship Type="http://schemas.openxmlformats.org/officeDocument/2006/relationships/notesMaster" Target="/ppt/notesMasters/notesMaster1.xml" Id="Rd788c395a6bd41f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d2b6813255d4fd1" /><Relationship Type="http://schemas.openxmlformats.org/officeDocument/2006/relationships/notesMaster" Target="/ppt/notesMasters/notesMaster1.xml" Id="Rd62b46520599467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44d346f32cc4435" /><Relationship Type="http://schemas.openxmlformats.org/officeDocument/2006/relationships/notesMaster" Target="/ppt/notesMasters/notesMaster1.xml" Id="Re3310bcb8fdd417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89d0a14ee3e4d1a" /><Relationship Type="http://schemas.openxmlformats.org/officeDocument/2006/relationships/notesMaster" Target="/ppt/notesMasters/notesMaster1.xml" Id="R61f8028ce05a46c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f2b8584d5db4527" /><Relationship Type="http://schemas.openxmlformats.org/officeDocument/2006/relationships/notesMaster" Target="/ppt/notesMasters/notesMaster1.xml" Id="R65b1b6031bc7474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9263a2197be4e27" /><Relationship Type="http://schemas.openxmlformats.org/officeDocument/2006/relationships/notesMaster" Target="/ppt/notesMasters/notesMaster1.xml" Id="Re7699c45a7e9438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c5535dfe7414b24" /><Relationship Type="http://schemas.openxmlformats.org/officeDocument/2006/relationships/notesMaster" Target="/ppt/notesMasters/notesMaster1.xml" Id="R329c109e95ee442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1d220a3d52f4fcb" /><Relationship Type="http://schemas.openxmlformats.org/officeDocument/2006/relationships/notesMaster" Target="/ppt/notesMasters/notesMaster1.xml" Id="Rbe6912ac6e264d6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334af359d2a4861" /><Relationship Type="http://schemas.openxmlformats.org/officeDocument/2006/relationships/notesMaster" Target="/ppt/notesMasters/notesMaster1.xml" Id="R8bc233dab4cc400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3e2916a7c7c249e7" /><Relationship Type="http://schemas.openxmlformats.org/officeDocument/2006/relationships/notesMaster" Target="/ppt/notesMasters/notesMaster1.xml" Id="R97655cd9af774c42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fc452001832e4f22" /><Relationship Type="http://schemas.openxmlformats.org/officeDocument/2006/relationships/notesMaster" Target="/ppt/notesMasters/notesMaster1.xml" Id="Rf2b50941789a4e54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2c75c7d8f6bc4208" /><Relationship Type="http://schemas.openxmlformats.org/officeDocument/2006/relationships/notesMaster" Target="/ppt/notesMasters/notesMaster1.xml" Id="Rb088a7dda46843e5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8398cc91bb764717" /><Relationship Type="http://schemas.openxmlformats.org/officeDocument/2006/relationships/notesMaster" Target="/ppt/notesMasters/notesMaster1.xml" Id="R8ad0e16ffbd948a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evidence: README.md; frontend/src/App.jsx; frontend/src/components/OutputPanel/OutputPanel.jsx. The screenshot shows the bundled calculator running successfully with stdin 3 + 5 * 2 followed by a newline and stdout 13.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evidence: README.md; frontend/src/App.jsx; frontend/src/components/OutputPanel/OutputPanel.jsx.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These are the teaching and workflow problems the project addresses. They do not represent measured findings from a formal user study. Project evidence: README.md; frontend/src/App.jsx; frontend/src/components/OutputPanel/OutputPanel.jsx.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evidence: README.md; frontend/src/App.jsx; frontend/src/components/OutputPanel/OutputPanel.jsx. Educational analysis covers the built-in language subset.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Flex manual: https://westes.github.io/flex/manual/Introduction.html</a:t>
            </a:r>
          </a:p>
          <a:p xmlns:a="http://schemas.openxmlformats.org/drawingml/2006/main">
            <a:r>
              <a:t>GNU Bison manual: https://www.gnu.org/s/bison/manual/bison.html</a:t>
            </a:r>
          </a:p>
          <a:p xmlns:a="http://schemas.openxmlformats.org/drawingml/2006/main">
            <a:r>
              <a:t>Compiler Explorer official documentation: https://github.com/compiler-explorer/compiler-explorer/blob/main/docs/WhatIsCompilerExplorer.md</a:t>
            </a:r>
          </a:p>
          <a:p xmlns:a="http://schemas.openxmlformats.org/drawingml/2006/main">
            <a:r>
              <a:t>Bovet, J. and Parr, T. (2008). ANTLRWorks: an ANTLR grammar development environment. Software: Practice and Experience, 38(12), 1305-1332. https://doi.org/10.1002/spe.872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Flex manual: https://westes.github.io/flex/manual/Introduction.html</a:t>
            </a:r>
          </a:p>
          <a:p xmlns:a="http://schemas.openxmlformats.org/drawingml/2006/main">
            <a:r>
              <a:t>GNU Bison manual: https://www.gnu.org/s/bison/manual/bison.html</a:t>
            </a:r>
          </a:p>
          <a:p xmlns:a="http://schemas.openxmlformats.org/drawingml/2006/main">
            <a:r>
              <a:t>Compiler Explorer official documentation: https://github.com/compiler-explorer/compiler-explorer/blob/main/docs/WhatIsCompilerExplorer.md</a:t>
            </a:r>
          </a:p>
          <a:p xmlns:a="http://schemas.openxmlformats.org/drawingml/2006/main">
            <a:r>
              <a:t>Bovet, J. and Parr, T. (2008). ANTLRWorks: an ANTLR grammar development environment. Software: Practice and Experience, 38(12), 1305-1332. https://doi.org/10.1002/spe.872</a:t>
            </a:r>
          </a:p>
          <a:p xmlns:a="http://schemas.openxmlformats.org/drawingml/2006/main">
            <a:r>
              <a:t>The relationship between the reviewed approaches and Lexora is a design synthesis. Lexora-specific claims derive from backend/services/compiler.js and backend/services/inputAnalysis.js. The project does not claim that no related website exists, or that it traces every submitted grammar.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evidence: README.md; frontend/src/App.jsx; frontend/src/components/OutputPanel/OutputPanel.jsx. Project evidence: backend/services/inputAnalysis.js; backend/services/astGenerator.js; backend/services/semanticAnalyzer.js; backend/services/tacGenerator.js; backend/services/optimizer.js; backend/services/basicBlocks.js. Lexora addresses the need for a dedicated website for Lex/Yacc compilation and visual learning. The contribution is application integration and the educational workflow, not a new compiler algorithm. An absolute claim that no related website exists is not substantiated; an online yacc/lex grammar editor/tester is documented at https://lists.gnu.org/archive/html/help-bison/2023-09/msg00000.html 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evidence: README.md; frontend/src/App.jsx; frontend/src/components/OutputPanel/OutputPanel.jsx. Actual local screenshot showing the calculator source and the built-in token table.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evidence: README.md; frontend/src/App.jsx; frontend/src/components/OutputPanel/OutputPanel.jsx. Project evidence: backend/services/compiler.js; backend/services/wslRunner.js; backend/routes/compile.js; backend/middleware/validator.js. Project evidence: frontend/src/App.jsx; frontend/src/services/files.js; backend/services/tempDir.js; backend/services/compiler.js. Local development: Vite on port 3000 proxies /api to Express on port 3001. Windows uses WSL Ubuntu. Linux uses native Bash.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evidence: backend/services/compiler.js; backend/services/wslRunner.js; backend/routes/compile.js; backend/middleware/validator.js. analyzeInput executes before the native stages. These paths are logically separate, not concurrent jobs. Cleanup is attempted in finally before the route sends the JSON response.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evidence: backend/services/compiler.js; backend/services/wslRunner.js; backend/routes/compile.js; backend/middleware/validator.js. Actual combined-mode order: flex lex.l; bison -d parser.y; normalize generated-header references; regenerate scanner; gcc -o compiler lex.yy.c parser.tab.c -lfl -lm; ./compiler &lt; input.txt. Lex Only skips Bison. Yacc Only skips Flex and requires its own yylex and main.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evidence: backend/services/inputAnalysis.js; backend/services/astGenerator.js; backend/services/semanticAnalyzer.js; backend/services/tacGenerator.js; backend/services/optimizer.js; backend/services/basicBlocks.js. The screenshot is the actual AST view for calculator stdin 3 + 5 * 2 followed by newline. The AST comes from Lexora’s own parser. It does not trace the uploaded grammar.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evidence: backend/services/inputAnalysis.js; backend/services/astGenerator.js; backend/services/semanticAnalyzer.js; backend/services/tacGenerator.js; backend/services/optimizer.js; backend/services/basicBlocks.js. Observed analyzeInput("int x = 2 + 3 * 4;"): AST declaration x:int with addition of 2 and multiplication 3*4. Symbol x global, declared true. TAC and optimized TAC shown exactly. Three assignments remain, so no instruction-count or speed claim applies.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evidence: backend/services/inputAnalysis.js; backend/services/astGenerator.js; backend/services/semanticAnalyzer.js; backend/services/tacGenerator.js; backend/services/optimizer.js; backend/services/basicBlocks.js. Observed analyzeInput("int x = 1; if (x &lt; 3) { x = x + 1; }"): B1 x=1, t1=x&lt;3, ifFalse t1 goto L1; B2 t2=x+1, x=t2; B3 L1:. Successors: B1 to B2 and B3, B2 to B3. These blocks use original TAC.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evidence: README.md; frontend/src/App.jsx; frontend/src/components/OutputPanel/OutputPanel.jsx. Project evidence: backend/services/inputAnalysis.js; backend/services/astGenerator.js; backend/services/semanticAnalyzer.js; backend/services/tacGenerator.js; backend/services/optimizer.js; backend/services/basicBlocks.js. Project evidence: backend/services/compiler.js; backend/services/wslRunner.js; backend/routes/compile.js; backend/middleware/validator.js. Future development items are proposals. Native C actions execute with backend-user privileges. The current model serves trusted local or access-controlled demonstrations.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evidence: README.md; frontend/src/App.jsx; frontend/src/components/OutputPanel/OutputPanel.jsx. Project evidence: backend/services/inputAnalysis.js; backend/services/astGenerator.js; backend/services/semanticAnalyzer.js; backend/services/tacGenerator.js; backend/services/optimizer.js; backend/services/basicBlocks.js.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Primary source links are listed on the slide. Lexora-specific claims derive from the current source code and README. The current dependencies are React 19, CodeMirror 6, Vite 8, Node.js, and Express 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4fdcfd491fc4d3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937b6fa0160495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03624a5021f4585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f0e4645cc7143b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306f6f638584055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b72207b67b74ff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463DEA9-E136-4D63-B0BA-C367951D451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7DBB9F72-B93A-4B9A-8DF7-B7F7227B0E1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266FA6E1-0454-4595-9384-A4D91D2CEA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C8E5746-A9E3-407B-B977-366F9D26050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2CAF5ED5-CF43-4EB9-8B00-2B0EA821A4C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37B8B748-FB35-43A7-8F4D-ABB18B019D2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55ABF85-9673-4664-B57D-0AB1AE8DC73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B63CDE60-0D93-4321-9A58-C4EFCFC1786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9CB0139-E020-4090-A361-2E67A92BD34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85D77E8-71C1-45D3-AAE5-25D9422D695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443bad1af1a4ffd" /><Relationship Type="http://schemas.openxmlformats.org/officeDocument/2006/relationships/slideLayout" Target="/ppt/slideLayouts/slideLayout1.xml" Id="R7ca814506ed747fb" /><Relationship Type="http://schemas.openxmlformats.org/officeDocument/2006/relationships/slideLayout" Target="/ppt/slideLayouts/slideLayout2.xml" Id="R6434d191e7044d77" /><Relationship Type="http://schemas.openxmlformats.org/officeDocument/2006/relationships/slideLayout" Target="/ppt/slideLayouts/slideLayout3.xml" Id="Ra165b6e45c374cde" /><Relationship Type="http://schemas.openxmlformats.org/officeDocument/2006/relationships/slideLayout" Target="/ppt/slideLayouts/slideLayout4.xml" Id="R080be3e4cb744253" /><Relationship Type="http://schemas.openxmlformats.org/officeDocument/2006/relationships/slideLayout" Target="/ppt/slideLayouts/slideLayout5.xml" Id="Rae856cb941c44ef6" /><Relationship Type="http://schemas.openxmlformats.org/officeDocument/2006/relationships/slideLayout" Target="/ppt/slideLayouts/slideLayout6.xml" Id="Re870933f81a94e5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ca814506ed747fb"/>
    <p:sldLayoutId xmlns:r="http://schemas.openxmlformats.org/officeDocument/2006/relationships" id="2147483650" r:id="R6434d191e7044d77"/>
    <p:sldLayoutId xmlns:r="http://schemas.openxmlformats.org/officeDocument/2006/relationships" id="2147483651" r:id="Ra165b6e45c374cde"/>
    <p:sldLayoutId xmlns:r="http://schemas.openxmlformats.org/officeDocument/2006/relationships" id="2147483652" r:id="R080be3e4cb744253"/>
    <p:sldLayoutId xmlns:r="http://schemas.openxmlformats.org/officeDocument/2006/relationships" id="2147483653" r:id="Rae856cb941c44ef6"/>
    <p:sldLayoutId xmlns:r="http://schemas.openxmlformats.org/officeDocument/2006/relationships" id="2147483654" r:id="Re870933f81a94e5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2dd620cdf304469" /><Relationship Type="http://schemas.openxmlformats.org/officeDocument/2006/relationships/image" Target="/ppt/media/image.jpeg" Id="Rdb09b01d32624257" /><Relationship Type="http://schemas.openxmlformats.org/officeDocument/2006/relationships/notesSlide" Target="/ppt/notesSlides/notesSlide1.xml" Id="Rbb22025242d1475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5f757cd303a43c4" /><Relationship Type="http://schemas.openxmlformats.org/officeDocument/2006/relationships/notesSlide" Target="/ppt/notesSlides/notesSlide2.xml" Id="R4b8b40bbf7cc418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c4d9cfb54e04e15" /><Relationship Type="http://schemas.openxmlformats.org/officeDocument/2006/relationships/notesSlide" Target="/ppt/notesSlides/notesSlide3.xml" Id="R60d560b5c9ab464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5618218254d4677" /><Relationship Type="http://schemas.openxmlformats.org/officeDocument/2006/relationships/notesSlide" Target="/ppt/notesSlides/notesSlide4.xml" Id="R308ae4200d604f6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5ad6b5e44b54236" /><Relationship Type="http://schemas.openxmlformats.org/officeDocument/2006/relationships/notesSlide" Target="/ppt/notesSlides/notesSlide5.xml" Id="R549f53ba1ddc4ba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64d7a3b722941f1" /><Relationship Type="http://schemas.openxmlformats.org/officeDocument/2006/relationships/notesSlide" Target="/ppt/notesSlides/notesSlide6.xml" Id="Rb3de7eefb68142f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d24df8f765f4266" /><Relationship Type="http://schemas.openxmlformats.org/officeDocument/2006/relationships/notesSlide" Target="/ppt/notesSlides/notesSlide7.xml" Id="R659b54b41cba4e7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61cf995db894781" /><Relationship Type="http://schemas.openxmlformats.org/officeDocument/2006/relationships/image" Target="/ppt/media/image2.jpeg" Id="R81a1b787d8ff4b73" /><Relationship Type="http://schemas.openxmlformats.org/officeDocument/2006/relationships/notesSlide" Target="/ppt/notesSlides/notesSlide8.xml" Id="R28c5e23dd34b407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ca35c45595e455b" /><Relationship Type="http://schemas.openxmlformats.org/officeDocument/2006/relationships/notesSlide" Target="/ppt/notesSlides/notesSlide9.xml" Id="R3f166e526c294ec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f2a4ff257d24576" /><Relationship Type="http://schemas.openxmlformats.org/officeDocument/2006/relationships/notesSlide" Target="/ppt/notesSlides/notesSlide10.xml" Id="R525eee321b31420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dafad521c7842fb" /><Relationship Type="http://schemas.openxmlformats.org/officeDocument/2006/relationships/notesSlide" Target="/ppt/notesSlides/notesSlide11.xml" Id="Rd55be20593a541c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0725a7dbbd94170" /><Relationship Type="http://schemas.openxmlformats.org/officeDocument/2006/relationships/image" Target="/ppt/media/image3.jpeg" Id="Re81a6549a1054052" /><Relationship Type="http://schemas.openxmlformats.org/officeDocument/2006/relationships/notesSlide" Target="/ppt/notesSlides/notesSlide12.xml" Id="R5f912772ecf3470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94f9799f0d54066" /><Relationship Type="http://schemas.openxmlformats.org/officeDocument/2006/relationships/notesSlide" Target="/ppt/notesSlides/notesSlide13.xml" Id="Rfe3eac06101e4376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7edc5bce02b42b5" /><Relationship Type="http://schemas.openxmlformats.org/officeDocument/2006/relationships/notesSlide" Target="/ppt/notesSlides/notesSlide14.xml" Id="R5c715765266046e8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3098d9fa12c4a15" /><Relationship Type="http://schemas.openxmlformats.org/officeDocument/2006/relationships/notesSlide" Target="/ppt/notesSlides/notesSlide15.xml" Id="R9b554f51ec554062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c37f8d625134fdd" /><Relationship Type="http://schemas.openxmlformats.org/officeDocument/2006/relationships/notesSlide" Target="/ppt/notesSlides/notesSlide16.xml" Id="R38f67798f65e4144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5abaec41f074c8e" /><Relationship Type="http://schemas.openxmlformats.org/officeDocument/2006/relationships/notesSlide" Target="/ppt/notesSlides/notesSlide17.xml" Id="R7f0e0f3dcbef4b0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11B3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E167494B-C1CF-4043-AA6A-C947A2B45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91275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BCC9E4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buNone/>
              <a:defRPr sz="1200" b="0">
                <a:solidFill>
                  <a:srgbClr val="BCC9E4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BCC9E4"/>
                </a:solidFill>
                <a:latin typeface="Segoe UI"/>
                <a:ea typeface="Segoe UI"/>
                <a:cs typeface="Segoe UI"/>
              </a:rPr>
              <a:t>01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519EA191-E0C1-4014-8137-C6398D37F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10572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0200" b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>
              <a:buNone/>
              <a:defRPr sz="10200" b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0200" b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Lexora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9703C723-C083-41DE-8104-2C4B459C6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24175"/>
            <a:ext cx="42481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0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buNone/>
              <a:defRPr sz="30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30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A compiler-design</a:t>
            </a:r>
          </a:p>
          <a:p xmlns:a="http://schemas.openxmlformats.org/drawingml/2006/main">
            <a:pPr>
              <a:buNone/>
              <a:defRPr sz="30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30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workbench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499090DF-82C2-46DB-8B12-58B7F555F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14850"/>
            <a:ext cx="4000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0">
                <a:solidFill>
                  <a:srgbClr val="BCC9E4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buNone/>
              <a:defRPr sz="2025" b="0">
                <a:solidFill>
                  <a:srgbClr val="BCC9E4"/>
                </a:solidFill>
                <a:latin typeface="Segoe UI"/>
                <a:ea typeface="Segoe UI"/>
                <a:cs typeface="Segoe UI"/>
              </a:defRPr>
            </a:pPr>
            <a:r>
              <a:rPr sz="2025" b="0">
                <a:solidFill>
                  <a:srgbClr val="BCC9E4"/>
                </a:solidFill>
                <a:latin typeface="Segoe UI"/>
                <a:ea typeface="Segoe UI"/>
                <a:cs typeface="Segoe UI"/>
              </a:rPr>
              <a:t>Real Lex/Yacc execution with visual explanations of compiler concepts.</a:t>
            </a:r>
          </a:p>
        </p:txBody>
      </p:sp>
      <p:pic>
        <p:nvPicPr>
          <p:cNvPr id="5" name="Picture 4">
            <a:extLst xmlns:a="http://schemas.openxmlformats.org/drawingml/2006/main">
              <a:ext uri="{FF2B5EF4-FFF2-40B4-BE49-F238E27FC236}">
                <a16:creationId xmlns:a16="http://schemas.microsoft.com/office/drawing/2014/main" id="{91483513-FA0F-49E7-89A7-A9245A39AE9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09b01d32624257"/>
          <a:stretch xmlns:a="http://schemas.openxmlformats.org/drawingml/2006/main"/>
        </p:blipFill>
        <p:spPr>
          <a:xfrm xmlns:a="http://schemas.openxmlformats.org/drawingml/2006/main">
            <a:off x="5200650" y="2458045"/>
            <a:ext cx="6381750" cy="3589734"/>
          </a:xfrm>
          <a:prstGeom xmlns:a="http://schemas.openxmlformats.org/drawingml/2006/main" prst="rect">
            <a:avLst/>
          </a:prstGeom>
        </p:spPr>
      </p:pic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7CFDDCF8-44DD-4EAA-AC03-B4153910D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48400"/>
            <a:ext cx="6667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350" b="1">
                <a:solidFill>
                  <a:srgbClr val="BCC9E4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buNone/>
              <a:defRPr sz="1350" b="1">
                <a:solidFill>
                  <a:srgbClr val="BCC9E4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BCC9E4"/>
                </a:solidFill>
                <a:latin typeface="Segoe UI"/>
                <a:ea typeface="Segoe UI"/>
                <a:cs typeface="Segoe UI"/>
              </a:rPr>
              <a:t>COMPILER DESIGN PROJECT</a:t>
            </a:r>
          </a:p>
        </p:txBody>
      </p:sp>
    </p:spTree>
    <p:extLst>
      <p:ext uri="{BB962C8B-B14F-4D97-AF65-F5344CB8AC3E}">
        <p14:creationId xmlns:p14="http://schemas.microsoft.com/office/powerpoint/2010/main" val="61695338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BA223304-9DBF-42BD-BF71-84EA0BCA2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450" b="1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buNone/>
              <a:defRPr sz="3450" b="1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pPr>
            <a:r>
              <a:rPr sz="3450" b="1">
                <a:solidFill>
                  <a:srgbClr val="18253E"/>
                </a:solidFill>
                <a:latin typeface="Segoe UI"/>
                <a:ea typeface="Segoe UI"/>
                <a:cs typeface="Segoe UI"/>
              </a:rPr>
              <a:t>Project overview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74AB1335-C7A7-43D2-A446-78E5E8231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91275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59667C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buNone/>
              <a:defRPr sz="1200" b="0">
                <a:solidFill>
                  <a:srgbClr val="59667C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59667C"/>
                </a:solidFill>
                <a:latin typeface="Segoe UI"/>
                <a:ea typeface="Segoe UI"/>
                <a:cs typeface="Segoe UI"/>
              </a:rPr>
              <a:t>02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4DBE2F73-5A53-48A1-AFE5-20ED32645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097280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075" b="1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buNone/>
              <a:defRPr sz="3075" b="1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pPr>
            <a:r>
              <a:rPr sz="3075" b="1">
                <a:solidFill>
                  <a:srgbClr val="18253E"/>
                </a:solidFill>
                <a:latin typeface="Segoe UI"/>
                <a:ea typeface="Segoe UI"/>
                <a:cs typeface="Segoe UI"/>
              </a:rPr>
              <a:t>Lexora brings source editing,</a:t>
            </a:r>
          </a:p>
          <a:p xmlns:a="http://schemas.openxmlformats.org/drawingml/2006/main">
            <a:pPr>
              <a:buNone/>
              <a:defRPr sz="3075" b="1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pPr>
            <a:r>
              <a:rPr sz="3075" b="1">
                <a:solidFill>
                  <a:srgbClr val="18253E"/>
                </a:solidFill>
                <a:latin typeface="Segoe UI"/>
                <a:ea typeface="Segoe UI"/>
                <a:cs typeface="Segoe UI"/>
              </a:rPr>
              <a:t>native compilation, and compiler</a:t>
            </a:r>
          </a:p>
          <a:p xmlns:a="http://schemas.openxmlformats.org/drawingml/2006/main">
            <a:pPr>
              <a:buNone/>
              <a:defRPr sz="3075" b="1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pPr>
            <a:r>
              <a:rPr sz="3075" b="1">
                <a:solidFill>
                  <a:srgbClr val="18253E"/>
                </a:solidFill>
                <a:latin typeface="Segoe UI"/>
                <a:ea typeface="Segoe UI"/>
                <a:cs typeface="Segoe UI"/>
              </a:rPr>
              <a:t>analysis into one browser workspace.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AAC2876C-4EDF-4A14-A176-686BCBB63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57625"/>
            <a:ext cx="476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250" b="1">
                <a:solidFill>
                  <a:srgbClr val="315EF4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buNone/>
              <a:defRPr sz="2250" b="1">
                <a:solidFill>
                  <a:srgbClr val="315EF4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315EF4"/>
                </a:solidFill>
                <a:latin typeface="Segoe UI"/>
                <a:ea typeface="Segoe UI"/>
                <a:cs typeface="Segoe UI"/>
              </a:rPr>
              <a:t>Native execution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FBE9D4FD-0F80-4300-9154-55C544C77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29125"/>
            <a:ext cx="49530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0">
                <a:solidFill>
                  <a:srgbClr val="59667C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buNone/>
              <a:defRPr sz="2025" b="0">
                <a:solidFill>
                  <a:srgbClr val="59667C"/>
                </a:solidFill>
                <a:latin typeface="Segoe UI"/>
                <a:ea typeface="Segoe UI"/>
                <a:cs typeface="Segoe UI"/>
              </a:defRPr>
            </a:pPr>
            <a:r>
              <a:rPr sz="2025" b="0">
                <a:solidFill>
                  <a:srgbClr val="59667C"/>
                </a:solidFill>
                <a:latin typeface="Segoe UI"/>
                <a:ea typeface="Segoe UI"/>
                <a:cs typeface="Segoe UI"/>
              </a:rPr>
              <a:t>Students compile selected Lex and Yacc specifications using Flex, Bison, and GCC.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8F4EF365-FCA4-4E8F-AF48-9BF97E236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57625"/>
            <a:ext cx="5143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250" b="1">
                <a:solidFill>
                  <a:srgbClr val="315EF4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buNone/>
              <a:defRPr sz="2250" b="1">
                <a:solidFill>
                  <a:srgbClr val="315EF4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315EF4"/>
                </a:solidFill>
                <a:latin typeface="Segoe UI"/>
                <a:ea typeface="Segoe UI"/>
                <a:cs typeface="Segoe UI"/>
              </a:rPr>
              <a:t>Educational analysis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50B836D0-68E7-49E3-BA0C-52873936C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429125"/>
            <a:ext cx="51435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0">
                <a:solidFill>
                  <a:srgbClr val="59667C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buNone/>
              <a:defRPr sz="2025" b="0">
                <a:solidFill>
                  <a:srgbClr val="59667C"/>
                </a:solidFill>
                <a:latin typeface="Segoe UI"/>
                <a:ea typeface="Segoe UI"/>
                <a:cs typeface="Segoe UI"/>
              </a:defRPr>
            </a:pPr>
            <a:r>
              <a:rPr sz="2025" b="0">
                <a:solidFill>
                  <a:srgbClr val="59667C"/>
                </a:solidFill>
                <a:latin typeface="Segoe UI"/>
                <a:ea typeface="Segoe UI"/>
                <a:cs typeface="Segoe UI"/>
              </a:rPr>
              <a:t>A built-in analyzer explains supported input through syntax trees, symbols, and intermediate code.</a:t>
            </a:r>
          </a:p>
        </p:txBody>
      </p:sp>
    </p:spTree>
    <p:extLst>
      <p:ext uri="{BB962C8B-B14F-4D97-AF65-F5344CB8AC3E}">
        <p14:creationId xmlns:p14="http://schemas.microsoft.com/office/powerpoint/2010/main" val="167903393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11B3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0CB6B76A-919E-45C0-B099-74E70A927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4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buNone/>
              <a:defRPr sz="34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34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Problem identification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477032E0-639D-4433-A5F8-591E9FC4E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91275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BCC9E4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buNone/>
              <a:defRPr sz="1200" b="0">
                <a:solidFill>
                  <a:srgbClr val="BCC9E4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BCC9E4"/>
                </a:solidFill>
                <a:latin typeface="Segoe UI"/>
                <a:ea typeface="Segoe UI"/>
                <a:cs typeface="Segoe UI"/>
              </a:rPr>
              <a:t>03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B728A9B2-3370-400D-87DE-FA9A550FD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90700"/>
            <a:ext cx="60960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3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buNone/>
              <a:defRPr sz="33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The compilation process is</a:t>
            </a:r>
          </a:p>
          <a:p xmlns:a="http://schemas.openxmlformats.org/drawingml/2006/main">
            <a:pPr>
              <a:buNone/>
              <a:defRPr sz="33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difficult to understand when</a:t>
            </a:r>
          </a:p>
          <a:p xmlns:a="http://schemas.openxmlformats.org/drawingml/2006/main">
            <a:pPr>
              <a:buNone/>
              <a:defRPr sz="33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its intermediate steps</a:t>
            </a:r>
          </a:p>
          <a:p xmlns:a="http://schemas.openxmlformats.org/drawingml/2006/main">
            <a:pPr>
              <a:buNone/>
              <a:defRPr sz="33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remain hidden.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B6412AD3-88C7-420A-824B-433BAA160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52600"/>
            <a:ext cx="4333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00" b="1">
                <a:solidFill>
                  <a:srgbClr val="9EE7C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buNone/>
              <a:defRPr sz="2100" b="1">
                <a:solidFill>
                  <a:srgbClr val="9EE7CE"/>
                </a:solidFill>
                <a:latin typeface="Segoe UI"/>
                <a:ea typeface="Segoe UI"/>
                <a:cs typeface="Segoe UI"/>
              </a:defRPr>
            </a:pPr>
            <a:r>
              <a:rPr sz="2100" b="1">
                <a:solidFill>
                  <a:srgbClr val="9EE7CE"/>
                </a:solidFill>
                <a:latin typeface="Segoe UI"/>
                <a:ea typeface="Segoe UI"/>
                <a:cs typeface="Segoe UI"/>
              </a:rPr>
              <a:t>Fragmented laboratory workflow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65E3EB72-4B0D-43C2-934B-1E0AF7075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381250"/>
            <a:ext cx="4333875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950" b="0">
                <a:solidFill>
                  <a:srgbClr val="BCC9E4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buNone/>
              <a:defRPr sz="1950" b="0">
                <a:solidFill>
                  <a:srgbClr val="BCC9E4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BCC9E4"/>
                </a:solidFill>
                <a:latin typeface="Segoe UI"/>
                <a:ea typeface="Segoe UI"/>
                <a:cs typeface="Segoe UI"/>
              </a:rPr>
              <a:t>Students manage separate files and commands to generate, compile, and execute a lexer or parser.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DF1295CA-D576-44BF-894F-867EF6297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067175"/>
            <a:ext cx="4333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00" b="1">
                <a:solidFill>
                  <a:srgbClr val="9EE7C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buNone/>
              <a:defRPr sz="2100" b="1">
                <a:solidFill>
                  <a:srgbClr val="9EE7CE"/>
                </a:solidFill>
                <a:latin typeface="Segoe UI"/>
                <a:ea typeface="Segoe UI"/>
                <a:cs typeface="Segoe UI"/>
              </a:defRPr>
            </a:pPr>
            <a:r>
              <a:rPr sz="2100" b="1">
                <a:solidFill>
                  <a:srgbClr val="9EE7CE"/>
                </a:solidFill>
                <a:latin typeface="Segoe UI"/>
                <a:ea typeface="Segoe UI"/>
                <a:cs typeface="Segoe UI"/>
              </a:rPr>
              <a:t>Limited explanatory feedback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7D2BE471-9303-4248-A09C-0B38C3C34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686300"/>
            <a:ext cx="4333875" cy="1323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950" b="0">
                <a:solidFill>
                  <a:srgbClr val="BCC9E4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buNone/>
              <a:defRPr sz="1950" b="0">
                <a:solidFill>
                  <a:srgbClr val="BCC9E4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BCC9E4"/>
                </a:solidFill>
                <a:latin typeface="Segoe UI"/>
                <a:ea typeface="Segoe UI"/>
                <a:cs typeface="Segoe UI"/>
              </a:rPr>
              <a:t>Program output alone does not explain syntax structure, symbol scope, or intermediate code.</a:t>
            </a:r>
          </a:p>
        </p:txBody>
      </p:sp>
    </p:spTree>
    <p:extLst>
      <p:ext uri="{BB962C8B-B14F-4D97-AF65-F5344CB8AC3E}">
        <p14:creationId xmlns:p14="http://schemas.microsoft.com/office/powerpoint/2010/main" val="104746290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6F710BE1-F202-42F0-985A-330E44F93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450" b="1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buNone/>
              <a:defRPr sz="3450" b="1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pPr>
            <a:r>
              <a:rPr sz="3450" b="1">
                <a:solidFill>
                  <a:srgbClr val="18253E"/>
                </a:solidFill>
                <a:latin typeface="Segoe UI"/>
                <a:ea typeface="Segoe UI"/>
                <a:cs typeface="Segoe UI"/>
              </a:rPr>
              <a:t>Project objectives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AED06FFD-2C22-4D8C-A030-0B45B4DC5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91275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59667C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buNone/>
              <a:defRPr sz="1200" b="0">
                <a:solidFill>
                  <a:srgbClr val="59667C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59667C"/>
                </a:solidFill>
                <a:latin typeface="Segoe UI"/>
                <a:ea typeface="Segoe UI"/>
                <a:cs typeface="Segoe UI"/>
              </a:rPr>
              <a:t>04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ECD7E163-ACA8-4094-A00F-6CF2D34A9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8191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525" b="0">
                <a:solidFill>
                  <a:srgbClr val="315EF4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buNone/>
              <a:defRPr sz="3525" b="0">
                <a:solidFill>
                  <a:srgbClr val="315EF4"/>
                </a:solidFill>
                <a:latin typeface="Segoe UI"/>
                <a:ea typeface="Segoe UI"/>
                <a:cs typeface="Segoe UI"/>
              </a:defRPr>
            </a:pPr>
            <a:r>
              <a:rPr sz="3525" b="0">
                <a:solidFill>
                  <a:srgbClr val="315EF4"/>
                </a:solidFill>
                <a:latin typeface="Segoe UI"/>
                <a:ea typeface="Segoe UI"/>
                <a:cs typeface="Segoe UI"/>
              </a:rPr>
              <a:t>01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9987E070-CC6B-47EC-9229-5B10CA154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724025"/>
            <a:ext cx="4191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1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buNone/>
              <a:defRPr sz="2175" b="1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pPr>
            <a:r>
              <a:rPr sz="2175" b="1">
                <a:solidFill>
                  <a:srgbClr val="18253E"/>
                </a:solidFill>
                <a:latin typeface="Segoe UI"/>
                <a:ea typeface="Segoe UI"/>
                <a:cs typeface="Segoe UI"/>
              </a:rPr>
              <a:t>Provide an integrated workspace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C2D93699-1891-4A68-94BA-8F8E281F0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562225"/>
            <a:ext cx="4191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950" b="0">
                <a:solidFill>
                  <a:srgbClr val="59667C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buNone/>
              <a:defRPr sz="1950" b="0">
                <a:solidFill>
                  <a:srgbClr val="59667C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9667C"/>
                </a:solidFill>
                <a:latin typeface="Segoe UI"/>
                <a:ea typeface="Segoe UI"/>
                <a:cs typeface="Segoe UI"/>
              </a:rPr>
              <a:t>Students can edit specifications, select targets, and supply program input.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E0CD78E9-0A1F-41D5-9FEF-5BFEBE285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695450"/>
            <a:ext cx="8191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525" b="0">
                <a:solidFill>
                  <a:srgbClr val="315EF4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buNone/>
              <a:defRPr sz="3525" b="0">
                <a:solidFill>
                  <a:srgbClr val="315EF4"/>
                </a:solidFill>
                <a:latin typeface="Segoe UI"/>
                <a:ea typeface="Segoe UI"/>
                <a:cs typeface="Segoe UI"/>
              </a:defRPr>
            </a:pPr>
            <a:r>
              <a:rPr sz="3525" b="0">
                <a:solidFill>
                  <a:srgbClr val="315EF4"/>
                </a:solidFill>
                <a:latin typeface="Segoe UI"/>
                <a:ea typeface="Segoe UI"/>
                <a:cs typeface="Segoe UI"/>
              </a:rPr>
              <a:t>02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36A68170-2AF2-48B3-ABCF-D4A804E88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1724025"/>
            <a:ext cx="4191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1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buNone/>
              <a:defRPr sz="2175" b="1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pPr>
            <a:r>
              <a:rPr sz="2175" b="1">
                <a:solidFill>
                  <a:srgbClr val="18253E"/>
                </a:solidFill>
                <a:latin typeface="Segoe UI"/>
                <a:ea typeface="Segoe UI"/>
                <a:cs typeface="Segoe UI"/>
              </a:rPr>
              <a:t>Execute real compiler tools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CC4BD04A-0FD8-488E-8315-84D115F3D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562225"/>
            <a:ext cx="4191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950" b="0">
                <a:solidFill>
                  <a:srgbClr val="59667C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buNone/>
              <a:defRPr sz="1950" b="0">
                <a:solidFill>
                  <a:srgbClr val="59667C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9667C"/>
                </a:solidFill>
                <a:latin typeface="Segoe UI"/>
                <a:ea typeface="Segoe UI"/>
                <a:cs typeface="Segoe UI"/>
              </a:rPr>
              <a:t>The backend generates C sources, builds an executable, and captures its output.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C483488E-A64B-46BD-A68E-5F8A7248D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52875"/>
            <a:ext cx="8191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525" b="0">
                <a:solidFill>
                  <a:srgbClr val="315EF4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buNone/>
              <a:defRPr sz="3525" b="0">
                <a:solidFill>
                  <a:srgbClr val="315EF4"/>
                </a:solidFill>
                <a:latin typeface="Segoe UI"/>
                <a:ea typeface="Segoe UI"/>
                <a:cs typeface="Segoe UI"/>
              </a:defRPr>
            </a:pPr>
            <a:r>
              <a:rPr sz="3525" b="0">
                <a:solidFill>
                  <a:srgbClr val="315EF4"/>
                </a:solidFill>
                <a:latin typeface="Segoe UI"/>
                <a:ea typeface="Segoe UI"/>
                <a:cs typeface="Segoe UI"/>
              </a:rPr>
              <a:t>03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CDAC5DD7-48C9-49D0-89B6-79B04A252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981450"/>
            <a:ext cx="4191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1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buNone/>
              <a:defRPr sz="2175" b="1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pPr>
            <a:r>
              <a:rPr sz="2175" b="1">
                <a:solidFill>
                  <a:srgbClr val="18253E"/>
                </a:solidFill>
                <a:latin typeface="Segoe UI"/>
                <a:ea typeface="Segoe UI"/>
                <a:cs typeface="Segoe UI"/>
              </a:rPr>
              <a:t>Explain compiler concepts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F394381C-BD6F-4F13-B8FB-54436B1E8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819650"/>
            <a:ext cx="4191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950" b="0">
                <a:solidFill>
                  <a:srgbClr val="59667C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buNone/>
              <a:defRPr sz="1950" b="0">
                <a:solidFill>
                  <a:srgbClr val="59667C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9667C"/>
                </a:solidFill>
                <a:latin typeface="Segoe UI"/>
                <a:ea typeface="Segoe UI"/>
                <a:cs typeface="Segoe UI"/>
              </a:rPr>
              <a:t>Visual views connect tokens and syntax structure with symbols and intermediate code.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F4262F2E-5BB4-45C5-9CE6-AE151C71E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952875"/>
            <a:ext cx="8191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525" b="0">
                <a:solidFill>
                  <a:srgbClr val="315EF4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buNone/>
              <a:defRPr sz="3525" b="0">
                <a:solidFill>
                  <a:srgbClr val="315EF4"/>
                </a:solidFill>
                <a:latin typeface="Segoe UI"/>
                <a:ea typeface="Segoe UI"/>
                <a:cs typeface="Segoe UI"/>
              </a:defRPr>
            </a:pPr>
            <a:r>
              <a:rPr sz="3525" b="0">
                <a:solidFill>
                  <a:srgbClr val="315EF4"/>
                </a:solidFill>
                <a:latin typeface="Segoe UI"/>
                <a:ea typeface="Segoe UI"/>
                <a:cs typeface="Segoe UI"/>
              </a:rPr>
              <a:t>04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19237F5F-E8D6-41CC-99FA-CD237277F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981450"/>
            <a:ext cx="4191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1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buNone/>
              <a:defRPr sz="2175" b="1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pPr>
            <a:r>
              <a:rPr sz="2175" b="1">
                <a:solidFill>
                  <a:srgbClr val="18253E"/>
                </a:solidFill>
                <a:latin typeface="Segoe UI"/>
                <a:ea typeface="Segoe UI"/>
                <a:cs typeface="Segoe UI"/>
              </a:rPr>
              <a:t>Support repeatable experiments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93826077-07C3-49C8-84A7-97A93A611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4819650"/>
            <a:ext cx="4191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950" b="0">
                <a:solidFill>
                  <a:srgbClr val="59667C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buNone/>
              <a:defRPr sz="1950" b="0">
                <a:solidFill>
                  <a:srgbClr val="59667C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9667C"/>
                </a:solidFill>
                <a:latin typeface="Segoe UI"/>
                <a:ea typeface="Segoe UI"/>
                <a:cs typeface="Segoe UI"/>
              </a:rPr>
              <a:t>Browser drafts, examples, and file downloads help students continue their work.</a:t>
            </a:r>
          </a:p>
        </p:txBody>
      </p:sp>
    </p:spTree>
    <p:extLst>
      <p:ext uri="{BB962C8B-B14F-4D97-AF65-F5344CB8AC3E}">
        <p14:creationId xmlns:p14="http://schemas.microsoft.com/office/powerpoint/2010/main" val="180407049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E831410D-9F05-4921-8375-30B7CB2A4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450" b="1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buNone/>
              <a:defRPr sz="3450" b="1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pPr>
            <a:r>
              <a:rPr sz="3450" b="1">
                <a:solidFill>
                  <a:srgbClr val="18253E"/>
                </a:solidFill>
                <a:latin typeface="Segoe UI"/>
                <a:ea typeface="Segoe UI"/>
                <a:cs typeface="Segoe UI"/>
              </a:rPr>
              <a:t>Literature survey: existing tools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5E16E1E4-5C8D-4279-A1C6-3A6FB5612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91275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59667C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buNone/>
              <a:defRPr sz="1200" b="0">
                <a:solidFill>
                  <a:srgbClr val="59667C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59667C"/>
                </a:solidFill>
                <a:latin typeface="Segoe UI"/>
                <a:ea typeface="Segoe UI"/>
                <a:cs typeface="Segoe UI"/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359377-6E97-4CD7-9ACE-01B00FDE4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250" b="1">
                <a:solidFill>
                  <a:srgbClr val="315EF4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315EF4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315EF4"/>
                </a:solidFill>
                <a:latin typeface="Segoe UI"/>
                <a:ea typeface="Segoe UI"/>
                <a:cs typeface="Segoe UI"/>
              </a:rPr>
              <a:t>Flex and Bison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78CA8C-D422-4CFD-93BC-4B45867CF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05025"/>
            <a:ext cx="109728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950" b="0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18253E"/>
                </a:solidFill>
                <a:latin typeface="Segoe UI"/>
                <a:ea typeface="Segoe UI"/>
                <a:cs typeface="Segoe UI"/>
              </a:rPr>
              <a:t>Flex creates a scanner from rules for words, numbers, and symbols. Bison creates a parser from grammar rules. Together, they support Lex/Yacc experiments, but students usually manage the files and run several compilation commands themselves.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B2AABC-D4C3-414E-8D57-516505EA5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0515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250" b="1">
                <a:solidFill>
                  <a:srgbClr val="315EF4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315EF4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315EF4"/>
                </a:solidFill>
                <a:latin typeface="Segoe UI"/>
                <a:ea typeface="Segoe UI"/>
                <a:cs typeface="Segoe UI"/>
              </a:rPr>
              <a:t>Compiler Explorer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A937E3-6EC2-4014-9076-4A2EE8EA8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90925"/>
            <a:ext cx="109728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950" b="0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18253E"/>
                </a:solidFill>
                <a:latin typeface="Segoe UI"/>
                <a:ea typeface="Segoe UI"/>
                <a:cs typeface="Segoe UI"/>
              </a:rPr>
              <a:t>Compiler Explorer lets users compile code in a browser and inspect the generated compiler output. It provides a useful example of presenting the source code and compilation results together in one interface.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DE93EE-FFEE-468D-B68C-73C4EEEE3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9105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250" b="1">
                <a:solidFill>
                  <a:srgbClr val="315EF4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315EF4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315EF4"/>
                </a:solidFill>
                <a:latin typeface="Segoe UI"/>
                <a:ea typeface="Segoe UI"/>
                <a:cs typeface="Segoe UI"/>
              </a:rPr>
              <a:t>ANTLRWorks (2008)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F47EEA-7F82-4EA4-A03E-A427F2226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76825"/>
            <a:ext cx="109728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950" b="0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18253E"/>
                </a:solidFill>
                <a:latin typeface="Segoe UI"/>
                <a:ea typeface="Segoe UI"/>
                <a:cs typeface="Segoe UI"/>
              </a:rPr>
              <a:t>The ANTLRWorks research describes a grammar editor with an interpreter and a visual debugger. These features help users inspect parsing behavior, investigate grammar errors, and understand how the grammar handles a given input.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AFD5D6-3EFA-47EA-9DE7-361F723F5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990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00" b="0">
                <a:solidFill>
                  <a:srgbClr val="59667C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59667C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59667C"/>
                </a:solidFill>
                <a:latin typeface="Segoe UI"/>
                <a:ea typeface="Segoe UI"/>
                <a:cs typeface="Segoe UI"/>
              </a:rPr>
              <a:t>Sources: Flex and Bison manuals, Compiler Explorer documentation, ANTLRWorks research.</a:t>
            </a:r>
          </a:p>
        </p:txBody>
      </p:sp>
    </p:spTree>
    <p:extLst>
      <p:ext uri="{BB962C8B-B14F-4D97-AF65-F5344CB8AC3E}">
        <p14:creationId xmlns:p14="http://schemas.microsoft.com/office/powerpoint/2010/main" val="22889771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ADC6D3-5803-457A-8CC0-4C16599C7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450" b="1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pPr>
            <a:r>
              <a:rPr sz="3450" b="1">
                <a:solidFill>
                  <a:srgbClr val="18253E"/>
                </a:solidFill>
                <a:latin typeface="Segoe UI"/>
                <a:ea typeface="Segoe UI"/>
                <a:cs typeface="Segoe UI"/>
              </a:rPr>
              <a:t>Literature survey: findings for Lexora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7012F8-C67D-4D8C-89EC-76FF25958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91275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59667C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9667C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59667C"/>
                </a:solidFill>
                <a:latin typeface="Segoe UI"/>
                <a:ea typeface="Segoe UI"/>
                <a:cs typeface="Segoe UI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C077DA-30E8-4682-89AF-FA3099AD1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250" b="1">
                <a:solidFill>
                  <a:srgbClr val="315EF4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315EF4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315EF4"/>
                </a:solidFill>
                <a:latin typeface="Segoe UI"/>
                <a:ea typeface="Segoe UI"/>
                <a:cs typeface="Segoe UI"/>
              </a:rPr>
              <a:t>What the reviewed work shows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5049DB-5A91-4AF7-8626-7B9A11EA8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05025"/>
            <a:ext cx="109728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950" b="0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18253E"/>
                </a:solidFill>
                <a:latin typeface="Segoe UI"/>
                <a:ea typeface="Segoe UI"/>
                <a:cs typeface="Segoe UI"/>
              </a:rPr>
              <a:t>The reviewed tools address different parts of compiler learning. Flex and Bison generate working scanners and parsers, Compiler Explorer provides browser-based experimentation, and ANTLRWorks explains grammar behavior through visual tools.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36F0C5-F796-4D31-8A4A-B4E7D77A0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0515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250" b="1">
                <a:solidFill>
                  <a:srgbClr val="315EF4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315EF4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315EF4"/>
                </a:solidFill>
                <a:latin typeface="Segoe UI"/>
                <a:ea typeface="Segoe UI"/>
                <a:cs typeface="Segoe UI"/>
              </a:rPr>
              <a:t>How Lexora applies these ideas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90490E-B6EB-40C2-A8A8-2A186513B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90925"/>
            <a:ext cx="109728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950" b="0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18253E"/>
                </a:solidFill>
                <a:latin typeface="Segoe UI"/>
                <a:ea typeface="Segoe UI"/>
                <a:cs typeface="Segoe UI"/>
              </a:rPr>
              <a:t>Lexora brings these approaches into a dedicated workspace for Lex/Yacc laboratory practice. Students can edit specifications, run them using Flex, Bison, and GCC, and examine syntax trees, symbols, and intermediate code for supported input.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C610FD-FB3E-4CF2-8C3F-3C7F22BE2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9105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250" b="1">
                <a:solidFill>
                  <a:srgbClr val="315EF4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315EF4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315EF4"/>
                </a:solidFill>
                <a:latin typeface="Segoe UI"/>
                <a:ea typeface="Segoe UI"/>
                <a:cs typeface="Segoe UI"/>
              </a:rPr>
              <a:t>Scope of the project contribution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272318-5E78-42F6-91A9-5ED6EDD76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76825"/>
            <a:ext cx="109728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950" b="0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18253E"/>
                </a:solidFill>
                <a:latin typeface="Segoe UI"/>
                <a:ea typeface="Segoe UI"/>
                <a:cs typeface="Segoe UI"/>
              </a:rPr>
              <a:t>Lexora's contribution is the connection between execution and learning views. Its built-in analyzer runs separately from the submitted Lex/Yacc grammar, so the visual results describe Lexora's supported input language.</a:t>
            </a:r>
          </a:p>
        </p:txBody>
      </p:sp>
    </p:spTree>
    <p:extLst>
      <p:ext uri="{BB962C8B-B14F-4D97-AF65-F5344CB8AC3E}">
        <p14:creationId xmlns:p14="http://schemas.microsoft.com/office/powerpoint/2010/main" val="198191075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11B3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4" name="Straight Arrow Connector 13">
            <a:extLst xmlns:a="http://schemas.openxmlformats.org/drawingml/2006/main">
              <a:ext uri="{FF2B5EF4-FFF2-40B4-BE49-F238E27FC236}">
                <a16:creationId xmlns:a16="http://schemas.microsoft.com/office/drawing/2014/main" id="{1523187C-143A-4381-8F1A-57098BF14E6B}"/>
              </a:ext>
            </a:extLst>
          </p:cNvPr>
          <p:cNvCxnSpPr>
            <a:stCxn xmlns:a="http://schemas.openxmlformats.org/drawingml/2006/main" id="11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7467600" y="5681663"/>
            <a:ext cx="13335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315EF4"/>
            </a:solidFill>
            <a:tailEnd type="triangle" w="med" len="med"/>
          </a:ln>
        </p:spPr>
      </p:cxnSp>
      <p:cxnSp>
        <p:nvCxnSpPr>
          <p:cNvPr id="13" name="Straight Arrow Connector 12">
            <a:extLst xmlns:a="http://schemas.openxmlformats.org/drawingml/2006/main">
              <a:ext uri="{FF2B5EF4-FFF2-40B4-BE49-F238E27FC236}">
                <a16:creationId xmlns:a16="http://schemas.microsoft.com/office/drawing/2014/main" id="{8D8BD7DB-8C26-43ED-8C40-60ED98B4DF76}"/>
              </a:ext>
            </a:extLst>
          </p:cNvPr>
          <p:cNvCxnSpPr>
            <a:stCxn xmlns:a="http://schemas.openxmlformats.org/drawingml/2006/main" id="10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3371850" y="5681663"/>
            <a:ext cx="13335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315EF4"/>
            </a:solidFill>
            <a:tailEnd type="triangle" w="med" len="med"/>
          </a:ln>
        </p:spPr>
      </p:cxnSp>
      <p:cxnSp>
        <p:nvCxnSpPr>
          <p:cNvPr id="9" name="Straight Arrow Connector 8">
            <a:extLst xmlns:a="http://schemas.openxmlformats.org/drawingml/2006/main">
              <a:ext uri="{FF2B5EF4-FFF2-40B4-BE49-F238E27FC236}">
                <a16:creationId xmlns:a16="http://schemas.microsoft.com/office/drawing/2014/main" id="{C0FEACB5-EEB5-40CA-82C0-83A6223BCF4D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7467600" y="4405313"/>
            <a:ext cx="13335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315EF4"/>
            </a:solidFill>
            <a:tailEnd type="triangle" w="med" len="med"/>
          </a:ln>
        </p:spPr>
      </p:cxnSp>
      <p:cxnSp>
        <p:nvCxnSpPr>
          <p:cNvPr id="8" name="Straight Arrow Connector 7">
            <a:extLst xmlns:a="http://schemas.openxmlformats.org/drawingml/2006/main">
              <a:ext uri="{FF2B5EF4-FFF2-40B4-BE49-F238E27FC236}">
                <a16:creationId xmlns:a16="http://schemas.microsoft.com/office/drawing/2014/main" id="{02EFB003-ACD4-4390-ADE5-4D4A65C452AD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371850" y="4405313"/>
            <a:ext cx="13335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315EF4"/>
            </a:solidFill>
            <a:tailEnd type="triangle" w="med" len="med"/>
          </a:ln>
        </p:spPr>
      </p:cxn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E25A479F-FD65-4EE9-8F03-81B5A5FC7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4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buNone/>
              <a:defRPr sz="34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34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Novelty and project contribution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FF3B6D74-2533-466F-9981-ED0B1A02B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91275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BCC9E4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buNone/>
              <a:defRPr sz="1200" b="0">
                <a:solidFill>
                  <a:srgbClr val="BCC9E4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BCC9E4"/>
                </a:solidFill>
                <a:latin typeface="Segoe UI"/>
                <a:ea typeface="Segoe UI"/>
                <a:cs typeface="Segoe UI"/>
              </a:rPr>
              <a:t>07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4821599F-D6A9-474C-8060-186CAFFF9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57325"/>
            <a:ext cx="109728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2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buNone/>
              <a:defRPr sz="32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32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A dedicated website for compiling</a:t>
            </a:r>
          </a:p>
          <a:p xmlns:a="http://schemas.openxmlformats.org/drawingml/2006/main">
            <a:pPr>
              <a:buNone/>
              <a:defRPr sz="32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32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Lex/Yacc code and visualizing</a:t>
            </a:r>
          </a:p>
          <a:p xmlns:a="http://schemas.openxmlformats.org/drawingml/2006/main">
            <a:pPr>
              <a:buNone/>
              <a:defRPr sz="32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32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compiler concepts.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C6EBF7DE-68AE-461C-9A99-9E9E547EF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14675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0">
                <a:solidFill>
                  <a:srgbClr val="BCC9E4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buNone/>
              <a:defRPr sz="1875" b="0">
                <a:solidFill>
                  <a:srgbClr val="BCC9E4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BCC9E4"/>
                </a:solidFill>
                <a:latin typeface="Segoe UI"/>
                <a:ea typeface="Segoe UI"/>
                <a:cs typeface="Segoe UI"/>
              </a:rPr>
              <a:t>Lexora brings specification editing, real tool execution, and educational analysis into one workspace.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4A328791-5C8B-4C4D-B3C8-E83E11706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10025"/>
            <a:ext cx="276225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AE1EF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ctr">
              <a:buNone/>
              <a:defRPr sz="1875" b="1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18253E"/>
                </a:solidFill>
                <a:latin typeface="Segoe UI"/>
                <a:ea typeface="Segoe UI"/>
                <a:cs typeface="Segoe UI"/>
              </a:rPr>
              <a:t>Selected .l / .y files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D26154BC-5819-436D-9ABD-CF84DDE74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010025"/>
            <a:ext cx="276225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EF4"/>
          </a:solidFill>
          <a:ln xmlns:a="http://schemas.openxmlformats.org/drawingml/2006/main" w="12383">
            <a:solidFill>
              <a:srgbClr val="315EF4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ctr">
              <a:buNone/>
              <a:defRPr sz="187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Flex + Bison + GCC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5F804EDF-9DBC-4D83-8922-1E00C9910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010025"/>
            <a:ext cx="276225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AE1EF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ctr">
              <a:buNone/>
              <a:defRPr sz="1875" b="1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18253E"/>
                </a:solidFill>
                <a:latin typeface="Segoe UI"/>
                <a:ea typeface="Segoe UI"/>
                <a:cs typeface="Segoe UI"/>
              </a:rPr>
              <a:t>Native output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9646C76F-DACC-43B4-AC18-802E525EE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86375"/>
            <a:ext cx="276225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AE1EF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ctr">
              <a:buNone/>
              <a:defRPr sz="1875" b="1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18253E"/>
                </a:solidFill>
                <a:latin typeface="Segoe UI"/>
                <a:ea typeface="Segoe UI"/>
                <a:cs typeface="Segoe UI"/>
              </a:rPr>
              <a:t>Program input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3D824357-2D33-42C1-BB7A-17903092E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5286375"/>
            <a:ext cx="276225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EF4"/>
          </a:solidFill>
          <a:ln xmlns:a="http://schemas.openxmlformats.org/drawingml/2006/main" w="12383">
            <a:solidFill>
              <a:srgbClr val="315EF4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ctr">
              <a:buNone/>
              <a:defRPr sz="187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Built-in analyzer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69E59BDE-E6CF-460E-9F1B-8CAFF5289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5286375"/>
            <a:ext cx="276225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AE1EF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ctr">
              <a:buNone/>
              <a:defRPr sz="1875" b="1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18253E"/>
                </a:solidFill>
                <a:latin typeface="Segoe UI"/>
                <a:ea typeface="Segoe UI"/>
                <a:cs typeface="Segoe UI"/>
              </a:rPr>
              <a:t>Educational views</a:t>
            </a:r>
          </a:p>
        </p:txBody>
      </p:sp>
    </p:spTree>
    <p:extLst>
      <p:ext uri="{BB962C8B-B14F-4D97-AF65-F5344CB8AC3E}">
        <p14:creationId xmlns:p14="http://schemas.microsoft.com/office/powerpoint/2010/main" val="35525296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998205EE-7E5D-44E7-8A39-AD24502D3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450" b="1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buNone/>
              <a:defRPr sz="3450" b="1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pPr>
            <a:r>
              <a:rPr sz="3450" b="1">
                <a:solidFill>
                  <a:srgbClr val="18253E"/>
                </a:solidFill>
                <a:latin typeface="Segoe UI"/>
                <a:ea typeface="Segoe UI"/>
                <a:cs typeface="Segoe UI"/>
              </a:rPr>
              <a:t>The Lexora workspace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0D43EDE0-7994-4F4E-9BAB-4FEFB9395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91275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59667C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buNone/>
              <a:defRPr sz="1200" b="0">
                <a:solidFill>
                  <a:srgbClr val="59667C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59667C"/>
                </a:solidFill>
                <a:latin typeface="Segoe UI"/>
                <a:ea typeface="Segoe UI"/>
                <a:cs typeface="Segoe UI"/>
              </a:rPr>
              <a:t>08</a:t>
            </a:r>
          </a:p>
        </p:txBody>
      </p:sp>
      <p:pic>
        <p:nvPicPr>
          <p:cNvPr id="3" name="Picture 2">
            <a:extLst xmlns:a="http://schemas.openxmlformats.org/drawingml/2006/main">
              <a:ext uri="{FF2B5EF4-FFF2-40B4-BE49-F238E27FC236}">
                <a16:creationId xmlns:a16="http://schemas.microsoft.com/office/drawing/2014/main" id="{C6C8300C-5389-4A8B-A08A-40398AF88D1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a1b787d8ff4b73"/>
          <a:stretch xmlns:a="http://schemas.openxmlformats.org/drawingml/2006/main"/>
        </p:blipFill>
        <p:spPr>
          <a:xfrm xmlns:a="http://schemas.openxmlformats.org/drawingml/2006/main">
            <a:off x="609600" y="1657350"/>
            <a:ext cx="8077200" cy="4543425"/>
          </a:xfrm>
          <a:prstGeom xmlns:a="http://schemas.openxmlformats.org/drawingml/2006/main" prst="rect">
            <a:avLst/>
          </a:prstGeom>
        </p:spPr>
      </p:pic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9E27EF57-C6E8-4571-8705-33FBD9D46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895475"/>
            <a:ext cx="24955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1">
                <a:solidFill>
                  <a:srgbClr val="315EF4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buNone/>
              <a:defRPr sz="2025" b="1">
                <a:solidFill>
                  <a:srgbClr val="315EF4"/>
                </a:solidFill>
                <a:latin typeface="Segoe UI"/>
                <a:ea typeface="Segoe UI"/>
                <a:cs typeface="Segoe UI"/>
              </a:defRPr>
            </a:pPr>
            <a:r>
              <a:rPr sz="2025" b="1">
                <a:solidFill>
                  <a:srgbClr val="315EF4"/>
                </a:solidFill>
                <a:latin typeface="Segoe UI"/>
                <a:ea typeface="Segoe UI"/>
                <a:cs typeface="Segoe UI"/>
              </a:rPr>
              <a:t>Source editing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03172BA9-0F95-43FC-9505-845CBA1A9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600325"/>
            <a:ext cx="24955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0">
                <a:solidFill>
                  <a:srgbClr val="59667C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buNone/>
              <a:defRPr sz="1875" b="0">
                <a:solidFill>
                  <a:srgbClr val="59667C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9667C"/>
                </a:solidFill>
                <a:latin typeface="Segoe UI"/>
                <a:ea typeface="Segoe UI"/>
                <a:cs typeface="Segoe UI"/>
              </a:rPr>
              <a:t>The editor holds the selected lexer or parser specification.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DA1E603E-58EB-4776-AD70-3613DC8C7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257675"/>
            <a:ext cx="24955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1">
                <a:solidFill>
                  <a:srgbClr val="315EF4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buNone/>
              <a:defRPr sz="2025" b="1">
                <a:solidFill>
                  <a:srgbClr val="315EF4"/>
                </a:solidFill>
                <a:latin typeface="Segoe UI"/>
                <a:ea typeface="Segoe UI"/>
                <a:cs typeface="Segoe UI"/>
              </a:defRPr>
            </a:pPr>
            <a:r>
              <a:rPr sz="2025" b="1">
                <a:solidFill>
                  <a:srgbClr val="315EF4"/>
                </a:solidFill>
                <a:latin typeface="Segoe UI"/>
                <a:ea typeface="Segoe UI"/>
                <a:cs typeface="Segoe UI"/>
              </a:rPr>
              <a:t>Analysis views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70DE644A-BCD9-4DD0-BA0E-6D1BC9F3C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962525"/>
            <a:ext cx="249555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0">
                <a:solidFill>
                  <a:srgbClr val="59667C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buNone/>
              <a:defRPr sz="1875" b="0">
                <a:solidFill>
                  <a:srgbClr val="59667C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9667C"/>
                </a:solidFill>
                <a:latin typeface="Segoe UI"/>
                <a:ea typeface="Segoe UI"/>
                <a:cs typeface="Segoe UI"/>
              </a:rPr>
              <a:t>The token table records each lexeme and its position in the input.</a:t>
            </a:r>
          </a:p>
        </p:txBody>
      </p:sp>
    </p:spTree>
    <p:extLst>
      <p:ext uri="{BB962C8B-B14F-4D97-AF65-F5344CB8AC3E}">
        <p14:creationId xmlns:p14="http://schemas.microsoft.com/office/powerpoint/2010/main" val="92779913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4" name="Straight Arrow Connector 13">
            <a:extLst xmlns:a="http://schemas.openxmlformats.org/drawingml/2006/main">
              <a:ext uri="{FF2B5EF4-FFF2-40B4-BE49-F238E27FC236}">
                <a16:creationId xmlns:a16="http://schemas.microsoft.com/office/drawing/2014/main" id="{79FAC0AE-2F3F-4CC7-9BE4-3209347D06BE}"/>
              </a:ext>
            </a:extLst>
          </p:cNvPr>
          <p:cNvCxnSpPr>
            <a:stCxn xmlns:a="http://schemas.openxmlformats.org/drawingml/2006/main" id="5" idx="2"/>
            <a:endCxn xmlns:a="http://schemas.openxmlformats.org/drawingml/2006/main" id="11" idx="0"/>
          </p:cNvCxnSpPr>
          <p:nvPr/>
        </p:nvCxnSpPr>
        <p:spPr>
          <a:xfrm xmlns:a="http://schemas.openxmlformats.org/drawingml/2006/main">
            <a:off x="10039350" y="2867025"/>
            <a:ext cx="0" cy="123825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315EF4"/>
            </a:solidFill>
            <a:tailEnd type="triangle" w="med" len="med"/>
          </a:ln>
        </p:spPr>
      </p:cxnSp>
      <p:cxnSp>
        <p:nvCxnSpPr>
          <p:cNvPr id="13" name="Straight Arrow Connector 12">
            <a:extLst xmlns:a="http://schemas.openxmlformats.org/drawingml/2006/main">
              <a:ext uri="{FF2B5EF4-FFF2-40B4-BE49-F238E27FC236}">
                <a16:creationId xmlns:a16="http://schemas.microsoft.com/office/drawing/2014/main" id="{E69EB238-1E99-4362-AEF2-61697C0C6AAC}"/>
              </a:ext>
            </a:extLst>
          </p:cNvPr>
          <p:cNvCxnSpPr>
            <a:stCxn xmlns:a="http://schemas.openxmlformats.org/drawingml/2006/main" id="4" idx="2"/>
            <a:endCxn xmlns:a="http://schemas.openxmlformats.org/drawingml/2006/main" id="10" idx="0"/>
          </p:cNvCxnSpPr>
          <p:nvPr/>
        </p:nvCxnSpPr>
        <p:spPr>
          <a:xfrm xmlns:a="http://schemas.openxmlformats.org/drawingml/2006/main">
            <a:off x="6086475" y="2867025"/>
            <a:ext cx="0" cy="123825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315EF4"/>
            </a:solidFill>
            <a:tailEnd type="triangle" w="med" len="med"/>
          </a:ln>
        </p:spPr>
      </p:cxnSp>
      <p:cxnSp>
        <p:nvCxnSpPr>
          <p:cNvPr id="12" name="Straight Arrow Connector 11">
            <a:extLst xmlns:a="http://schemas.openxmlformats.org/drawingml/2006/main">
              <a:ext uri="{FF2B5EF4-FFF2-40B4-BE49-F238E27FC236}">
                <a16:creationId xmlns:a16="http://schemas.microsoft.com/office/drawing/2014/main" id="{234E107B-B607-4B51-A699-6CA37EA7370A}"/>
              </a:ext>
            </a:extLst>
          </p:cNvPr>
          <p:cNvCxnSpPr>
            <a:stCxn xmlns:a="http://schemas.openxmlformats.org/drawingml/2006/main" id="3" idx="2"/>
            <a:endCxn xmlns:a="http://schemas.openxmlformats.org/drawingml/2006/main" id="9" idx="0"/>
          </p:cNvCxnSpPr>
          <p:nvPr/>
        </p:nvCxnSpPr>
        <p:spPr>
          <a:xfrm xmlns:a="http://schemas.openxmlformats.org/drawingml/2006/main">
            <a:off x="2133600" y="2867025"/>
            <a:ext cx="0" cy="123825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315EF4"/>
            </a:solidFill>
            <a:tailEnd type="triangle" w="med" len="med"/>
          </a:ln>
        </p:spPr>
      </p:cxnSp>
      <p:cxnSp>
        <p:nvCxnSpPr>
          <p:cNvPr id="7" name="Straight Arrow Connector 6">
            <a:extLst xmlns:a="http://schemas.openxmlformats.org/drawingml/2006/main">
              <a:ext uri="{FF2B5EF4-FFF2-40B4-BE49-F238E27FC236}">
                <a16:creationId xmlns:a16="http://schemas.microsoft.com/office/drawing/2014/main" id="{A1757E1C-763B-40FC-AE53-5FEA7BB0BF8A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7610475" y="2333625"/>
            <a:ext cx="904875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315EF4"/>
            </a:solidFill>
            <a:tailEnd type="triangle" w="med" len="med"/>
          </a:ln>
        </p:spPr>
      </p:cxnSp>
      <p:cxnSp>
        <p:nvCxnSpPr>
          <p:cNvPr id="6" name="Straight Arrow Connector 5">
            <a:extLst xmlns:a="http://schemas.openxmlformats.org/drawingml/2006/main">
              <a:ext uri="{FF2B5EF4-FFF2-40B4-BE49-F238E27FC236}">
                <a16:creationId xmlns:a16="http://schemas.microsoft.com/office/drawing/2014/main" id="{632CBC47-5656-4E91-AD5D-FE9189B1D193}"/>
              </a:ext>
            </a:extLst>
          </p:cNvPr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3657600" y="2333625"/>
            <a:ext cx="904875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315EF4"/>
            </a:solidFill>
            <a:tailEnd type="triangle" w="med" len="med"/>
          </a:ln>
        </p:spPr>
      </p:cxn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EB183C84-9332-473B-A3ED-E77DD1142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450" b="1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buNone/>
              <a:defRPr sz="3450" b="1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pPr>
            <a:r>
              <a:rPr sz="3450" b="1">
                <a:solidFill>
                  <a:srgbClr val="18253E"/>
                </a:solidFill>
                <a:latin typeface="Segoe UI"/>
                <a:ea typeface="Segoe UI"/>
                <a:cs typeface="Segoe UI"/>
              </a:rPr>
              <a:t>System architecture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C7FCF2C3-87A6-4DDC-BCD5-B05170900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91275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59667C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buNone/>
              <a:defRPr sz="1200" b="0">
                <a:solidFill>
                  <a:srgbClr val="59667C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59667C"/>
                </a:solidFill>
                <a:latin typeface="Segoe UI"/>
                <a:ea typeface="Segoe UI"/>
                <a:cs typeface="Segoe UI"/>
              </a:rPr>
              <a:t>09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428CEA01-8F04-436C-BFD4-129A22A3C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0225"/>
            <a:ext cx="3048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F"/>
          </a:solidFill>
          <a:ln xmlns:a="http://schemas.openxmlformats.org/drawingml/2006/main" w="12383">
            <a:solidFill>
              <a:srgbClr val="315EF4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ctr">
              <a:buNone/>
              <a:defRPr sz="1875" b="1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18253E"/>
                </a:solidFill>
                <a:latin typeface="Segoe UI"/>
                <a:ea typeface="Segoe UI"/>
                <a:cs typeface="Segoe UI"/>
              </a:rPr>
              <a:t>Browser interface</a:t>
            </a:r>
          </a:p>
          <a:p xmlns:a="http://schemas.openxmlformats.org/drawingml/2006/main">
            <a:pPr algn="ctr">
              <a:buNone/>
              <a:defRPr sz="1875" b="1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18253E"/>
                </a:solidFill>
                <a:latin typeface="Segoe UI"/>
                <a:ea typeface="Segoe UI"/>
                <a:cs typeface="Segoe UI"/>
              </a:rPr>
              <a:t>React + CodeMirror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4D3878E0-8301-4264-AB81-53E395A57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1800225"/>
            <a:ext cx="3048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EF4"/>
          </a:solidFill>
          <a:ln xmlns:a="http://schemas.openxmlformats.org/drawingml/2006/main" w="12383">
            <a:solidFill>
              <a:srgbClr val="315EF4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ctr">
              <a:buNone/>
              <a:defRPr sz="187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Backend API</a:t>
            </a:r>
          </a:p>
          <a:p xmlns:a="http://schemas.openxmlformats.org/drawingml/2006/main">
            <a:pPr algn="ctr">
              <a:buNone/>
              <a:defRPr sz="187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Node.js + Express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19738644-C2B2-4755-88D9-FEDA1879A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800225"/>
            <a:ext cx="3048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F"/>
          </a:solidFill>
          <a:ln xmlns:a="http://schemas.openxmlformats.org/drawingml/2006/main" w="12383">
            <a:solidFill>
              <a:srgbClr val="315EF4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ctr">
              <a:buNone/>
              <a:defRPr sz="1875" b="1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18253E"/>
                </a:solidFill>
                <a:latin typeface="Segoe UI"/>
                <a:ea typeface="Segoe UI"/>
                <a:cs typeface="Segoe UI"/>
              </a:rPr>
              <a:t>Native tools</a:t>
            </a:r>
          </a:p>
          <a:p xmlns:a="http://schemas.openxmlformats.org/drawingml/2006/main">
            <a:pPr algn="ctr">
              <a:buNone/>
              <a:defRPr sz="1875" b="1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18253E"/>
                </a:solidFill>
                <a:latin typeface="Segoe UI"/>
                <a:ea typeface="Segoe UI"/>
                <a:cs typeface="Segoe UI"/>
              </a:rPr>
              <a:t>Flex + Bison + GCC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B71F050F-6B06-425B-B075-851142A53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1571625"/>
            <a:ext cx="2019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75" b="0">
                <a:solidFill>
                  <a:srgbClr val="59667C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buNone/>
              <a:defRPr sz="1575" b="0">
                <a:solidFill>
                  <a:srgbClr val="59667C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59667C"/>
                </a:solidFill>
                <a:latin typeface="Segoe UI"/>
                <a:ea typeface="Segoe UI"/>
                <a:cs typeface="Segoe UI"/>
              </a:rPr>
              <a:t>HTTP / JSON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E9F78964-6A0D-4EDB-9834-8B45A8BFF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05275"/>
            <a:ext cx="3048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AE1EF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ctr">
              <a:buNone/>
              <a:defRPr sz="1875" b="1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18253E"/>
                </a:solidFill>
                <a:latin typeface="Segoe UI"/>
                <a:ea typeface="Segoe UI"/>
                <a:cs typeface="Segoe UI"/>
              </a:rPr>
              <a:t>Browser localStorage</a:t>
            </a:r>
          </a:p>
          <a:p xmlns:a="http://schemas.openxmlformats.org/drawingml/2006/main">
            <a:pPr algn="ctr">
              <a:buNone/>
              <a:defRPr sz="1875" b="1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18253E"/>
                </a:solidFill>
                <a:latin typeface="Segoe UI"/>
                <a:ea typeface="Segoe UI"/>
                <a:cs typeface="Segoe UI"/>
              </a:rPr>
              <a:t>Workspace drafts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D60EBFA8-B5A6-468D-9AC1-669675813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4105275"/>
            <a:ext cx="3048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AE1EF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ctr">
              <a:buNone/>
              <a:defRPr sz="1875" b="1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18253E"/>
                </a:solidFill>
                <a:latin typeface="Segoe UI"/>
                <a:ea typeface="Segoe UI"/>
                <a:cs typeface="Segoe UI"/>
              </a:rPr>
              <a:t>JavaScript analyzer</a:t>
            </a:r>
          </a:p>
          <a:p xmlns:a="http://schemas.openxmlformats.org/drawingml/2006/main">
            <a:pPr algn="ctr">
              <a:buNone/>
              <a:defRPr sz="1875" b="1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18253E"/>
                </a:solidFill>
                <a:latin typeface="Segoe UI"/>
                <a:ea typeface="Segoe UI"/>
                <a:cs typeface="Segoe UI"/>
              </a:rPr>
              <a:t>AST, symbols, and TAC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E39EB497-42D4-4D28-9B82-1BF1D6F31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105275"/>
            <a:ext cx="3048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AE1EF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ctr">
              <a:buNone/>
              <a:defRPr sz="1875" b="1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18253E"/>
                </a:solidFill>
                <a:latin typeface="Segoe UI"/>
                <a:ea typeface="Segoe UI"/>
                <a:cs typeface="Segoe UI"/>
              </a:rPr>
              <a:t>Temporary job directory</a:t>
            </a:r>
          </a:p>
          <a:p xmlns:a="http://schemas.openxmlformats.org/drawingml/2006/main">
            <a:pPr algn="ctr">
              <a:buNone/>
              <a:defRPr sz="1875" b="1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18253E"/>
                </a:solidFill>
                <a:latin typeface="Segoe UI"/>
                <a:ea typeface="Segoe UI"/>
                <a:cs typeface="Segoe UI"/>
              </a:rPr>
              <a:t>Sources and executable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7BC7139E-BE7A-405F-942A-ECC655953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53075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00" b="0">
                <a:solidFill>
                  <a:srgbClr val="59667C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buNone/>
              <a:defRPr sz="2100" b="0">
                <a:solidFill>
                  <a:srgbClr val="59667C"/>
                </a:solidFill>
                <a:latin typeface="Segoe UI"/>
                <a:ea typeface="Segoe UI"/>
                <a:cs typeface="Segoe UI"/>
              </a:defRPr>
            </a:pPr>
            <a:r>
              <a:rPr sz="2100" b="0">
                <a:solidFill>
                  <a:srgbClr val="59667C"/>
                </a:solidFill>
                <a:latin typeface="Segoe UI"/>
                <a:ea typeface="Segoe UI"/>
                <a:cs typeface="Segoe UI"/>
              </a:rPr>
              <a:t>The browser manages editing. The backend performs input analysis and native compilation.</a:t>
            </a:r>
          </a:p>
        </p:txBody>
      </p:sp>
    </p:spTree>
    <p:extLst>
      <p:ext uri="{BB962C8B-B14F-4D97-AF65-F5344CB8AC3E}">
        <p14:creationId xmlns:p14="http://schemas.microsoft.com/office/powerpoint/2010/main" val="82562896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6" name="Straight Arrow Connector 15">
            <a:extLst xmlns:a="http://schemas.openxmlformats.org/drawingml/2006/main">
              <a:ext uri="{FF2B5EF4-FFF2-40B4-BE49-F238E27FC236}">
                <a16:creationId xmlns:a16="http://schemas.microsoft.com/office/drawing/2014/main" id="{CADFEA8C-759A-47F2-8F7B-B27F44366A77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4086225" y="4152900"/>
            <a:ext cx="62865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315EF4"/>
            </a:solidFill>
            <a:tailEnd type="triangle" w="med" len="med"/>
          </a:ln>
        </p:spPr>
      </p:cxnSp>
      <p:cxnSp>
        <p:nvCxnSpPr>
          <p:cNvPr id="14" name="Straight Arrow Connector 13">
            <a:extLst xmlns:a="http://schemas.openxmlformats.org/drawingml/2006/main">
              <a:ext uri="{FF2B5EF4-FFF2-40B4-BE49-F238E27FC236}">
                <a16:creationId xmlns:a16="http://schemas.microsoft.com/office/drawing/2014/main" id="{52BA0872-3C3E-470A-BE16-D7347D443159}"/>
              </a:ext>
            </a:extLst>
          </p:cNvPr>
          <p:cNvCxnSpPr>
            <a:stCxn xmlns:a="http://schemas.openxmlformats.org/drawingml/2006/main" id="11" idx="0"/>
            <a:endCxn xmlns:a="http://schemas.openxmlformats.org/drawingml/2006/main" id="13" idx="2"/>
          </p:cNvCxnSpPr>
          <p:nvPr/>
        </p:nvCxnSpPr>
        <p:spPr>
          <a:xfrm xmlns:a="http://schemas.openxmlformats.org/drawingml/2006/main" flipV="1">
            <a:off x="9991725" y="3676650"/>
            <a:ext cx="0" cy="123825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315EF4"/>
            </a:solidFill>
            <a:tailEnd type="triangle" w="med" len="med"/>
          </a:ln>
        </p:spPr>
      </p:cxnSp>
      <p:cxnSp>
        <p:nvCxnSpPr>
          <p:cNvPr id="12" name="Straight Arrow Connector 11">
            <a:extLst xmlns:a="http://schemas.openxmlformats.org/drawingml/2006/main">
              <a:ext uri="{FF2B5EF4-FFF2-40B4-BE49-F238E27FC236}">
                <a16:creationId xmlns:a16="http://schemas.microsoft.com/office/drawing/2014/main" id="{858D40BE-E3AE-4DA3-B392-5DEBBDA32954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4086225" y="5248275"/>
            <a:ext cx="4333875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315EF4"/>
            </a:solidFill>
            <a:tailEnd type="triangle" w="med" len="med"/>
          </a:ln>
        </p:spPr>
      </p:cxnSp>
      <p:cxnSp>
        <p:nvCxnSpPr>
          <p:cNvPr id="9" name="Straight Arrow Connector 8">
            <a:extLst xmlns:a="http://schemas.openxmlformats.org/drawingml/2006/main">
              <a:ext uri="{FF2B5EF4-FFF2-40B4-BE49-F238E27FC236}">
                <a16:creationId xmlns:a16="http://schemas.microsoft.com/office/drawing/2014/main" id="{239E1DFC-447F-46F0-B34E-63F0BA7E8CA2}"/>
              </a:ext>
            </a:extLst>
          </p:cNvPr>
          <p:cNvCxnSpPr>
            <a:stCxn xmlns:a="http://schemas.openxmlformats.org/drawingml/2006/main" id="5" idx="2"/>
            <a:endCxn xmlns:a="http://schemas.openxmlformats.org/drawingml/2006/main" id="6" idx="0"/>
          </p:cNvCxnSpPr>
          <p:nvPr/>
        </p:nvCxnSpPr>
        <p:spPr>
          <a:xfrm xmlns:a="http://schemas.openxmlformats.org/drawingml/2006/main">
            <a:off x="2347913" y="4572000"/>
            <a:ext cx="0" cy="34290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315EF4"/>
            </a:solidFill>
            <a:tailEnd type="triangle" w="med" len="med"/>
          </a:ln>
        </p:spPr>
      </p:cxnSp>
      <p:cxnSp>
        <p:nvCxnSpPr>
          <p:cNvPr id="8" name="Straight Arrow Connector 7">
            <a:extLst xmlns:a="http://schemas.openxmlformats.org/drawingml/2006/main">
              <a:ext uri="{FF2B5EF4-FFF2-40B4-BE49-F238E27FC236}">
                <a16:creationId xmlns:a16="http://schemas.microsoft.com/office/drawing/2014/main" id="{CB1561DA-6F4F-4425-809A-52C9097F508D}"/>
              </a:ext>
            </a:extLst>
          </p:cNvPr>
          <p:cNvCxnSpPr>
            <a:stCxn xmlns:a="http://schemas.openxmlformats.org/drawingml/2006/main" id="4" idx="2"/>
            <a:endCxn xmlns:a="http://schemas.openxmlformats.org/drawingml/2006/main" id="5" idx="0"/>
          </p:cNvCxnSpPr>
          <p:nvPr/>
        </p:nvCxnSpPr>
        <p:spPr>
          <a:xfrm xmlns:a="http://schemas.openxmlformats.org/drawingml/2006/main">
            <a:off x="2347913" y="3390900"/>
            <a:ext cx="0" cy="34290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315EF4"/>
            </a:solidFill>
            <a:tailEnd type="triangle" w="med" len="med"/>
          </a:ln>
        </p:spPr>
      </p:cxnSp>
      <p:cxnSp>
        <p:nvCxnSpPr>
          <p:cNvPr id="7" name="Straight Arrow Connector 6">
            <a:extLst xmlns:a="http://schemas.openxmlformats.org/drawingml/2006/main">
              <a:ext uri="{FF2B5EF4-FFF2-40B4-BE49-F238E27FC236}">
                <a16:creationId xmlns:a16="http://schemas.microsoft.com/office/drawing/2014/main" id="{86388F8C-4B70-41BA-AE20-13A192B19538}"/>
              </a:ext>
            </a:extLst>
          </p:cNvPr>
          <p:cNvCxnSpPr>
            <a:stCxn xmlns:a="http://schemas.openxmlformats.org/drawingml/2006/main" id="3" idx="2"/>
            <a:endCxn xmlns:a="http://schemas.openxmlformats.org/drawingml/2006/main" id="4" idx="0"/>
          </p:cNvCxnSpPr>
          <p:nvPr/>
        </p:nvCxnSpPr>
        <p:spPr>
          <a:xfrm xmlns:a="http://schemas.openxmlformats.org/drawingml/2006/main">
            <a:off x="2347913" y="2381250"/>
            <a:ext cx="0" cy="34290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315EF4"/>
            </a:solidFill>
            <a:tailEnd type="triangle" w="med" len="med"/>
          </a:ln>
        </p:spPr>
      </p:cxn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214FB579-C5C1-4C43-8026-522F8312A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450" b="1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buNone/>
              <a:defRPr sz="3450" b="1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pPr>
            <a:r>
              <a:rPr sz="3450" b="1">
                <a:solidFill>
                  <a:srgbClr val="18253E"/>
                </a:solidFill>
                <a:latin typeface="Segoe UI"/>
                <a:ea typeface="Segoe UI"/>
                <a:cs typeface="Segoe UI"/>
              </a:rPr>
              <a:t>Working flowchart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28DF3E86-B664-4682-8187-313107616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91275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59667C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buNone/>
              <a:defRPr sz="1200" b="0">
                <a:solidFill>
                  <a:srgbClr val="59667C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59667C"/>
                </a:solidFill>
                <a:latin typeface="Segoe UI"/>
                <a:ea typeface="Segoe UI"/>
                <a:cs typeface="Segoe UI"/>
              </a:rPr>
              <a:t>10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85E939BC-8AF3-4EFD-A35C-5487A5C9D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34766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F"/>
          </a:solidFill>
          <a:ln xmlns:a="http://schemas.openxmlformats.org/drawingml/2006/main" w="12383">
            <a:solidFill>
              <a:srgbClr val="315EF4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ctr">
              <a:buNone/>
              <a:defRPr sz="1875" b="1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18253E"/>
                </a:solidFill>
                <a:latin typeface="Segoe UI"/>
                <a:ea typeface="Segoe UI"/>
                <a:cs typeface="Segoe UI"/>
              </a:rPr>
              <a:t>Edit files and program input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E064A3E6-261C-432C-9B13-4AD1925A1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24150"/>
            <a:ext cx="34766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F"/>
          </a:solidFill>
          <a:ln xmlns:a="http://schemas.openxmlformats.org/drawingml/2006/main" w="12383">
            <a:solidFill>
              <a:srgbClr val="315EF4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ctr">
              <a:buNone/>
              <a:defRPr sz="1875" b="1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18253E"/>
                </a:solidFill>
                <a:latin typeface="Segoe UI"/>
                <a:ea typeface="Segoe UI"/>
                <a:cs typeface="Segoe UI"/>
              </a:rPr>
              <a:t>Submit compilation request</a:t>
            </a:r>
          </a:p>
        </p:txBody>
      </p:sp>
      <p:sp>
        <p:nvSpPr>
          <p:cNvPr id="5" name="Diamond 4">
            <a:extLst xmlns:a="http://schemas.openxmlformats.org/drawingml/2006/main">
              <a:ext uri="{FF2B5EF4-FFF2-40B4-BE49-F238E27FC236}">
                <a16:creationId xmlns:a16="http://schemas.microsoft.com/office/drawing/2014/main" id="{71C85116-24B2-4662-8CD5-F091DDCF0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33800"/>
            <a:ext cx="3476625" cy="8382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DF1FF"/>
          </a:solidFill>
          <a:ln xmlns:a="http://schemas.openxmlformats.org/drawingml/2006/main" w="12383">
            <a:solidFill>
              <a:srgbClr val="315EF4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ctr">
              <a:buNone/>
              <a:defRPr sz="1800" b="1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pPr>
            <a:r>
              <a:rPr sz="1800" b="1">
                <a:solidFill>
                  <a:srgbClr val="18253E"/>
                </a:solidFill>
                <a:latin typeface="Segoe UI"/>
                <a:ea typeface="Segoe UI"/>
                <a:cs typeface="Segoe UI"/>
              </a:rPr>
              <a:t>Validate request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86E5A4D2-446C-4BFA-85EE-C25680EFC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14900"/>
            <a:ext cx="34766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F"/>
          </a:solidFill>
          <a:ln xmlns:a="http://schemas.openxmlformats.org/drawingml/2006/main" w="12383">
            <a:solidFill>
              <a:srgbClr val="315EF4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ctr">
              <a:buNone/>
              <a:defRPr sz="1875" b="1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18253E"/>
                </a:solidFill>
                <a:latin typeface="Segoe UI"/>
                <a:ea typeface="Segoe UI"/>
                <a:cs typeface="Segoe UI"/>
              </a:rPr>
              <a:t>Analyze input and create job files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37505FF4-6C69-4C31-9706-E123784A9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4581525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00" b="1">
                <a:solidFill>
                  <a:srgbClr val="315EF4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buNone/>
              <a:defRPr sz="1500" b="1">
                <a:solidFill>
                  <a:srgbClr val="315EF4"/>
                </a:solidFill>
                <a:latin typeface="Segoe UI"/>
                <a:ea typeface="Segoe UI"/>
                <a:cs typeface="Segoe UI"/>
              </a:defRPr>
            </a:pPr>
            <a:r>
              <a:rPr sz="1500" b="1">
                <a:solidFill>
                  <a:srgbClr val="315EF4"/>
                </a:solidFill>
                <a:latin typeface="Segoe UI"/>
                <a:ea typeface="Segoe UI"/>
                <a:cs typeface="Segoe UI"/>
              </a:rPr>
              <a:t>Valid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7DA8387B-AA72-4611-9073-70BE8976E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914900"/>
            <a:ext cx="3143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EF4"/>
          </a:solidFill>
          <a:ln xmlns:a="http://schemas.openxmlformats.org/drawingml/2006/main" w="12383">
            <a:solidFill>
              <a:srgbClr val="315EF4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ctr">
              <a:buNone/>
              <a:defRPr sz="187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Generate C, compile, and run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2443FD42-6BB7-4D87-8F92-FCA209D55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724150"/>
            <a:ext cx="3143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F"/>
          </a:solidFill>
          <a:ln xmlns:a="http://schemas.openxmlformats.org/drawingml/2006/main" w="12383">
            <a:solidFill>
              <a:srgbClr val="315EF4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ctr">
              <a:buNone/>
              <a:defRPr sz="1875" b="1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18253E"/>
                </a:solidFill>
                <a:latin typeface="Segoe UI"/>
                <a:ea typeface="Segoe UI"/>
                <a:cs typeface="Segoe UI"/>
              </a:rPr>
              <a:t>Return results and clean job files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B78A607B-DF1D-403C-9229-EF2B8B123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3733800"/>
            <a:ext cx="2857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AE1EF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ctr">
              <a:buNone/>
              <a:defRPr sz="1875" b="1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18253E"/>
                </a:solidFill>
                <a:latin typeface="Segoe UI"/>
                <a:ea typeface="Segoe UI"/>
                <a:cs typeface="Segoe UI"/>
              </a:rPr>
              <a:t>Return a validation error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3C3DC034-DB18-4236-BE4A-8CFB284AA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381375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00" b="0">
                <a:solidFill>
                  <a:srgbClr val="59667C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buNone/>
              <a:defRPr sz="1500" b="0">
                <a:solidFill>
                  <a:srgbClr val="59667C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59667C"/>
                </a:solidFill>
                <a:latin typeface="Segoe UI"/>
                <a:ea typeface="Segoe UI"/>
                <a:cs typeface="Segoe UI"/>
              </a:rPr>
              <a:t>Invalid</a:t>
            </a: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0B779B58-3E8F-4BEC-A8EC-D541C3418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695450"/>
            <a:ext cx="314325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0">
                <a:solidFill>
                  <a:srgbClr val="59667C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buNone/>
              <a:defRPr sz="1875" b="0">
                <a:solidFill>
                  <a:srgbClr val="59667C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9667C"/>
                </a:solidFill>
                <a:latin typeface="Segoe UI"/>
                <a:ea typeface="Segoe UI"/>
                <a:cs typeface="Segoe UI"/>
              </a:rPr>
              <a:t>Failures identify the failing phase and preserve available results.</a:t>
            </a:r>
          </a:p>
        </p:txBody>
      </p:sp>
    </p:spTree>
    <p:extLst>
      <p:ext uri="{BB962C8B-B14F-4D97-AF65-F5344CB8AC3E}">
        <p14:creationId xmlns:p14="http://schemas.microsoft.com/office/powerpoint/2010/main" val="148628575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111B3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9" name="Straight Arrow Connector 8">
            <a:extLst xmlns:a="http://schemas.openxmlformats.org/drawingml/2006/main">
              <a:ext uri="{FF2B5EF4-FFF2-40B4-BE49-F238E27FC236}">
                <a16:creationId xmlns:a16="http://schemas.microsoft.com/office/drawing/2014/main" id="{E857BEA1-CD6D-4CF9-8B22-037D9BE4B763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8667750" y="2305050"/>
            <a:ext cx="62865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315EF4"/>
            </a:solidFill>
            <a:tailEnd type="triangle" w="med" len="med"/>
          </a:ln>
        </p:spPr>
      </p:cxnSp>
      <p:cxnSp>
        <p:nvCxnSpPr>
          <p:cNvPr id="8" name="Straight Arrow Connector 7">
            <a:extLst xmlns:a="http://schemas.openxmlformats.org/drawingml/2006/main">
              <a:ext uri="{FF2B5EF4-FFF2-40B4-BE49-F238E27FC236}">
                <a16:creationId xmlns:a16="http://schemas.microsoft.com/office/drawing/2014/main" id="{6E3814B5-F03E-4B30-B386-3F70EEAE3408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5772150" y="2305050"/>
            <a:ext cx="62865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315EF4"/>
            </a:solidFill>
            <a:tailEnd type="triangle" w="med" len="med"/>
          </a:ln>
        </p:spPr>
      </p:cxnSp>
      <p:cxnSp>
        <p:nvCxnSpPr>
          <p:cNvPr id="7" name="Straight Arrow Connector 6">
            <a:extLst xmlns:a="http://schemas.openxmlformats.org/drawingml/2006/main">
              <a:ext uri="{FF2B5EF4-FFF2-40B4-BE49-F238E27FC236}">
                <a16:creationId xmlns:a16="http://schemas.microsoft.com/office/drawing/2014/main" id="{962E5A77-FF2C-4649-ACEA-D46F809469D6}"/>
              </a:ext>
            </a:extLst>
          </p:cNvPr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2876550" y="2305050"/>
            <a:ext cx="62865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315EF4"/>
            </a:solidFill>
            <a:tailEnd type="triangle" w="med" len="med"/>
          </a:ln>
        </p:spPr>
      </p:cxn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E21B6F42-4444-4E80-BAB3-5249E50DC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4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buNone/>
              <a:defRPr sz="34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34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Native compilation pipeline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72691901-DBE8-4439-845F-0135106DF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91275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BCC9E4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buNone/>
              <a:defRPr sz="1200" b="0">
                <a:solidFill>
                  <a:srgbClr val="BCC9E4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BCC9E4"/>
                </a:solidFill>
                <a:latin typeface="Segoe UI"/>
                <a:ea typeface="Segoe UI"/>
                <a:cs typeface="Segoe UI"/>
              </a:rPr>
              <a:t>11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EBC33A9A-973D-4BE3-9E96-6BA6F8A13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22669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AE1EF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ctr">
              <a:buNone/>
              <a:defRPr sz="1875" b="1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18253E"/>
                </a:solidFill>
                <a:latin typeface="Segoe UI"/>
                <a:ea typeface="Segoe UI"/>
                <a:cs typeface="Segoe UI"/>
              </a:rPr>
              <a:t>Flex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A3BA6317-A2D9-433D-891E-AB8D6B9DB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1924050"/>
            <a:ext cx="22669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AE1EF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ctr">
              <a:buNone/>
              <a:defRPr sz="1875" b="1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18253E"/>
                </a:solidFill>
                <a:latin typeface="Segoe UI"/>
                <a:ea typeface="Segoe UI"/>
                <a:cs typeface="Segoe UI"/>
              </a:rPr>
              <a:t>Bison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AF45045F-0DEF-404B-910B-9ACB6A669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924050"/>
            <a:ext cx="22669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EF4"/>
          </a:solidFill>
          <a:ln xmlns:a="http://schemas.openxmlformats.org/drawingml/2006/main" w="12383">
            <a:solidFill>
              <a:srgbClr val="315EF4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ctr">
              <a:buNone/>
              <a:defRPr sz="187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GCC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85EA4891-A5C3-47E7-A8E0-51A8C4C5F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924050"/>
            <a:ext cx="22669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AE1EF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ctr">
              <a:buNone/>
              <a:defRPr sz="1875" b="1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18253E"/>
                </a:solidFill>
                <a:latin typeface="Segoe UI"/>
                <a:ea typeface="Segoe UI"/>
                <a:cs typeface="Segoe UI"/>
              </a:rPr>
              <a:t>Execution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FDB29F4A-94D6-4FB1-857C-5ACDAE29A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00375"/>
            <a:ext cx="22669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0">
                <a:solidFill>
                  <a:srgbClr val="BCC9E4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buNone/>
              <a:defRPr sz="2025" b="0">
                <a:solidFill>
                  <a:srgbClr val="BCC9E4"/>
                </a:solidFill>
                <a:latin typeface="Segoe UI"/>
                <a:ea typeface="Segoe UI"/>
                <a:cs typeface="Segoe UI"/>
              </a:defRPr>
            </a:pPr>
            <a:r>
              <a:rPr sz="2025" b="0">
                <a:solidFill>
                  <a:srgbClr val="BCC9E4"/>
                </a:solidFill>
                <a:latin typeface="Segoe UI"/>
                <a:ea typeface="Segoe UI"/>
                <a:cs typeface="Segoe UI"/>
              </a:rPr>
              <a:t>lex.l produces</a:t>
            </a:r>
          </a:p>
          <a:p xmlns:a="http://schemas.openxmlformats.org/drawingml/2006/main">
            <a:pPr>
              <a:buNone/>
              <a:defRPr sz="2025" b="0">
                <a:solidFill>
                  <a:srgbClr val="BCC9E4"/>
                </a:solidFill>
                <a:latin typeface="Segoe UI"/>
                <a:ea typeface="Segoe UI"/>
                <a:cs typeface="Segoe UI"/>
              </a:defRPr>
            </a:pPr>
            <a:r>
              <a:rPr sz="2025" b="0">
                <a:solidFill>
                  <a:srgbClr val="BCC9E4"/>
                </a:solidFill>
                <a:latin typeface="Segoe UI"/>
                <a:ea typeface="Segoe UI"/>
                <a:cs typeface="Segoe UI"/>
              </a:rPr>
              <a:t>lex.yy.c.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B346BFCA-83B2-4D12-9666-3D5B3B8A8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000375"/>
            <a:ext cx="2476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0">
                <a:solidFill>
                  <a:srgbClr val="BCC9E4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buNone/>
              <a:defRPr sz="2025" b="0">
                <a:solidFill>
                  <a:srgbClr val="BCC9E4"/>
                </a:solidFill>
                <a:latin typeface="Segoe UI"/>
                <a:ea typeface="Segoe UI"/>
                <a:cs typeface="Segoe UI"/>
              </a:defRPr>
            </a:pPr>
            <a:r>
              <a:rPr sz="2025" b="0">
                <a:solidFill>
                  <a:srgbClr val="BCC9E4"/>
                </a:solidFill>
                <a:latin typeface="Segoe UI"/>
                <a:ea typeface="Segoe UI"/>
                <a:cs typeface="Segoe UI"/>
              </a:rPr>
              <a:t>parser.y produces</a:t>
            </a:r>
          </a:p>
          <a:p xmlns:a="http://schemas.openxmlformats.org/drawingml/2006/main">
            <a:pPr>
              <a:buNone/>
              <a:defRPr sz="2025" b="0">
                <a:solidFill>
                  <a:srgbClr val="BCC9E4"/>
                </a:solidFill>
                <a:latin typeface="Segoe UI"/>
                <a:ea typeface="Segoe UI"/>
                <a:cs typeface="Segoe UI"/>
              </a:defRPr>
            </a:pPr>
            <a:r>
              <a:rPr sz="2025" b="0">
                <a:solidFill>
                  <a:srgbClr val="BCC9E4"/>
                </a:solidFill>
                <a:latin typeface="Segoe UI"/>
                <a:ea typeface="Segoe UI"/>
                <a:cs typeface="Segoe UI"/>
              </a:rPr>
              <a:t>parser.tab.c and</a:t>
            </a:r>
          </a:p>
          <a:p xmlns:a="http://schemas.openxmlformats.org/drawingml/2006/main">
            <a:pPr>
              <a:buNone/>
              <a:defRPr sz="2025" b="0">
                <a:solidFill>
                  <a:srgbClr val="BCC9E4"/>
                </a:solidFill>
                <a:latin typeface="Segoe UI"/>
                <a:ea typeface="Segoe UI"/>
                <a:cs typeface="Segoe UI"/>
              </a:defRPr>
            </a:pPr>
            <a:r>
              <a:rPr sz="2025" b="0">
                <a:solidFill>
                  <a:srgbClr val="BCC9E4"/>
                </a:solidFill>
                <a:latin typeface="Segoe UI"/>
                <a:ea typeface="Segoe UI"/>
                <a:cs typeface="Segoe UI"/>
              </a:rPr>
              <a:t>parser.tab.h.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D2B6EB42-7C35-4C2A-A360-47E625275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000375"/>
            <a:ext cx="24193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0">
                <a:solidFill>
                  <a:srgbClr val="BCC9E4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buNone/>
              <a:defRPr sz="2025" b="0">
                <a:solidFill>
                  <a:srgbClr val="BCC9E4"/>
                </a:solidFill>
                <a:latin typeface="Segoe UI"/>
                <a:ea typeface="Segoe UI"/>
                <a:cs typeface="Segoe UI"/>
              </a:defRPr>
            </a:pPr>
            <a:r>
              <a:rPr sz="2025" b="0">
                <a:solidFill>
                  <a:srgbClr val="BCC9E4"/>
                </a:solidFill>
                <a:latin typeface="Segoe UI"/>
                <a:ea typeface="Segoe UI"/>
                <a:cs typeface="Segoe UI"/>
              </a:rPr>
              <a:t>Generated C files</a:t>
            </a:r>
          </a:p>
          <a:p xmlns:a="http://schemas.openxmlformats.org/drawingml/2006/main">
            <a:pPr>
              <a:buNone/>
              <a:defRPr sz="2025" b="0">
                <a:solidFill>
                  <a:srgbClr val="BCC9E4"/>
                </a:solidFill>
                <a:latin typeface="Segoe UI"/>
                <a:ea typeface="Segoe UI"/>
                <a:cs typeface="Segoe UI"/>
              </a:defRPr>
            </a:pPr>
            <a:r>
              <a:rPr sz="2025" b="0">
                <a:solidFill>
                  <a:srgbClr val="BCC9E4"/>
                </a:solidFill>
                <a:latin typeface="Segoe UI"/>
                <a:ea typeface="Segoe UI"/>
                <a:cs typeface="Segoe UI"/>
              </a:rPr>
              <a:t>produce an executable</a:t>
            </a:r>
          </a:p>
          <a:p xmlns:a="http://schemas.openxmlformats.org/drawingml/2006/main">
            <a:pPr>
              <a:buNone/>
              <a:defRPr sz="2025" b="0">
                <a:solidFill>
                  <a:srgbClr val="BCC9E4"/>
                </a:solidFill>
                <a:latin typeface="Segoe UI"/>
                <a:ea typeface="Segoe UI"/>
                <a:cs typeface="Segoe UI"/>
              </a:defRPr>
            </a:pPr>
            <a:r>
              <a:rPr sz="2025" b="0">
                <a:solidFill>
                  <a:srgbClr val="BCC9E4"/>
                </a:solidFill>
                <a:latin typeface="Segoe UI"/>
                <a:ea typeface="Segoe UI"/>
                <a:cs typeface="Segoe UI"/>
              </a:rPr>
              <a:t>named compiler.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B64F9D58-F742-49B7-816D-A5F24C7E7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000375"/>
            <a:ext cx="23050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0">
                <a:solidFill>
                  <a:srgbClr val="BCC9E4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buNone/>
              <a:defRPr sz="2025" b="0">
                <a:solidFill>
                  <a:srgbClr val="BCC9E4"/>
                </a:solidFill>
                <a:latin typeface="Segoe UI"/>
                <a:ea typeface="Segoe UI"/>
                <a:cs typeface="Segoe UI"/>
              </a:defRPr>
            </a:pPr>
            <a:r>
              <a:rPr sz="2025" b="0">
                <a:solidFill>
                  <a:srgbClr val="BCC9E4"/>
                </a:solidFill>
                <a:latin typeface="Segoe UI"/>
                <a:ea typeface="Segoe UI"/>
                <a:cs typeface="Segoe UI"/>
              </a:rPr>
              <a:t>The executable reads</a:t>
            </a:r>
          </a:p>
          <a:p xmlns:a="http://schemas.openxmlformats.org/drawingml/2006/main">
            <a:pPr>
              <a:buNone/>
              <a:defRPr sz="2025" b="0">
                <a:solidFill>
                  <a:srgbClr val="BCC9E4"/>
                </a:solidFill>
                <a:latin typeface="Segoe UI"/>
                <a:ea typeface="Segoe UI"/>
                <a:cs typeface="Segoe UI"/>
              </a:defRPr>
            </a:pPr>
            <a:r>
              <a:rPr sz="2025" b="0">
                <a:solidFill>
                  <a:srgbClr val="BCC9E4"/>
                </a:solidFill>
                <a:latin typeface="Segoe UI"/>
                <a:ea typeface="Segoe UI"/>
                <a:cs typeface="Segoe UI"/>
              </a:rPr>
              <a:t>input.txt and writes</a:t>
            </a:r>
          </a:p>
          <a:p xmlns:a="http://schemas.openxmlformats.org/drawingml/2006/main">
            <a:pPr>
              <a:buNone/>
              <a:defRPr sz="2025" b="0">
                <a:solidFill>
                  <a:srgbClr val="BCC9E4"/>
                </a:solidFill>
                <a:latin typeface="Segoe UI"/>
                <a:ea typeface="Segoe UI"/>
                <a:cs typeface="Segoe UI"/>
              </a:defRPr>
            </a:pPr>
            <a:r>
              <a:rPr sz="2025" b="0">
                <a:solidFill>
                  <a:srgbClr val="BCC9E4"/>
                </a:solidFill>
                <a:latin typeface="Segoe UI"/>
                <a:ea typeface="Segoe UI"/>
                <a:cs typeface="Segoe UI"/>
              </a:rPr>
              <a:t>standard output.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B6293B5B-3E42-400D-871D-AA7F7D72D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buNone/>
              <a:defRPr sz="2175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2175" b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gcc</a:t>
            </a:r>
            <a:r>
              <a:rPr sz="2175" b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 -o compiler </a:t>
            </a:r>
            <a:r>
              <a:rPr sz="2175" b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lex.yy.c</a:t>
            </a:r>
            <a:r>
              <a:rPr sz="2175" b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2175" b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parser.tab.c</a:t>
            </a:r>
            <a:r>
              <a:rPr sz="2175" b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 -</a:t>
            </a:r>
            <a:r>
              <a:rPr sz="2175" b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lfl</a:t>
            </a:r>
            <a:r>
              <a:rPr sz="2175" b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 -</a:t>
            </a:r>
            <a:r>
              <a:rPr sz="2175" b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lm</a:t>
            </a:r>
            <a:endParaRPr sz="2175" b="0">
              <a:solidFill>
                <a:srgbClr val="FFFFFF"/>
              </a:solidFill>
              <a:latin typeface="Segoe UI"/>
              <a:ea typeface="Segoe UI"/>
              <a:cs typeface="Segoe UI"/>
            </a:endParaRP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2FAEAEF0-671C-4A9C-89F5-5B37BB54E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0">
                <a:solidFill>
                  <a:srgbClr val="BCC9E4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buNone/>
              <a:defRPr sz="1875" b="0">
                <a:solidFill>
                  <a:srgbClr val="BCC9E4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BCC9E4"/>
                </a:solidFill>
                <a:latin typeface="Segoe UI"/>
                <a:ea typeface="Segoe UI"/>
                <a:cs typeface="Segoe UI"/>
              </a:rPr>
              <a:t>The backend aligns parser-header references and regenerates the scanner before GCC runs.</a:t>
            </a:r>
          </a:p>
        </p:txBody>
      </p:sp>
    </p:spTree>
    <p:extLst>
      <p:ext uri="{BB962C8B-B14F-4D97-AF65-F5344CB8AC3E}">
        <p14:creationId xmlns:p14="http://schemas.microsoft.com/office/powerpoint/2010/main" val="105072542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6F8D4E9A-2B14-43FD-A2FB-3787E2816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450" b="1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buNone/>
              <a:defRPr sz="3450" b="1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pPr>
            <a:r>
              <a:rPr sz="3450" b="1">
                <a:solidFill>
                  <a:srgbClr val="18253E"/>
                </a:solidFill>
                <a:latin typeface="Segoe UI"/>
                <a:ea typeface="Segoe UI"/>
                <a:cs typeface="Segoe UI"/>
              </a:rPr>
              <a:t>Educational analysis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7A0BF4A4-6B2A-4016-8B8E-4D37AF5B2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91275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59667C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buNone/>
              <a:defRPr sz="1200" b="0">
                <a:solidFill>
                  <a:srgbClr val="59667C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59667C"/>
                </a:solidFill>
                <a:latin typeface="Segoe UI"/>
                <a:ea typeface="Segoe UI"/>
                <a:cs typeface="Segoe UI"/>
              </a:rPr>
              <a:t>12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F2373898-3447-4E3C-A1DF-B92AB8C10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581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625" b="1">
                <a:solidFill>
                  <a:srgbClr val="315EF4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buNone/>
              <a:defRPr sz="2625" b="1">
                <a:solidFill>
                  <a:srgbClr val="315EF4"/>
                </a:solidFill>
                <a:latin typeface="Segoe UI"/>
                <a:ea typeface="Segoe UI"/>
                <a:cs typeface="Segoe UI"/>
              </a:defRPr>
            </a:pPr>
            <a:r>
              <a:rPr sz="2625" b="1">
                <a:solidFill>
                  <a:srgbClr val="315EF4"/>
                </a:solidFill>
                <a:latin typeface="Segoe UI"/>
                <a:ea typeface="Segoe UI"/>
                <a:cs typeface="Segoe UI"/>
              </a:rPr>
              <a:t>Input: 3 + 5 * 2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9FAA2943-5B9F-45DF-83FD-AF4D4F0F0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90775"/>
            <a:ext cx="582930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400" b="0">
                <a:solidFill>
                  <a:srgbClr val="59667C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buNone/>
              <a:defRPr sz="2400" b="0">
                <a:solidFill>
                  <a:srgbClr val="59667C"/>
                </a:solidFill>
                <a:latin typeface="Segoe UI"/>
                <a:ea typeface="Segoe UI"/>
                <a:cs typeface="Segoe UI"/>
              </a:defRPr>
            </a:pPr>
            <a:r>
              <a:rPr sz="2400" b="0">
                <a:solidFill>
                  <a:srgbClr val="59667C"/>
                </a:solidFill>
                <a:latin typeface="Segoe UI"/>
                <a:ea typeface="Segoe UI"/>
                <a:cs typeface="Segoe UI"/>
              </a:rPr>
              <a:t>The built-in parser groups multiplication before addition and constructs an abstract syntax tree.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51C05D0B-6787-470C-912D-62A70E77B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33850"/>
            <a:ext cx="5829300" cy="1343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0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buNone/>
              <a:defRPr sz="2175" b="0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pPr>
            <a:r>
              <a:rPr sz="2175" b="0">
                <a:solidFill>
                  <a:srgbClr val="18253E"/>
                </a:solidFill>
                <a:latin typeface="Segoe UI"/>
                <a:ea typeface="Segoe UI"/>
                <a:cs typeface="Segoe UI"/>
              </a:rPr>
              <a:t>The analyzer also derives scoped symbols, three-address code, optimization results, and basic blocks.</a:t>
            </a:r>
          </a:p>
        </p:txBody>
      </p:sp>
      <p:pic>
        <p:nvPicPr>
          <p:cNvPr id="6" name="Picture 5">
            <a:extLst xmlns:a="http://schemas.openxmlformats.org/drawingml/2006/main">
              <a:ext uri="{FF2B5EF4-FFF2-40B4-BE49-F238E27FC236}">
                <a16:creationId xmlns:a16="http://schemas.microsoft.com/office/drawing/2014/main" id="{6C16C4B3-3BF9-4FB7-A51D-4B1357A77E4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1a6549a1054052"/>
          <a:stretch xmlns:a="http://schemas.openxmlformats.org/drawingml/2006/main"/>
        </p:blipFill>
        <p:spPr>
          <a:xfrm xmlns:a="http://schemas.openxmlformats.org/drawingml/2006/main">
            <a:off x="7107267" y="1657350"/>
            <a:ext cx="4454465" cy="3886200"/>
          </a:xfrm>
          <a:prstGeom xmlns:a="http://schemas.openxmlformats.org/drawingml/2006/main" prst="rect">
            <a:avLst/>
          </a:prstGeom>
        </p:spPr>
      </p:pic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BBDE4A47-5EDC-48B4-80FA-02AA994DC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2455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0">
                <a:solidFill>
                  <a:srgbClr val="59667C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buNone/>
              <a:defRPr sz="1800" b="0">
                <a:solidFill>
                  <a:srgbClr val="59667C"/>
                </a:solidFill>
                <a:latin typeface="Segoe UI"/>
                <a:ea typeface="Segoe UI"/>
                <a:cs typeface="Segoe UI"/>
              </a:defRPr>
            </a:pPr>
            <a:r>
              <a:rPr sz="1800" b="0">
                <a:solidFill>
                  <a:srgbClr val="59667C"/>
                </a:solidFill>
                <a:latin typeface="Segoe UI"/>
                <a:ea typeface="Segoe UI"/>
                <a:cs typeface="Segoe UI"/>
              </a:rPr>
              <a:t>Educational analysis uses Lexora’s supported C subset. Native execution follows the submitted specifications.</a:t>
            </a:r>
          </a:p>
        </p:txBody>
      </p:sp>
    </p:spTree>
    <p:extLst>
      <p:ext uri="{BB962C8B-B14F-4D97-AF65-F5344CB8AC3E}">
        <p14:creationId xmlns:p14="http://schemas.microsoft.com/office/powerpoint/2010/main" val="25304998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4" name="Straight Arrow Connector 13">
            <a:extLst xmlns:a="http://schemas.openxmlformats.org/drawingml/2006/main">
              <a:ext uri="{FF2B5EF4-FFF2-40B4-BE49-F238E27FC236}">
                <a16:creationId xmlns:a16="http://schemas.microsoft.com/office/drawing/2014/main" id="{789455CC-7986-4C27-9C2E-C6CFDE7897C3}"/>
              </a:ext>
            </a:extLst>
          </p:cNvPr>
          <p:cNvCxnSpPr>
            <a:stCxn xmlns:a="http://schemas.openxmlformats.org/drawingml/2006/main" id="7" idx="2"/>
            <a:endCxn xmlns:a="http://schemas.openxmlformats.org/drawingml/2006/main" id="9" idx="0"/>
          </p:cNvCxnSpPr>
          <p:nvPr/>
        </p:nvCxnSpPr>
        <p:spPr>
          <a:xfrm xmlns:a="http://schemas.openxmlformats.org/drawingml/2006/main">
            <a:off x="3829050" y="5181600"/>
            <a:ext cx="790575" cy="43815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315EF4"/>
            </a:solidFill>
            <a:tailEnd type="triangle" w="med" len="med"/>
          </a:ln>
        </p:spPr>
      </p:cxnSp>
      <p:cxnSp>
        <p:nvCxnSpPr>
          <p:cNvPr id="13" name="Straight Arrow Connector 12">
            <a:extLst xmlns:a="http://schemas.openxmlformats.org/drawingml/2006/main">
              <a:ext uri="{FF2B5EF4-FFF2-40B4-BE49-F238E27FC236}">
                <a16:creationId xmlns:a16="http://schemas.microsoft.com/office/drawing/2014/main" id="{224F69E7-505F-4E04-AABC-DCFE422B4202}"/>
              </a:ext>
            </a:extLst>
          </p:cNvPr>
          <p:cNvCxnSpPr>
            <a:stCxn xmlns:a="http://schemas.openxmlformats.org/drawingml/2006/main" id="7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 flipH="1">
            <a:off x="3114675" y="5181600"/>
            <a:ext cx="714375" cy="43815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315EF4"/>
            </a:solidFill>
            <a:tailEnd type="triangle" w="med" len="med"/>
          </a:ln>
        </p:spPr>
      </p:cxnSp>
      <p:cxnSp>
        <p:nvCxnSpPr>
          <p:cNvPr id="12" name="Straight Arrow Connector 11">
            <a:extLst xmlns:a="http://schemas.openxmlformats.org/drawingml/2006/main">
              <a:ext uri="{FF2B5EF4-FFF2-40B4-BE49-F238E27FC236}">
                <a16:creationId xmlns:a16="http://schemas.microsoft.com/office/drawing/2014/main" id="{D58EDC26-85F9-4E2C-B289-2DEEBAB539C4}"/>
              </a:ext>
            </a:extLst>
          </p:cNvPr>
          <p:cNvCxnSpPr>
            <a:stCxn xmlns:a="http://schemas.openxmlformats.org/drawingml/2006/main" id="5" idx="2"/>
            <a:endCxn xmlns:a="http://schemas.openxmlformats.org/drawingml/2006/main" id="7" idx="0"/>
          </p:cNvCxnSpPr>
          <p:nvPr/>
        </p:nvCxnSpPr>
        <p:spPr>
          <a:xfrm xmlns:a="http://schemas.openxmlformats.org/drawingml/2006/main">
            <a:off x="2447925" y="4143375"/>
            <a:ext cx="1381125" cy="51435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315EF4"/>
            </a:solidFill>
            <a:tailEnd type="triangle" w="med" len="med"/>
          </a:ln>
        </p:spPr>
      </p:cxnSp>
      <p:cxnSp>
        <p:nvCxnSpPr>
          <p:cNvPr id="11" name="Straight Arrow Connector 10">
            <a:extLst xmlns:a="http://schemas.openxmlformats.org/drawingml/2006/main">
              <a:ext uri="{FF2B5EF4-FFF2-40B4-BE49-F238E27FC236}">
                <a16:creationId xmlns:a16="http://schemas.microsoft.com/office/drawing/2014/main" id="{74AEB230-08EC-4E61-9577-84813B6A6C24}"/>
              </a:ext>
            </a:extLst>
          </p:cNvPr>
          <p:cNvCxnSpPr>
            <a:stCxn xmlns:a="http://schemas.openxmlformats.org/drawingml/2006/main" id="5" idx="2"/>
            <a:endCxn xmlns:a="http://schemas.openxmlformats.org/drawingml/2006/main" id="6" idx="0"/>
          </p:cNvCxnSpPr>
          <p:nvPr/>
        </p:nvCxnSpPr>
        <p:spPr>
          <a:xfrm xmlns:a="http://schemas.openxmlformats.org/drawingml/2006/main" flipH="1">
            <a:off x="1152525" y="4143375"/>
            <a:ext cx="1295400" cy="51435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315EF4"/>
            </a:solidFill>
            <a:tailEnd type="triangle" w="med" len="med"/>
          </a:ln>
        </p:spPr>
      </p:cxnSp>
      <p:cxnSp>
        <p:nvCxnSpPr>
          <p:cNvPr id="10" name="Straight Arrow Connector 9">
            <a:extLst xmlns:a="http://schemas.openxmlformats.org/drawingml/2006/main">
              <a:ext uri="{FF2B5EF4-FFF2-40B4-BE49-F238E27FC236}">
                <a16:creationId xmlns:a16="http://schemas.microsoft.com/office/drawing/2014/main" id="{8ADD5E64-C061-444A-A152-B3C85AD24AF8}"/>
              </a:ext>
            </a:extLst>
          </p:cNvPr>
          <p:cNvCxnSpPr>
            <a:stCxn xmlns:a="http://schemas.openxmlformats.org/drawingml/2006/main" id="4" idx="2"/>
            <a:endCxn xmlns:a="http://schemas.openxmlformats.org/drawingml/2006/main" id="5" idx="0"/>
          </p:cNvCxnSpPr>
          <p:nvPr/>
        </p:nvCxnSpPr>
        <p:spPr>
          <a:xfrm xmlns:a="http://schemas.openxmlformats.org/drawingml/2006/main">
            <a:off x="2447925" y="3152775"/>
            <a:ext cx="0" cy="41910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315EF4"/>
            </a:solidFill>
            <a:tailEnd type="triangle" w="med" len="med"/>
          </a:ln>
        </p:spPr>
      </p:cxn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54784E8A-0BEE-49CE-8352-4A1E07A09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450" b="1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buNone/>
              <a:defRPr sz="3450" b="1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pPr>
            <a:r>
              <a:rPr sz="3450" b="1">
                <a:solidFill>
                  <a:srgbClr val="18253E"/>
                </a:solidFill>
                <a:latin typeface="Segoe UI"/>
                <a:ea typeface="Segoe UI"/>
                <a:cs typeface="Segoe UI"/>
              </a:rPr>
              <a:t>Worked example: intermediate code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A5B142C4-3564-4BBF-A1B3-1908211A5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91275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59667C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buNone/>
              <a:defRPr sz="1200" b="0">
                <a:solidFill>
                  <a:srgbClr val="59667C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59667C"/>
                </a:solidFill>
                <a:latin typeface="Segoe UI"/>
                <a:ea typeface="Segoe UI"/>
                <a:cs typeface="Segoe UI"/>
              </a:rPr>
              <a:t>13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23FB7813-2360-498C-9758-020A8777D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700" b="1">
                <a:solidFill>
                  <a:srgbClr val="315EF4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buNone/>
              <a:defRPr sz="2700" b="1">
                <a:solidFill>
                  <a:srgbClr val="315EF4"/>
                </a:solidFill>
                <a:latin typeface="Segoe UI"/>
                <a:ea typeface="Segoe UI"/>
                <a:cs typeface="Segoe UI"/>
              </a:defRPr>
            </a:pPr>
            <a:r>
              <a:rPr sz="2700" b="1">
                <a:solidFill>
                  <a:srgbClr val="315EF4"/>
                </a:solidFill>
                <a:latin typeface="Segoe UI"/>
                <a:ea typeface="Segoe UI"/>
                <a:cs typeface="Segoe UI"/>
              </a:rPr>
              <a:t>int x = 2 + 3 * 4;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050CCAAD-FDAD-46FE-BD87-EAB120245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2524125"/>
            <a:ext cx="2667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EF4"/>
          </a:solidFill>
          <a:ln xmlns:a="http://schemas.openxmlformats.org/drawingml/2006/main" w="12383">
            <a:solidFill>
              <a:srgbClr val="315EF4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ctr">
              <a:buNone/>
              <a:defRPr sz="187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Declare x : int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FD0EFC84-7BC1-4A4A-AE3A-4E5E504CA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6425" y="3571875"/>
            <a:ext cx="1143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F"/>
          </a:solidFill>
          <a:ln xmlns:a="http://schemas.openxmlformats.org/drawingml/2006/main" w="12383">
            <a:solidFill>
              <a:srgbClr val="315EF4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ctr">
              <a:buNone/>
              <a:defRPr sz="1875" b="1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18253E"/>
                </a:solidFill>
                <a:latin typeface="Segoe UI"/>
                <a:ea typeface="Segoe UI"/>
                <a:cs typeface="Segoe UI"/>
              </a:rPr>
              <a:t>+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78387C4D-71A7-4B65-9DFA-35312C79C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57725"/>
            <a:ext cx="8572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F"/>
          </a:solidFill>
          <a:ln xmlns:a="http://schemas.openxmlformats.org/drawingml/2006/main" w="12383">
            <a:solidFill>
              <a:srgbClr val="315EF4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ctr">
              <a:buNone/>
              <a:defRPr sz="1875" b="1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18253E"/>
                </a:solidFill>
                <a:latin typeface="Segoe UI"/>
                <a:ea typeface="Segoe UI"/>
                <a:cs typeface="Segoe UI"/>
              </a:rPr>
              <a:t>2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AA3CF39F-5DD1-4F93-8688-770400C27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4657725"/>
            <a:ext cx="8572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F"/>
          </a:solidFill>
          <a:ln xmlns:a="http://schemas.openxmlformats.org/drawingml/2006/main" w="12383">
            <a:solidFill>
              <a:srgbClr val="315EF4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ctr">
              <a:buNone/>
              <a:defRPr sz="1875" b="1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18253E"/>
                </a:solidFill>
                <a:latin typeface="Segoe UI"/>
                <a:ea typeface="Segoe UI"/>
                <a:cs typeface="Segoe UI"/>
              </a:rPr>
              <a:t>*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6A774200-1830-4E69-BDE6-FF3530874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5619750"/>
            <a:ext cx="7429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F"/>
          </a:solidFill>
          <a:ln xmlns:a="http://schemas.openxmlformats.org/drawingml/2006/main" w="12383">
            <a:solidFill>
              <a:srgbClr val="315EF4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ctr">
              <a:buNone/>
              <a:defRPr sz="1875" b="1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18253E"/>
                </a:solidFill>
                <a:latin typeface="Segoe UI"/>
                <a:ea typeface="Segoe UI"/>
                <a:cs typeface="Segoe UI"/>
              </a:rPr>
              <a:t>3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481205E7-5743-419D-9F41-233B9EB64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5619750"/>
            <a:ext cx="7429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F"/>
          </a:solidFill>
          <a:ln xmlns:a="http://schemas.openxmlformats.org/drawingml/2006/main" w="12383">
            <a:solidFill>
              <a:srgbClr val="315EF4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ctr">
              <a:buNone/>
              <a:defRPr sz="1875" b="1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18253E"/>
                </a:solidFill>
                <a:latin typeface="Segoe UI"/>
                <a:ea typeface="Segoe UI"/>
                <a:cs typeface="Segoe UI"/>
              </a:rPr>
              <a:t>4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3C384A4E-857F-4EC8-BB8E-E21AF83E4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514600"/>
            <a:ext cx="266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250" b="1">
                <a:solidFill>
                  <a:srgbClr val="315EF4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buNone/>
              <a:defRPr sz="2250" b="1">
                <a:solidFill>
                  <a:srgbClr val="315EF4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315EF4"/>
                </a:solidFill>
                <a:latin typeface="Segoe UI"/>
                <a:ea typeface="Segoe UI"/>
                <a:cs typeface="Segoe UI"/>
              </a:rPr>
              <a:t>Original TAC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F4DF4E9F-FAF4-482E-8858-A18A07C6A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124200"/>
            <a:ext cx="5048250" cy="1419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475" b="0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buNone/>
              <a:defRPr sz="2475" b="0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pPr>
            <a:r>
              <a:rPr sz="2475" b="0">
                <a:solidFill>
                  <a:srgbClr val="18253E"/>
                </a:solidFill>
                <a:latin typeface="Segoe UI"/>
                <a:ea typeface="Segoe UI"/>
                <a:cs typeface="Segoe UI"/>
              </a:rPr>
              <a:t>t1 = 3 * 4</a:t>
            </a:r>
          </a:p>
          <a:p xmlns:a="http://schemas.openxmlformats.org/drawingml/2006/main">
            <a:pPr>
              <a:buNone/>
              <a:defRPr sz="2475" b="0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pPr>
            <a:r>
              <a:rPr sz="2475" b="0">
                <a:solidFill>
                  <a:srgbClr val="18253E"/>
                </a:solidFill>
                <a:latin typeface="Segoe UI"/>
                <a:ea typeface="Segoe UI"/>
                <a:cs typeface="Segoe UI"/>
              </a:rPr>
              <a:t>t2 = 2 + t1</a:t>
            </a:r>
          </a:p>
          <a:p xmlns:a="http://schemas.openxmlformats.org/drawingml/2006/main">
            <a:pPr>
              <a:buNone/>
              <a:defRPr sz="2475" b="0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pPr>
            <a:r>
              <a:rPr sz="2475" b="0">
                <a:solidFill>
                  <a:srgbClr val="18253E"/>
                </a:solidFill>
                <a:latin typeface="Segoe UI"/>
                <a:ea typeface="Segoe UI"/>
                <a:cs typeface="Segoe UI"/>
              </a:rPr>
              <a:t>x = t2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01F66320-D3AF-451F-A9DA-D07F264F5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514600"/>
            <a:ext cx="247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250" b="1">
                <a:solidFill>
                  <a:srgbClr val="315EF4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buNone/>
              <a:defRPr sz="2250" b="1">
                <a:solidFill>
                  <a:srgbClr val="315EF4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315EF4"/>
                </a:solidFill>
                <a:latin typeface="Segoe UI"/>
                <a:ea typeface="Segoe UI"/>
                <a:cs typeface="Segoe UI"/>
              </a:rPr>
              <a:t>Optimized TAC</a:t>
            </a: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793C704F-DF52-45ED-96FD-839A56A89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124200"/>
            <a:ext cx="2333625" cy="1419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475" b="0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buNone/>
              <a:defRPr sz="2475" b="0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pPr>
            <a:r>
              <a:rPr sz="2475" b="0">
                <a:solidFill>
                  <a:srgbClr val="18253E"/>
                </a:solidFill>
                <a:latin typeface="Segoe UI"/>
                <a:ea typeface="Segoe UI"/>
                <a:cs typeface="Segoe UI"/>
              </a:rPr>
              <a:t>t1 = 12</a:t>
            </a:r>
          </a:p>
          <a:p xmlns:a="http://schemas.openxmlformats.org/drawingml/2006/main">
            <a:pPr>
              <a:buNone/>
              <a:defRPr sz="2475" b="0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pPr>
            <a:r>
              <a:rPr sz="2475" b="0">
                <a:solidFill>
                  <a:srgbClr val="18253E"/>
                </a:solidFill>
                <a:latin typeface="Segoe UI"/>
                <a:ea typeface="Segoe UI"/>
                <a:cs typeface="Segoe UI"/>
              </a:rPr>
              <a:t>t2 = 14</a:t>
            </a:r>
          </a:p>
          <a:p xmlns:a="http://schemas.openxmlformats.org/drawingml/2006/main">
            <a:pPr>
              <a:buNone/>
              <a:defRPr sz="2475" b="0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pPr>
            <a:r>
              <a:rPr sz="2475" b="0">
                <a:solidFill>
                  <a:srgbClr val="18253E"/>
                </a:solidFill>
                <a:latin typeface="Segoe UI"/>
                <a:ea typeface="Segoe UI"/>
                <a:cs typeface="Segoe UI"/>
              </a:rPr>
              <a:t>x = 14</a:t>
            </a:r>
          </a:p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0703D417-2F83-4930-97C6-58E8E8B10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962525"/>
            <a:ext cx="541020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950" b="0">
                <a:solidFill>
                  <a:srgbClr val="59667C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buNone/>
              <a:defRPr sz="1950" b="0">
                <a:solidFill>
                  <a:srgbClr val="59667C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9667C"/>
                </a:solidFill>
                <a:latin typeface="Segoe UI"/>
                <a:ea typeface="Segoe UI"/>
                <a:cs typeface="Segoe UI"/>
              </a:rPr>
              <a:t>Constant folding evaluates arithmetic.</a:t>
            </a:r>
          </a:p>
          <a:p xmlns:a="http://schemas.openxmlformats.org/drawingml/2006/main">
            <a:pPr>
              <a:buNone/>
              <a:defRPr sz="1950" b="0">
                <a:solidFill>
                  <a:srgbClr val="59667C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9667C"/>
                </a:solidFill>
                <a:latin typeface="Segoe UI"/>
                <a:ea typeface="Segoe UI"/>
                <a:cs typeface="Segoe UI"/>
              </a:rPr>
              <a:t>Constant propagation substitutes known values.</a:t>
            </a:r>
          </a:p>
        </p:txBody>
      </p:sp>
    </p:spTree>
    <p:extLst>
      <p:ext uri="{BB962C8B-B14F-4D97-AF65-F5344CB8AC3E}">
        <p14:creationId xmlns:p14="http://schemas.microsoft.com/office/powerpoint/2010/main" val="50971196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1" name="Connector: Elbow 10">
            <a:extLst xmlns:a="http://schemas.openxmlformats.org/drawingml/2006/main">
              <a:ext uri="{FF2B5EF4-FFF2-40B4-BE49-F238E27FC236}">
                <a16:creationId xmlns:a16="http://schemas.microsoft.com/office/drawing/2014/main" id="{4FAFC512-8486-4263-8B30-BFB6C7861455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8" idx="3"/>
          </p:cNvCxnSpPr>
          <p:nvPr/>
        </p:nvCxnSpPr>
        <p:spPr>
          <a:xfrm xmlns:a="http://schemas.openxmlformats.org/drawingml/2006/main">
            <a:off x="10382250" y="2400300"/>
            <a:ext cx="1257300" cy="3524250"/>
          </a:xfrm>
          <a:prstGeom xmlns:a="http://schemas.openxmlformats.org/drawingml/2006/main" prst="bentConnector4">
            <a:avLst/>
          </a:prstGeom>
          <a:ln xmlns:a="http://schemas.openxmlformats.org/drawingml/2006/main" w="22860">
            <a:solidFill>
              <a:srgbClr val="315EF4"/>
            </a:solidFill>
            <a:tailEnd type="triangle" w="med" len="med"/>
          </a:ln>
        </p:spPr>
      </p:cxnSp>
      <p:cxnSp>
        <p:nvCxnSpPr>
          <p:cNvPr id="10" name="Straight Arrow Connector 9">
            <a:extLst xmlns:a="http://schemas.openxmlformats.org/drawingml/2006/main">
              <a:ext uri="{FF2B5EF4-FFF2-40B4-BE49-F238E27FC236}">
                <a16:creationId xmlns:a16="http://schemas.microsoft.com/office/drawing/2014/main" id="{FB2CF864-2D52-4C38-8A1C-3A0B1B76FE75}"/>
              </a:ext>
            </a:extLst>
          </p:cNvPr>
          <p:cNvCxnSpPr>
            <a:stCxn xmlns:a="http://schemas.openxmlformats.org/drawingml/2006/main" id="7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>
            <a:off x="8477250" y="4953000"/>
            <a:ext cx="0" cy="66675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315EF4"/>
            </a:solidFill>
            <a:tailEnd type="triangle" w="med" len="med"/>
          </a:ln>
        </p:spPr>
      </p:cxnSp>
      <p:cxnSp>
        <p:nvCxnSpPr>
          <p:cNvPr id="9" name="Straight Arrow Connector 8">
            <a:extLst xmlns:a="http://schemas.openxmlformats.org/drawingml/2006/main">
              <a:ext uri="{FF2B5EF4-FFF2-40B4-BE49-F238E27FC236}">
                <a16:creationId xmlns:a16="http://schemas.microsoft.com/office/drawing/2014/main" id="{B54578CC-870F-42DA-BE60-C77D107DF631}"/>
              </a:ext>
            </a:extLst>
          </p:cNvPr>
          <p:cNvCxnSpPr>
            <a:stCxn xmlns:a="http://schemas.openxmlformats.org/drawingml/2006/main" id="6" idx="2"/>
            <a:endCxn xmlns:a="http://schemas.openxmlformats.org/drawingml/2006/main" id="7" idx="0"/>
          </p:cNvCxnSpPr>
          <p:nvPr/>
        </p:nvCxnSpPr>
        <p:spPr>
          <a:xfrm xmlns:a="http://schemas.openxmlformats.org/drawingml/2006/main">
            <a:off x="8477250" y="3152775"/>
            <a:ext cx="0" cy="70485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315EF4"/>
            </a:solidFill>
            <a:tailEnd type="triangle" w="med" len="med"/>
          </a:ln>
        </p:spPr>
      </p:cxn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C4EAF129-7003-420C-8170-857A2FF6D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450" b="1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buNone/>
              <a:defRPr sz="3450" b="1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pPr>
            <a:r>
              <a:rPr sz="3450" b="1">
                <a:solidFill>
                  <a:srgbClr val="18253E"/>
                </a:solidFill>
                <a:latin typeface="Segoe UI"/>
                <a:ea typeface="Segoe UI"/>
                <a:cs typeface="Segoe UI"/>
              </a:rPr>
              <a:t>Basic blocks and control flow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FB2A9C67-9772-45AF-8517-9164F9F9E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91275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59667C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buNone/>
              <a:defRPr sz="1200" b="0">
                <a:solidFill>
                  <a:srgbClr val="59667C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59667C"/>
                </a:solidFill>
                <a:latin typeface="Segoe UI"/>
                <a:ea typeface="Segoe UI"/>
                <a:cs typeface="Segoe UI"/>
              </a:rPr>
              <a:t>14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DC803F55-B4FC-4E34-9ABD-61855D4F7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54292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475" b="1">
                <a:solidFill>
                  <a:srgbClr val="315EF4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buNone/>
              <a:defRPr sz="2475" b="1">
                <a:solidFill>
                  <a:srgbClr val="315EF4"/>
                </a:solidFill>
                <a:latin typeface="Segoe UI"/>
                <a:ea typeface="Segoe UI"/>
                <a:cs typeface="Segoe UI"/>
              </a:defRPr>
            </a:pPr>
            <a:r>
              <a:rPr sz="2475" b="1">
                <a:solidFill>
                  <a:srgbClr val="315EF4"/>
                </a:solidFill>
                <a:latin typeface="Segoe UI"/>
                <a:ea typeface="Segoe UI"/>
                <a:cs typeface="Segoe UI"/>
              </a:rPr>
              <a:t>int x = 1;</a:t>
            </a:r>
          </a:p>
          <a:p xmlns:a="http://schemas.openxmlformats.org/drawingml/2006/main">
            <a:pPr>
              <a:buNone/>
              <a:defRPr sz="2475" b="1">
                <a:solidFill>
                  <a:srgbClr val="315EF4"/>
                </a:solidFill>
                <a:latin typeface="Segoe UI"/>
                <a:ea typeface="Segoe UI"/>
                <a:cs typeface="Segoe UI"/>
              </a:defRPr>
            </a:pPr>
            <a:r>
              <a:rPr sz="2475" b="1">
                <a:solidFill>
                  <a:srgbClr val="315EF4"/>
                </a:solidFill>
                <a:latin typeface="Segoe UI"/>
                <a:ea typeface="Segoe UI"/>
                <a:cs typeface="Segoe UI"/>
              </a:rPr>
              <a:t>if (x &lt; 3) { x = x + 1; }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373BD8FF-3D3D-4DAA-8F4C-BAB2C7353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95675"/>
            <a:ext cx="5057775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0">
                <a:solidFill>
                  <a:srgbClr val="59667C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buNone/>
              <a:defRPr sz="2325" b="0">
                <a:solidFill>
                  <a:srgbClr val="59667C"/>
                </a:solidFill>
                <a:latin typeface="Segoe UI"/>
                <a:ea typeface="Segoe UI"/>
                <a:cs typeface="Segoe UI"/>
              </a:defRPr>
            </a:pPr>
            <a:r>
              <a:rPr sz="2325" b="0">
                <a:solidFill>
                  <a:srgbClr val="59667C"/>
                </a:solidFill>
                <a:latin typeface="Segoe UI"/>
                <a:ea typeface="Segoe UI"/>
                <a:cs typeface="Segoe UI"/>
              </a:rPr>
              <a:t>A basic block contains consecutive instructions with no internal branch.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9C343476-04B9-4312-ACF6-9B10DB3D0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24450"/>
            <a:ext cx="50577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0">
                <a:solidFill>
                  <a:srgbClr val="59667C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buNone/>
              <a:defRPr sz="2025" b="0">
                <a:solidFill>
                  <a:srgbClr val="59667C"/>
                </a:solidFill>
                <a:latin typeface="Segoe UI"/>
                <a:ea typeface="Segoe UI"/>
                <a:cs typeface="Segoe UI"/>
              </a:defRPr>
            </a:pPr>
            <a:r>
              <a:rPr sz="2025" b="0">
                <a:solidFill>
                  <a:srgbClr val="59667C"/>
                </a:solidFill>
                <a:latin typeface="Segoe UI"/>
                <a:ea typeface="Segoe UI"/>
                <a:cs typeface="Segoe UI"/>
              </a:rPr>
              <a:t>Lexora identifies block leaders and records the successor relationships in the original TAC.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10D816EF-AC7A-4645-875E-448304F04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647825"/>
            <a:ext cx="381000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EF4"/>
          </a:solidFill>
          <a:ln xmlns:a="http://schemas.openxmlformats.org/drawingml/2006/main" w="12383">
            <a:solidFill>
              <a:srgbClr val="315EF4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19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ctr">
              <a:buNone/>
              <a:defRPr sz="19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9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B1: Test condition</a:t>
            </a:r>
          </a:p>
          <a:p xmlns:a="http://schemas.openxmlformats.org/drawingml/2006/main">
            <a:pPr algn="ctr">
              <a:buNone/>
              <a:defRPr sz="19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9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x = 1</a:t>
            </a:r>
          </a:p>
          <a:p xmlns:a="http://schemas.openxmlformats.org/drawingml/2006/main">
            <a:pPr algn="ctr">
              <a:buNone/>
              <a:defRPr sz="19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9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t1 = x &lt; 3</a:t>
            </a:r>
          </a:p>
          <a:p xmlns:a="http://schemas.openxmlformats.org/drawingml/2006/main">
            <a:pPr algn="ctr">
              <a:buNone/>
              <a:defRPr sz="19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9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ifFalse t1 goto L1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A466E6C0-527C-428D-A4F3-F606E5B11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857625"/>
            <a:ext cx="381000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F"/>
          </a:solidFill>
          <a:ln xmlns:a="http://schemas.openxmlformats.org/drawingml/2006/main" w="12383">
            <a:solidFill>
              <a:srgbClr val="315EF4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1950" b="1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ctr">
              <a:buNone/>
              <a:defRPr sz="1950" b="1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pPr>
            <a:r>
              <a:rPr sz="1950" b="1">
                <a:solidFill>
                  <a:srgbClr val="18253E"/>
                </a:solidFill>
                <a:latin typeface="Segoe UI"/>
                <a:ea typeface="Segoe UI"/>
                <a:cs typeface="Segoe UI"/>
              </a:rPr>
              <a:t>B2: Execute body</a:t>
            </a:r>
          </a:p>
          <a:p xmlns:a="http://schemas.openxmlformats.org/drawingml/2006/main">
            <a:pPr algn="ctr">
              <a:buNone/>
              <a:defRPr sz="1950" b="1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pPr>
            <a:r>
              <a:rPr sz="1950" b="1">
                <a:solidFill>
                  <a:srgbClr val="18253E"/>
                </a:solidFill>
                <a:latin typeface="Segoe UI"/>
                <a:ea typeface="Segoe UI"/>
                <a:cs typeface="Segoe UI"/>
              </a:rPr>
              <a:t>t2 = x + 1</a:t>
            </a:r>
          </a:p>
          <a:p xmlns:a="http://schemas.openxmlformats.org/drawingml/2006/main">
            <a:pPr algn="ctr">
              <a:buNone/>
              <a:defRPr sz="1950" b="1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pPr>
            <a:r>
              <a:rPr sz="1950" b="1">
                <a:solidFill>
                  <a:srgbClr val="18253E"/>
                </a:solidFill>
                <a:latin typeface="Segoe UI"/>
                <a:ea typeface="Segoe UI"/>
                <a:cs typeface="Segoe UI"/>
              </a:rPr>
              <a:t>x = t2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2B01BA1F-E1AF-4FA2-BF7E-D6DDD045B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619750"/>
            <a:ext cx="3810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AE1EF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ctr">
              <a:buNone/>
              <a:defRPr sz="1725" b="1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pPr>
            <a:r>
              <a:rPr sz="1725" b="1">
                <a:solidFill>
                  <a:srgbClr val="18253E"/>
                </a:solidFill>
                <a:latin typeface="Segoe UI"/>
                <a:ea typeface="Segoe UI"/>
                <a:cs typeface="Segoe UI"/>
              </a:rPr>
              <a:t>B3: Continue</a:t>
            </a:r>
          </a:p>
          <a:p xmlns:a="http://schemas.openxmlformats.org/drawingml/2006/main">
            <a:pPr algn="ctr">
              <a:buNone/>
              <a:defRPr sz="1725" b="1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pPr>
            <a:r>
              <a:rPr sz="1725" b="1">
                <a:solidFill>
                  <a:srgbClr val="18253E"/>
                </a:solidFill>
                <a:latin typeface="Segoe UI"/>
                <a:ea typeface="Segoe UI"/>
                <a:cs typeface="Segoe UI"/>
              </a:rPr>
              <a:t>L1: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8A884189-62B0-4A8D-B33E-C21E37550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314700"/>
            <a:ext cx="1047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1">
                <a:solidFill>
                  <a:srgbClr val="315EF4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buNone/>
              <a:defRPr sz="1650" b="1">
                <a:solidFill>
                  <a:srgbClr val="315EF4"/>
                </a:solidFill>
                <a:latin typeface="Segoe UI"/>
                <a:ea typeface="Segoe UI"/>
                <a:cs typeface="Segoe UI"/>
              </a:defRPr>
            </a:pPr>
            <a:r>
              <a:rPr sz="1650" b="1">
                <a:solidFill>
                  <a:srgbClr val="315EF4"/>
                </a:solidFill>
                <a:latin typeface="Segoe UI"/>
                <a:ea typeface="Segoe UI"/>
                <a:cs typeface="Segoe UI"/>
              </a:rPr>
              <a:t>True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FA4A1CB1-1529-4E44-A154-46CDB68E8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943350"/>
            <a:ext cx="95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1">
                <a:solidFill>
                  <a:srgbClr val="315EF4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buNone/>
              <a:defRPr sz="1650" b="1">
                <a:solidFill>
                  <a:srgbClr val="315EF4"/>
                </a:solidFill>
                <a:latin typeface="Segoe UI"/>
                <a:ea typeface="Segoe UI"/>
                <a:cs typeface="Segoe UI"/>
              </a:defRPr>
            </a:pPr>
            <a:r>
              <a:rPr sz="1650" b="1">
                <a:solidFill>
                  <a:srgbClr val="315EF4"/>
                </a:solidFill>
                <a:latin typeface="Segoe UI"/>
                <a:ea typeface="Segoe UI"/>
                <a:cs typeface="Segoe UI"/>
              </a:rPr>
              <a:t>False</a:t>
            </a:r>
          </a:p>
        </p:txBody>
      </p:sp>
    </p:spTree>
    <p:extLst>
      <p:ext uri="{BB962C8B-B14F-4D97-AF65-F5344CB8AC3E}">
        <p14:creationId xmlns:p14="http://schemas.microsoft.com/office/powerpoint/2010/main" val="27322317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ED6FF38C-FDD9-4D9B-8BCE-F225F0A0F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450" b="1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buNone/>
              <a:defRPr sz="3450" b="1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pPr>
            <a:r>
              <a:rPr sz="3450" b="1">
                <a:solidFill>
                  <a:srgbClr val="18253E"/>
                </a:solidFill>
                <a:latin typeface="Segoe UI"/>
                <a:ea typeface="Segoe UI"/>
                <a:cs typeface="Segoe UI"/>
              </a:rPr>
              <a:t>Current scope and future development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2D1EDDDD-7075-42F2-951D-67C4F66A9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91275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59667C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buNone/>
              <a:defRPr sz="1200" b="0">
                <a:solidFill>
                  <a:srgbClr val="59667C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59667C"/>
                </a:solidFill>
                <a:latin typeface="Segoe UI"/>
                <a:ea typeface="Segoe UI"/>
                <a:cs typeface="Segoe UI"/>
              </a:rPr>
              <a:t>15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A6DFB369-6540-4526-8B55-75EF1BF18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62125"/>
            <a:ext cx="5334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400" b="1">
                <a:solidFill>
                  <a:srgbClr val="315EF4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buNone/>
              <a:defRPr sz="2400" b="1">
                <a:solidFill>
                  <a:srgbClr val="315EF4"/>
                </a:solidFill>
                <a:latin typeface="Segoe UI"/>
                <a:ea typeface="Segoe UI"/>
                <a:cs typeface="Segoe UI"/>
              </a:defRPr>
            </a:pPr>
            <a:r>
              <a:rPr sz="2400" b="1">
                <a:solidFill>
                  <a:srgbClr val="315EF4"/>
                </a:solidFill>
                <a:latin typeface="Segoe UI"/>
                <a:ea typeface="Segoe UI"/>
                <a:cs typeface="Segoe UI"/>
              </a:rPr>
              <a:t>Implemented scope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82984A92-25A3-4028-AF7F-29DCEB5DB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47925"/>
            <a:ext cx="50482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250" b="0">
                <a:solidFill>
                  <a:srgbClr val="59667C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buNone/>
              <a:defRPr sz="2250" b="0">
                <a:solidFill>
                  <a:srgbClr val="59667C"/>
                </a:solidFill>
                <a:latin typeface="Segoe UI"/>
                <a:ea typeface="Segoe UI"/>
                <a:cs typeface="Segoe UI"/>
              </a:defRPr>
            </a:pPr>
            <a:r>
              <a:rPr sz="2250" b="0">
                <a:solidFill>
                  <a:srgbClr val="59667C"/>
                </a:solidFill>
                <a:latin typeface="Segoe UI"/>
                <a:ea typeface="Segoe UI"/>
                <a:cs typeface="Segoe UI"/>
              </a:rPr>
              <a:t>Lexora supports selected .l and .y targets and an educational subset of C.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9E6D704A-6757-4005-9A2D-D089D5DB0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43375"/>
            <a:ext cx="504825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0">
                <a:solidFill>
                  <a:srgbClr val="59667C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buNone/>
              <a:defRPr sz="2025" b="0">
                <a:solidFill>
                  <a:srgbClr val="59667C"/>
                </a:solidFill>
                <a:latin typeface="Segoe UI"/>
                <a:ea typeface="Segoe UI"/>
                <a:cs typeface="Segoe UI"/>
              </a:defRPr>
            </a:pPr>
            <a:r>
              <a:rPr sz="2025" b="0">
                <a:solidFill>
                  <a:srgbClr val="59667C"/>
                </a:solidFill>
                <a:latin typeface="Segoe UI"/>
                <a:ea typeface="Segoe UI"/>
                <a:cs typeface="Segoe UI"/>
              </a:rPr>
              <a:t>The analyzer currently excludes arrays, structures, pointer declarations, and several other C constructs.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ED07383F-9F9A-4443-95BB-E56963549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762125"/>
            <a:ext cx="5143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400" b="1">
                <a:solidFill>
                  <a:srgbClr val="315EF4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buNone/>
              <a:defRPr sz="2400" b="1">
                <a:solidFill>
                  <a:srgbClr val="315EF4"/>
                </a:solidFill>
                <a:latin typeface="Segoe UI"/>
                <a:ea typeface="Segoe UI"/>
                <a:cs typeface="Segoe UI"/>
              </a:defRPr>
            </a:pPr>
            <a:r>
              <a:rPr sz="2400" b="1">
                <a:solidFill>
                  <a:srgbClr val="315EF4"/>
                </a:solidFill>
                <a:latin typeface="Segoe UI"/>
                <a:ea typeface="Segoe UI"/>
                <a:cs typeface="Segoe UI"/>
              </a:rPr>
              <a:t>Future development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4A6AA043-A6D9-479B-BCAF-CF4B247FD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447925"/>
            <a:ext cx="51435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250" b="0">
                <a:solidFill>
                  <a:srgbClr val="59667C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buNone/>
              <a:defRPr sz="2250" b="0">
                <a:solidFill>
                  <a:srgbClr val="59667C"/>
                </a:solidFill>
                <a:latin typeface="Segoe UI"/>
                <a:ea typeface="Segoe UI"/>
                <a:cs typeface="Segoe UI"/>
              </a:defRPr>
            </a:pPr>
            <a:r>
              <a:rPr sz="2250" b="0">
                <a:solidFill>
                  <a:srgbClr val="59667C"/>
                </a:solidFill>
                <a:latin typeface="Segoe UI"/>
                <a:ea typeface="Segoe UI"/>
                <a:cs typeface="Segoe UI"/>
              </a:rPr>
              <a:t>Language and project-file support can expand beyond the current teaching subset.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91B1E946-0294-4D37-8C2D-C56810E83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143375"/>
            <a:ext cx="51435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0">
                <a:solidFill>
                  <a:srgbClr val="59667C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buNone/>
              <a:defRPr sz="2025" b="0">
                <a:solidFill>
                  <a:srgbClr val="59667C"/>
                </a:solidFill>
                <a:latin typeface="Segoe UI"/>
                <a:ea typeface="Segoe UI"/>
                <a:cs typeface="Segoe UI"/>
              </a:defRPr>
            </a:pPr>
            <a:r>
              <a:rPr sz="2025" b="0">
                <a:solidFill>
                  <a:srgbClr val="59667C"/>
                </a:solidFill>
                <a:latin typeface="Segoe UI"/>
                <a:ea typeface="Segoe UI"/>
                <a:cs typeface="Segoe UI"/>
              </a:rPr>
              <a:t>Public execution would require isolated workers with restricted filesystem and network access.</a:t>
            </a:r>
          </a:p>
        </p:txBody>
      </p:sp>
    </p:spTree>
    <p:extLst>
      <p:ext uri="{BB962C8B-B14F-4D97-AF65-F5344CB8AC3E}">
        <p14:creationId xmlns:p14="http://schemas.microsoft.com/office/powerpoint/2010/main" val="186388343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111B3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C2217B53-CB35-4D37-ADDC-FCD8D542A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4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buNone/>
              <a:defRPr sz="34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34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Conclusion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4D27FBA1-90F7-4A23-ABB6-8E4DE94BD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91275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BCC9E4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buNone/>
              <a:defRPr sz="1200" b="0">
                <a:solidFill>
                  <a:srgbClr val="BCC9E4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BCC9E4"/>
                </a:solidFill>
                <a:latin typeface="Segoe UI"/>
                <a:ea typeface="Segoe UI"/>
                <a:cs typeface="Segoe UI"/>
              </a:rPr>
              <a:t>16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E04FFE6B-B2A3-46C4-978A-6CF870F7D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10972800" cy="2276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43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buNone/>
              <a:defRPr sz="43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43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Lexora makes compiler-design</a:t>
            </a:r>
          </a:p>
          <a:p xmlns:a="http://schemas.openxmlformats.org/drawingml/2006/main">
            <a:pPr>
              <a:buNone/>
              <a:defRPr sz="43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43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experiments easier to run</a:t>
            </a:r>
          </a:p>
          <a:p xmlns:a="http://schemas.openxmlformats.org/drawingml/2006/main">
            <a:pPr>
              <a:buNone/>
              <a:defRPr sz="43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43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and easier to explain.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A9F0C542-2D3F-429F-A053-2B73AC2EA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00575"/>
            <a:ext cx="100774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475" b="0">
                <a:solidFill>
                  <a:srgbClr val="BCC9E4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buNone/>
              <a:defRPr sz="2475" b="0">
                <a:solidFill>
                  <a:srgbClr val="BCC9E4"/>
                </a:solidFill>
                <a:latin typeface="Segoe UI"/>
                <a:ea typeface="Segoe UI"/>
                <a:cs typeface="Segoe UI"/>
              </a:defRPr>
            </a:pPr>
            <a:r>
              <a:rPr sz="2475" b="0">
                <a:solidFill>
                  <a:srgbClr val="BCC9E4"/>
                </a:solidFill>
                <a:latin typeface="Segoe UI"/>
                <a:ea typeface="Segoe UI"/>
                <a:cs typeface="Segoe UI"/>
              </a:rPr>
              <a:t>The project combines native tool execution with educational representations of program input in a persistent browser workspace.</a:t>
            </a:r>
          </a:p>
        </p:txBody>
      </p:sp>
    </p:spTree>
    <p:extLst>
      <p:ext uri="{BB962C8B-B14F-4D97-AF65-F5344CB8AC3E}">
        <p14:creationId xmlns:p14="http://schemas.microsoft.com/office/powerpoint/2010/main" val="1025915411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AB5ED1DD-8903-4667-BC14-DCE6ED7F6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450" b="1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buNone/>
              <a:defRPr sz="3450" b="1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pPr>
            <a:r>
              <a:rPr sz="3450" b="1">
                <a:solidFill>
                  <a:srgbClr val="18253E"/>
                </a:solidFill>
                <a:latin typeface="Segoe UI"/>
                <a:ea typeface="Segoe UI"/>
                <a:cs typeface="Segoe UI"/>
              </a:rPr>
              <a:t>References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56A7F81B-65A8-4252-9E4B-A91B6E8B3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91275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59667C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buNone/>
              <a:defRPr sz="1200" b="0">
                <a:solidFill>
                  <a:srgbClr val="59667C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59667C"/>
                </a:solidFill>
                <a:latin typeface="Segoe UI"/>
                <a:ea typeface="Segoe UI"/>
                <a:cs typeface="Segoe UI"/>
              </a:rPr>
              <a:t>17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D470A625-961C-4E1C-BF35-A2C2C0870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62125"/>
            <a:ext cx="7429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400" b="0">
                <a:solidFill>
                  <a:srgbClr val="315EF4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buNone/>
              <a:defRPr sz="2400" b="0">
                <a:solidFill>
                  <a:srgbClr val="315EF4"/>
                </a:solidFill>
                <a:latin typeface="Segoe UI"/>
                <a:ea typeface="Segoe UI"/>
                <a:cs typeface="Segoe UI"/>
              </a:defRPr>
            </a:pPr>
            <a:r>
              <a:rPr sz="2400" b="0">
                <a:solidFill>
                  <a:srgbClr val="315EF4"/>
                </a:solidFill>
                <a:latin typeface="Segoe UI"/>
                <a:ea typeface="Segoe UI"/>
                <a:cs typeface="Segoe UI"/>
              </a:rPr>
              <a:t>01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EC89A822-884B-48A6-A8A7-134D4B77E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762125"/>
            <a:ext cx="99060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1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buNone/>
              <a:defRPr sz="2025" b="1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pPr>
            <a:r>
              <a:rPr sz="2025" b="1">
                <a:solidFill>
                  <a:srgbClr val="18253E"/>
                </a:solidFill>
                <a:latin typeface="Segoe UI"/>
                <a:ea typeface="Segoe UI"/>
                <a:cs typeface="Segoe UI"/>
              </a:rPr>
              <a:t>Official Flex documentation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641BCB74-42CE-42ED-A3A3-C51F04B7F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171700"/>
            <a:ext cx="99060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725" b="0">
                <a:solidFill>
                  <a:srgbClr val="59667C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buNone/>
              <a:defRPr sz="1725" b="0">
                <a:solidFill>
                  <a:srgbClr val="59667C"/>
                </a:solidFill>
                <a:latin typeface="Segoe UI"/>
                <a:ea typeface="Segoe UI"/>
                <a:cs typeface="Segoe UI"/>
              </a:defRPr>
            </a:pPr>
            <a:r>
              <a:rPr sz="1725" b="0">
                <a:solidFill>
                  <a:srgbClr val="59667C"/>
                </a:solidFill>
                <a:latin typeface="Segoe UI"/>
                <a:ea typeface="Segoe UI"/>
                <a:cs typeface="Segoe UI"/>
              </a:rPr>
              <a:t>Scanner generation from regular-expression rules.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8AC42505-1422-46AA-AB5B-CC91525DD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495550"/>
            <a:ext cx="990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00" b="0">
                <a:solidFill>
                  <a:srgbClr val="59667C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buNone/>
              <a:defRPr sz="1500" b="0">
                <a:solidFill>
                  <a:srgbClr val="59667C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59667C"/>
                </a:solidFill>
                <a:latin typeface="Segoe UI"/>
                <a:ea typeface="Segoe UI"/>
                <a:cs typeface="Segoe UI"/>
              </a:rPr>
              <a:t>https://westes.github.io/flex/manual/Introduction.html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7EE05231-610A-4CC5-B6B5-500B7DFA5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7429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400" b="0">
                <a:solidFill>
                  <a:srgbClr val="315EF4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buNone/>
              <a:defRPr sz="2400" b="0">
                <a:solidFill>
                  <a:srgbClr val="315EF4"/>
                </a:solidFill>
                <a:latin typeface="Segoe UI"/>
                <a:ea typeface="Segoe UI"/>
                <a:cs typeface="Segoe UI"/>
              </a:defRPr>
            </a:pPr>
            <a:r>
              <a:rPr sz="2400" b="0">
                <a:solidFill>
                  <a:srgbClr val="315EF4"/>
                </a:solidFill>
                <a:latin typeface="Segoe UI"/>
                <a:ea typeface="Segoe UI"/>
                <a:cs typeface="Segoe UI"/>
              </a:rPr>
              <a:t>02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8675CA62-0900-4562-A1A3-2CA50611F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143250"/>
            <a:ext cx="99060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1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buNone/>
              <a:defRPr sz="2025" b="1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pPr>
            <a:r>
              <a:rPr sz="2025" b="1">
                <a:solidFill>
                  <a:srgbClr val="18253E"/>
                </a:solidFill>
                <a:latin typeface="Segoe UI"/>
                <a:ea typeface="Segoe UI"/>
                <a:cs typeface="Segoe UI"/>
              </a:rPr>
              <a:t>Official GNU Bison documentation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851096E6-AEA4-4E20-BE0D-657D48CF2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552825"/>
            <a:ext cx="99060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725" b="0">
                <a:solidFill>
                  <a:srgbClr val="59667C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buNone/>
              <a:defRPr sz="1725" b="0">
                <a:solidFill>
                  <a:srgbClr val="59667C"/>
                </a:solidFill>
                <a:latin typeface="Segoe UI"/>
                <a:ea typeface="Segoe UI"/>
                <a:cs typeface="Segoe UI"/>
              </a:defRPr>
            </a:pPr>
            <a:r>
              <a:rPr sz="1725" b="0">
                <a:solidFill>
                  <a:srgbClr val="59667C"/>
                </a:solidFill>
                <a:latin typeface="Segoe UI"/>
                <a:ea typeface="Segoe UI"/>
                <a:cs typeface="Segoe UI"/>
              </a:rPr>
              <a:t>Parser generation from annotated context-free grammars.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A40F8251-3DC8-4E50-8C1F-A2BF0B322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876675"/>
            <a:ext cx="990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00" b="0">
                <a:solidFill>
                  <a:srgbClr val="59667C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buNone/>
              <a:defRPr sz="1500" b="0">
                <a:solidFill>
                  <a:srgbClr val="59667C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59667C"/>
                </a:solidFill>
                <a:latin typeface="Segoe UI"/>
                <a:ea typeface="Segoe UI"/>
                <a:cs typeface="Segoe UI"/>
              </a:rPr>
              <a:t>https://www.gnu.org/s/bison/manual/bison.html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18E00539-A6E6-432D-816C-E8D7D2D8A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24375"/>
            <a:ext cx="7429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400" b="0">
                <a:solidFill>
                  <a:srgbClr val="315EF4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buNone/>
              <a:defRPr sz="2400" b="0">
                <a:solidFill>
                  <a:srgbClr val="315EF4"/>
                </a:solidFill>
                <a:latin typeface="Segoe UI"/>
                <a:ea typeface="Segoe UI"/>
                <a:cs typeface="Segoe UI"/>
              </a:defRPr>
            </a:pPr>
            <a:r>
              <a:rPr sz="2400" b="0">
                <a:solidFill>
                  <a:srgbClr val="315EF4"/>
                </a:solidFill>
                <a:latin typeface="Segoe UI"/>
                <a:ea typeface="Segoe UI"/>
                <a:cs typeface="Segoe UI"/>
              </a:rPr>
              <a:t>03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8C9FF2E9-9ACD-40AB-BEB5-7155C3883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524375"/>
            <a:ext cx="99060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1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buNone/>
              <a:defRPr sz="2025" b="1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pPr>
            <a:r>
              <a:rPr sz="2025" b="1">
                <a:solidFill>
                  <a:srgbClr val="18253E"/>
                </a:solidFill>
                <a:latin typeface="Segoe UI"/>
                <a:ea typeface="Segoe UI"/>
                <a:cs typeface="Segoe UI"/>
              </a:rPr>
              <a:t>Official GCC documentation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49FE6728-2CA0-4380-97D0-C38EAFCAC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933950"/>
            <a:ext cx="99060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725" b="0">
                <a:solidFill>
                  <a:srgbClr val="59667C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buNone/>
              <a:defRPr sz="1725" b="0">
                <a:solidFill>
                  <a:srgbClr val="59667C"/>
                </a:solidFill>
                <a:latin typeface="Segoe UI"/>
                <a:ea typeface="Segoe UI"/>
                <a:cs typeface="Segoe UI"/>
              </a:defRPr>
            </a:pPr>
            <a:r>
              <a:rPr sz="1725" b="0">
                <a:solidFill>
                  <a:srgbClr val="59667C"/>
                </a:solidFill>
                <a:latin typeface="Segoe UI"/>
                <a:ea typeface="Segoe UI"/>
                <a:cs typeface="Segoe UI"/>
              </a:rPr>
              <a:t>Compilation stages and executable generation.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4341B374-03A6-4C89-A314-E3F9AC283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257800"/>
            <a:ext cx="990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00" b="0">
                <a:solidFill>
                  <a:srgbClr val="59667C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buNone/>
              <a:defRPr sz="1500" b="0">
                <a:solidFill>
                  <a:srgbClr val="59667C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59667C"/>
                </a:solidFill>
                <a:latin typeface="Segoe UI"/>
                <a:ea typeface="Segoe UI"/>
                <a:cs typeface="Segoe UI"/>
              </a:rPr>
              <a:t>https://gcc.gnu.org/onlinedocs/gcc/Overall-Options.html</a:t>
            </a:r>
          </a:p>
        </p:txBody>
      </p:sp>
    </p:spTree>
    <p:extLst>
      <p:ext uri="{BB962C8B-B14F-4D97-AF65-F5344CB8AC3E}">
        <p14:creationId xmlns:p14="http://schemas.microsoft.com/office/powerpoint/2010/main" val="58619952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2026-10-08T08:36:19.0780000Z</dcterms:created>
  <dcterms:modified xsi:type="dcterms:W3CDTF">2026-10-08T08:36:19.0780000Z</dcterms:modified>
</coreProperties>
</file>
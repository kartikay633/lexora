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8a38e806604f83" /><Relationship Type="http://schemas.openxmlformats.org/officeDocument/2006/relationships/extended-properties" Target="/docProps/app.xml" Id="Rc3edd731aca04f71" /><Relationship Type="http://schemas.openxmlformats.org/officeDocument/2006/relationships/officeDocument" Target="/ppt/presentation.xml" Id="R9d382b2679fd45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6d1d00048f46c8"/>
  </p:sldMasterIdLst>
  <p:notesMasterIdLst>
    <p:notesMasterId xmlns:r="http://schemas.openxmlformats.org/officeDocument/2006/relationships" r:id="Rec1c38fe1d774ad0"/>
  </p:notesMasterIdLst>
  <p:sldIdLst>
    <p:sldId xmlns:r="http://schemas.openxmlformats.org/officeDocument/2006/relationships" id="256" r:id="R2edf1a97e8c24c97"/>
    <p:sldId xmlns:r="http://schemas.openxmlformats.org/officeDocument/2006/relationships" id="257" r:id="R9911caf2177f4fc0"/>
    <p:sldId xmlns:r="http://schemas.openxmlformats.org/officeDocument/2006/relationships" id="258" r:id="R7f1a399619e1468b"/>
    <p:sldId xmlns:r="http://schemas.openxmlformats.org/officeDocument/2006/relationships" id="259" r:id="R49b8341de3b945ba"/>
    <p:sldId xmlns:r="http://schemas.openxmlformats.org/officeDocument/2006/relationships" id="260" r:id="R535d378338f048e2"/>
    <p:sldId xmlns:r="http://schemas.openxmlformats.org/officeDocument/2006/relationships" id="261" r:id="R98992dbd3f894be3"/>
    <p:sldId xmlns:r="http://schemas.openxmlformats.org/officeDocument/2006/relationships" id="262" r:id="R09dbb0a7748a456a"/>
    <p:sldId xmlns:r="http://schemas.openxmlformats.org/officeDocument/2006/relationships" id="263" r:id="R6ffeb7f8d5f24e32"/>
    <p:sldId xmlns:r="http://schemas.openxmlformats.org/officeDocument/2006/relationships" id="264" r:id="R748e4133f0104feb"/>
    <p:sldId xmlns:r="http://schemas.openxmlformats.org/officeDocument/2006/relationships" id="265" r:id="R9a5ec1b657674647"/>
    <p:sldId xmlns:r="http://schemas.openxmlformats.org/officeDocument/2006/relationships" id="266" r:id="R9dfe06be14db4418"/>
    <p:sldId xmlns:r="http://schemas.openxmlformats.org/officeDocument/2006/relationships" id="267" r:id="R4bc06fbdc7c04ab9"/>
    <p:sldId xmlns:r="http://schemas.openxmlformats.org/officeDocument/2006/relationships" id="268" r:id="Re67f0f266d944b98"/>
    <p:sldId xmlns:r="http://schemas.openxmlformats.org/officeDocument/2006/relationships" id="269" r:id="R2ecb82a7712e4e62"/>
    <p:sldId xmlns:r="http://schemas.openxmlformats.org/officeDocument/2006/relationships" id="270" r:id="R0c2c03f1741b43a6"/>
    <p:sldId xmlns:r="http://schemas.openxmlformats.org/officeDocument/2006/relationships" id="271" r:id="R822febd0b223457a"/>
    <p:sldId xmlns:r="http://schemas.openxmlformats.org/officeDocument/2006/relationships" id="272" r:id="R96c505c9626a4dad"/>
    <p:sldId xmlns:r="http://schemas.openxmlformats.org/officeDocument/2006/relationships" id="273" r:id="R87eadd244a454f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420ec82bfa4d1a" /><Relationship Type="http://schemas.openxmlformats.org/officeDocument/2006/relationships/slideMaster" Target="/ppt/slideMasters/slideMaster1.xml" Id="R766d1d00048f46c8" /><Relationship Type="http://schemas.openxmlformats.org/officeDocument/2006/relationships/notesMaster" Target="/ppt/notesMasters/notesMaster1.xml" Id="Rec1c38fe1d774ad0" /><Relationship Type="http://schemas.openxmlformats.org/officeDocument/2006/relationships/presProps" Target="/ppt/presProps.xml" Id="R6f84f8a4cc654259" /><Relationship Type="http://schemas.openxmlformats.org/officeDocument/2006/relationships/tableStyles" Target="/ppt/tableStyles.xml" Id="R596e92907ec04ee8" /><Relationship Type="http://schemas.openxmlformats.org/officeDocument/2006/relationships/slide" Target="/ppt/slides/slide1.xml" Id="R2edf1a97e8c24c97" /><Relationship Type="http://schemas.openxmlformats.org/officeDocument/2006/relationships/slide" Target="/ppt/slides/slide2.xml" Id="R9911caf2177f4fc0" /><Relationship Type="http://schemas.openxmlformats.org/officeDocument/2006/relationships/slide" Target="/ppt/slides/slide3.xml" Id="R7f1a399619e1468b" /><Relationship Type="http://schemas.openxmlformats.org/officeDocument/2006/relationships/slide" Target="/ppt/slides/slide4.xml" Id="R49b8341de3b945ba" /><Relationship Type="http://schemas.openxmlformats.org/officeDocument/2006/relationships/slide" Target="/ppt/slides/slide5.xml" Id="R535d378338f048e2" /><Relationship Type="http://schemas.openxmlformats.org/officeDocument/2006/relationships/slide" Target="/ppt/slides/slide6.xml" Id="R98992dbd3f894be3" /><Relationship Type="http://schemas.openxmlformats.org/officeDocument/2006/relationships/slide" Target="/ppt/slides/slide7.xml" Id="R09dbb0a7748a456a" /><Relationship Type="http://schemas.openxmlformats.org/officeDocument/2006/relationships/slide" Target="/ppt/slides/slide8.xml" Id="R6ffeb7f8d5f24e32" /><Relationship Type="http://schemas.openxmlformats.org/officeDocument/2006/relationships/slide" Target="/ppt/slides/slide9.xml" Id="R748e4133f0104feb" /><Relationship Type="http://schemas.openxmlformats.org/officeDocument/2006/relationships/slide" Target="/ppt/slides/slide10.xml" Id="R9a5ec1b657674647" /><Relationship Type="http://schemas.openxmlformats.org/officeDocument/2006/relationships/slide" Target="/ppt/slides/slide11.xml" Id="R9dfe06be14db4418" /><Relationship Type="http://schemas.openxmlformats.org/officeDocument/2006/relationships/slide" Target="/ppt/slides/slide12.xml" Id="R4bc06fbdc7c04ab9" /><Relationship Type="http://schemas.openxmlformats.org/officeDocument/2006/relationships/slide" Target="/ppt/slides/slide13.xml" Id="Re67f0f266d944b98" /><Relationship Type="http://schemas.openxmlformats.org/officeDocument/2006/relationships/slide" Target="/ppt/slides/slide14.xml" Id="R2ecb82a7712e4e62" /><Relationship Type="http://schemas.openxmlformats.org/officeDocument/2006/relationships/slide" Target="/ppt/slides/slide15.xml" Id="R0c2c03f1741b43a6" /><Relationship Type="http://schemas.openxmlformats.org/officeDocument/2006/relationships/slide" Target="/ppt/slides/slide16.xml" Id="R822febd0b223457a" /><Relationship Type="http://schemas.openxmlformats.org/officeDocument/2006/relationships/slide" Target="/ppt/slides/slide17.xml" Id="R96c505c9626a4dad" /><Relationship Type="http://schemas.openxmlformats.org/officeDocument/2006/relationships/slide" Target="/ppt/slides/slide18.xml" Id="R87eadd244a454f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9bf871125743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41d59c32624828" /><Relationship Type="http://schemas.openxmlformats.org/officeDocument/2006/relationships/notesMaster" Target="/ppt/notesMasters/notesMaster1.xml" Id="R35f719b8bfb147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dbdccd66ec43e2" /><Relationship Type="http://schemas.openxmlformats.org/officeDocument/2006/relationships/notesMaster" Target="/ppt/notesMasters/notesMaster1.xml" Id="R048029c83e9948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5bbe4159374e13" /><Relationship Type="http://schemas.openxmlformats.org/officeDocument/2006/relationships/notesMaster" Target="/ppt/notesMasters/notesMaster1.xml" Id="Rc984723b4ac944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a73d2c3d6f4f73" /><Relationship Type="http://schemas.openxmlformats.org/officeDocument/2006/relationships/notesMaster" Target="/ppt/notesMasters/notesMaster1.xml" Id="Rf24448b95af842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0d6a0c50f42df" /><Relationship Type="http://schemas.openxmlformats.org/officeDocument/2006/relationships/notesMaster" Target="/ppt/notesMasters/notesMaster1.xml" Id="Rca93a29c598340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5acfd0091f46bc" /><Relationship Type="http://schemas.openxmlformats.org/officeDocument/2006/relationships/notesMaster" Target="/ppt/notesMasters/notesMaster1.xml" Id="R92fc231184494e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727878a4b846ce" /><Relationship Type="http://schemas.openxmlformats.org/officeDocument/2006/relationships/notesMaster" Target="/ppt/notesMasters/notesMaster1.xml" Id="Rfa261db2664d47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10fa04d64e4ef3" /><Relationship Type="http://schemas.openxmlformats.org/officeDocument/2006/relationships/notesMaster" Target="/ppt/notesMasters/notesMaster1.xml" Id="Ra7763dc0b09b4f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b19500da8947db" /><Relationship Type="http://schemas.openxmlformats.org/officeDocument/2006/relationships/notesMaster" Target="/ppt/notesMasters/notesMaster1.xml" Id="Rd868dec5eda84a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2fe7aa30194bfc" /><Relationship Type="http://schemas.openxmlformats.org/officeDocument/2006/relationships/notesMaster" Target="/ppt/notesMasters/notesMaster1.xml" Id="Ra9ca89870b3e46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046fb7302f46a7" /><Relationship Type="http://schemas.openxmlformats.org/officeDocument/2006/relationships/notesMaster" Target="/ppt/notesMasters/notesMaster1.xml" Id="R24a0add7bfd94c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9cf80c561c4b57" /><Relationship Type="http://schemas.openxmlformats.org/officeDocument/2006/relationships/notesMaster" Target="/ppt/notesMasters/notesMaster1.xml" Id="R77c34e8516564c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1dbc7c4d8342d4" /><Relationship Type="http://schemas.openxmlformats.org/officeDocument/2006/relationships/notesMaster" Target="/ppt/notesMasters/notesMaster1.xml" Id="R56fe98e1bead43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16cc70088d4072" /><Relationship Type="http://schemas.openxmlformats.org/officeDocument/2006/relationships/notesMaster" Target="/ppt/notesMasters/notesMaster1.xml" Id="R58c570d3e22e4a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7983a47c5b4157" /><Relationship Type="http://schemas.openxmlformats.org/officeDocument/2006/relationships/notesMaster" Target="/ppt/notesMasters/notesMaster1.xml" Id="Rb8e9681286b44d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0466139e57844fb" /><Relationship Type="http://schemas.openxmlformats.org/officeDocument/2006/relationships/notesMaster" Target="/ppt/notesMasters/notesMaster1.xml" Id="Rbf4de0e894c44e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a51cb322c54b43" /><Relationship Type="http://schemas.openxmlformats.org/officeDocument/2006/relationships/notesMaster" Target="/ppt/notesMasters/notesMaster1.xml" Id="R06ac60551c5e4e0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189f3ac6ff4c4d" /><Relationship Type="http://schemas.openxmlformats.org/officeDocument/2006/relationships/notesMaster" Target="/ppt/notesMasters/notesMaster1.xml" Id="R48601afa38f649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The screenshot shows the bundled calculator running successfully with stdin 3 + 5 * 2 followed by a newline and stdout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teaching and workflow problems the project addresses. They do not represent measured findings from a formal user study. Project evidence: README.md; frontend/src/App.jsx; frontend/src/components/OutputPanel/OutputPanel.jsx.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Educational analysis covers the built-in language subset.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Aho, Lam, Sethi and Ullman. Compilers: Principles, Techniques, and Tools, 2nd ed., 2007. https://www.cs.columbia.edu/~aho/books.html</a:t>
            </a:r>
          </a:p>
          <a:p xmlns:a="http://schemas.openxmlformats.org/drawingml/2006/main">
            <a:r>
              <a:t>[2] Flex manual: https://westes.github.io/flex/manual/Introduction.html</a:t>
            </a:r>
          </a:p>
          <a:p xmlns:a="http://schemas.openxmlformats.org/drawingml/2006/main">
            <a:r>
              <a:t>[3] GNU Bison manual: https://www.gnu.org/s/bison/manual/bison.html</a:t>
            </a:r>
          </a:p>
          <a:p xmlns:a="http://schemas.openxmlformats.org/drawingml/2006/main">
            <a:r>
              <a:t>[4] GCC manual: https://gcc.gnu.org/onlinedocs/gcc/Overall-Options.html</a:t>
            </a:r>
          </a:p>
          <a:p xmlns:a="http://schemas.openxmlformats.org/drawingml/2006/main">
            <a:r>
              <a:t>The application column is an explanation of Lexora’s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The contribution is application integration and the educational workflow. It does not claim a new compiler algorithm.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Actual local screenshot showing the calculator source and the built-in token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backend/services/compiler.js; backend/services/wslRunner.js; backend/routes/compile.js; backend/middleware/validator.js. Project evidence: frontend/src/App.jsx; frontend/src/services/files.js; backend/services/tempDir.js; backend/services/compiler.js. Local development: Vite on port 3000 proxies /api to Express on port 3001. Windows uses WSL Ubuntu. Linux uses native Bash.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analyzeInput executes before the native stages. These paths are logically separate, not concurrent jobs. Cleanup is attempted in finally before the route sends the JSON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frontend/src/App.jsx; frontend/src/services/files.js; backend/services/tempDir.js; backend/services/compiler.js. There is no application database. Browser storage is specific to the browser origin and may be blocked or cleared. Cleanup failures are logged.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Actual combined-mode order: flex lex.l; bison -d parser.y; normalize generated-header references; regenerate scanner; gcc -o compiler lex.yy.c parser.tab.c -lfl -lm; ./compiler &lt; input.txt. Lex Only skips Bison. Yacc Only skips Flex and requires its own yylex and main.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The screenshot is the actual AST view for calculator stdin 3 + 5 * 2 followed by newline. The AST comes from Lexora’s own parser. It does not trace the uploaded grammar.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2 + 3 * 4;"): AST declaration x:int with addition of 2 and multiplication 3*4. Symbol x global, declared true. TAC and optimized TAC shown exactly. Three assignments remain, so no instruction-count or speed claim applies.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backend/services/inputAnalysis.js; backend/services/astGenerator.js; backend/services/semanticAnalyzer.js; backend/services/tacGenerator.js; backend/services/optimizer.js; backend/services/basicBlocks.js. Observed analyzeInput("int x = 1; if (x &lt; 3) { x = x + 1; }"): B1 x=1, t1=x&lt;3, ifFalse t1 goto L1; B2 t2=x+1, x=t2; B3 L1:. Successors: B1 to B2 and B3, B2 to B3. These blocks use original TAC.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backend/services/compiler.js; backend/services/wslRunner.js; backend/routes/compile.js; backend/middleware/validator.js. The bundled calculator was executed through the current backend and through the UI. Input was exactly "3 + 5 * 2\n". Observed stdout was "13\n" with successful Flex, Bison, GCC and execution stages. The grammar uses EOL to finish an expression.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 Project evidence: backend/services/compiler.js; backend/services/wslRunner.js; backend/routes/compile.js; backend/middleware/validator.js. Future development items are proposals. Native C actions execute with backend-user privileges. The current model serves trusted local or access-controlled demonstrations.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README.md; frontend/src/App.jsx; frontend/src/components/OutputPanel/OutputPanel.jsx. Project evidence: backend/services/inputAnalysis.js; backend/services/astGenerator.js; backend/services/semanticAnalyzer.js; backend/services/tacGenerator.js; backend/services/optimizer.js; backend/services/basicBlocks.js.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 links are listed on the slide. Lexora-specific claims derive from the current source code and README. The current dependencies are React 19, CodeMirror 6, Vite 8, Node.js, and Express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4fcbbb74949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203799cd547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9dada3a1943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74568578543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d22bbfd9647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db5c0116244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6CD681-5661-4D40-A406-1BBAF524D2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EF6E4B-71AA-4150-9DA1-8871F6E0DB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330C6E-FFDD-499C-822C-66D04D00F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51BE58-DD2D-4AE0-AC79-9AE56DA590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C31D6-C1DC-4808-976F-FE6C8647FC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AC05DAE-DCA6-49C3-BF1C-9B085DA42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F515C8-195C-4E93-802A-36ACA75630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6578C49-6795-42BF-98EE-5CE46E90C1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D07684-97F8-42FC-A226-181BE7DA4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50C31-2A63-4C89-BE5A-827C6F67F8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7e72109aa04ec7" /><Relationship Type="http://schemas.openxmlformats.org/officeDocument/2006/relationships/slideLayout" Target="/ppt/slideLayouts/slideLayout1.xml" Id="R9b1e6e8eb10e4421" /><Relationship Type="http://schemas.openxmlformats.org/officeDocument/2006/relationships/slideLayout" Target="/ppt/slideLayouts/slideLayout2.xml" Id="R65a0eb3777514fc9" /><Relationship Type="http://schemas.openxmlformats.org/officeDocument/2006/relationships/slideLayout" Target="/ppt/slideLayouts/slideLayout3.xml" Id="Rc1bec34cddb2450a" /><Relationship Type="http://schemas.openxmlformats.org/officeDocument/2006/relationships/slideLayout" Target="/ppt/slideLayouts/slideLayout4.xml" Id="R8b92d30978744621" /><Relationship Type="http://schemas.openxmlformats.org/officeDocument/2006/relationships/slideLayout" Target="/ppt/slideLayouts/slideLayout5.xml" Id="R99fbc1fdb9bb46dc" /><Relationship Type="http://schemas.openxmlformats.org/officeDocument/2006/relationships/slideLayout" Target="/ppt/slideLayouts/slideLayout6.xml" Id="Rfc56425752e845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e6e8eb10e4421"/>
    <p:sldLayoutId xmlns:r="http://schemas.openxmlformats.org/officeDocument/2006/relationships" id="2147483650" r:id="R65a0eb3777514fc9"/>
    <p:sldLayoutId xmlns:r="http://schemas.openxmlformats.org/officeDocument/2006/relationships" id="2147483651" r:id="Rc1bec34cddb2450a"/>
    <p:sldLayoutId xmlns:r="http://schemas.openxmlformats.org/officeDocument/2006/relationships" id="2147483652" r:id="R8b92d30978744621"/>
    <p:sldLayoutId xmlns:r="http://schemas.openxmlformats.org/officeDocument/2006/relationships" id="2147483653" r:id="R99fbc1fdb9bb46dc"/>
    <p:sldLayoutId xmlns:r="http://schemas.openxmlformats.org/officeDocument/2006/relationships" id="2147483654" r:id="Rfc56425752e845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07e6529c544ca7" /><Relationship Type="http://schemas.openxmlformats.org/officeDocument/2006/relationships/image" Target="/ppt/media/image.jpeg" Id="R969dcd4ae9fd4c67" /><Relationship Type="http://schemas.openxmlformats.org/officeDocument/2006/relationships/notesSlide" Target="/ppt/notesSlides/notesSlide1.xml" Id="R4daa7f81653143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ee40bc35f4532" /><Relationship Type="http://schemas.openxmlformats.org/officeDocument/2006/relationships/notesSlide" Target="/ppt/notesSlides/notesSlide2.xml" Id="R10c4b13aae7c4d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39240b6a948ab" /><Relationship Type="http://schemas.openxmlformats.org/officeDocument/2006/relationships/notesSlide" Target="/ppt/notesSlides/notesSlide3.xml" Id="R52e04789010f48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c5a315d79482f" /><Relationship Type="http://schemas.openxmlformats.org/officeDocument/2006/relationships/notesSlide" Target="/ppt/notesSlides/notesSlide4.xml" Id="Rbbe92c919e6f4f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64d08a63124527" /><Relationship Type="http://schemas.openxmlformats.org/officeDocument/2006/relationships/notesSlide" Target="/ppt/notesSlides/notesSlide5.xml" Id="R5ee3b03a9c5b4e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d147e080954821" /><Relationship Type="http://schemas.openxmlformats.org/officeDocument/2006/relationships/notesSlide" Target="/ppt/notesSlides/notesSlide6.xml" Id="R861b4b871b594d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fb59fe0b9d497f" /><Relationship Type="http://schemas.openxmlformats.org/officeDocument/2006/relationships/image" Target="/ppt/media/image2.jpeg" Id="Rd8bd85b3d5734b41" /><Relationship Type="http://schemas.openxmlformats.org/officeDocument/2006/relationships/notesSlide" Target="/ppt/notesSlides/notesSlide7.xml" Id="R8a469a74afdc45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597268d44496d" /><Relationship Type="http://schemas.openxmlformats.org/officeDocument/2006/relationships/notesSlide" Target="/ppt/notesSlides/notesSlide8.xml" Id="Reb58ca98165149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74b5a7e0ef4764" /><Relationship Type="http://schemas.openxmlformats.org/officeDocument/2006/relationships/notesSlide" Target="/ppt/notesSlides/notesSlide9.xml" Id="Rb9fe8aa90af344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71d21cc45a4ef4" /><Relationship Type="http://schemas.openxmlformats.org/officeDocument/2006/relationships/notesSlide" Target="/ppt/notesSlides/notesSlide10.xml" Id="R6bf619412e2448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7abb9bb104d65" /><Relationship Type="http://schemas.openxmlformats.org/officeDocument/2006/relationships/notesSlide" Target="/ppt/notesSlides/notesSlide11.xml" Id="R79d6f18983e54f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b30fa88258445e" /><Relationship Type="http://schemas.openxmlformats.org/officeDocument/2006/relationships/image" Target="/ppt/media/image3.jpeg" Id="R0f538fba469c4079" /><Relationship Type="http://schemas.openxmlformats.org/officeDocument/2006/relationships/notesSlide" Target="/ppt/notesSlides/notesSlide12.xml" Id="Re64ff4ce2aa243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ae7ca398b40c4" /><Relationship Type="http://schemas.openxmlformats.org/officeDocument/2006/relationships/notesSlide" Target="/ppt/notesSlides/notesSlide13.xml" Id="R420f174dc72140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fc86c4c6e44bee" /><Relationship Type="http://schemas.openxmlformats.org/officeDocument/2006/relationships/notesSlide" Target="/ppt/notesSlides/notesSlide14.xml" Id="R69b2b652b09d48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66226a7774b1f" /><Relationship Type="http://schemas.openxmlformats.org/officeDocument/2006/relationships/notesSlide" Target="/ppt/notesSlides/notesSlide15.xml" Id="R6dad5ed90cc245e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5a32d641e4f96" /><Relationship Type="http://schemas.openxmlformats.org/officeDocument/2006/relationships/notesSlide" Target="/ppt/notesSlides/notesSlide16.xml" Id="R14b69e7b22714a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fbd247528f4f66" /><Relationship Type="http://schemas.openxmlformats.org/officeDocument/2006/relationships/notesSlide" Target="/ppt/notesSlides/notesSlide17.xml" Id="R51fc76fb24ed43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90fed341374e73" /><Relationship Type="http://schemas.openxmlformats.org/officeDocument/2006/relationships/notesSlide" Target="/ppt/notesSlides/notesSlide18.xml" Id="R1ce97130366e4e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68BC3-4835-435E-8C7F-A914C684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FE194-8FA2-41A8-8F3C-392F1DE9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572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02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2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Lexora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A6CB0-C129-4DAA-B0B8-1AE239A8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4248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 compiler-design</a:t>
            </a:r>
          </a:p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workbench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877947-97AA-4877-886B-22F39B16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Real Lex/Yacc execution with visual explanations of compiler concepts.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58C7C-0101-4AC7-871E-6C2E68BA99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dcd4ae9fd4c67"/>
          <a:stretch xmlns:a="http://schemas.openxmlformats.org/drawingml/2006/main"/>
        </p:blipFill>
        <p:spPr>
          <a:xfrm xmlns:a="http://schemas.openxmlformats.org/drawingml/2006/main">
            <a:off x="5200650" y="2458045"/>
            <a:ext cx="6381750" cy="358973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4D5D2-8C7D-4D39-B819-2211DB9F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666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COMPILER DESIGN PROJECT</a:t>
            </a:r>
          </a:p>
        </p:txBody>
      </p:sp>
    </p:spTree>
    <p:extLst>
      <p:ext uri="{BB962C8B-B14F-4D97-AF65-F5344CB8AC3E}">
        <p14:creationId xmlns:p14="http://schemas.microsoft.com/office/powerpoint/2010/main" val="2604179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314B71-55A3-4098-9DD6-A5E6060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11239-806C-4ADC-8F19-1CD360DB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B95C5-4493-413F-8435-9A2681B4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Lexora brings source editing,</a:t>
            </a:r>
          </a:p>
          <a:p xmlns:a="http://schemas.openxmlformats.org/drawingml/2006/main">
            <a: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compilation, and compiler</a:t>
            </a:r>
          </a:p>
          <a:p xmlns:a="http://schemas.openxmlformats.org/drawingml/2006/main">
            <a:pPr>
              <a:defRPr sz="30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0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analysis into one browser workspace.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98CFA-00F9-488C-ADB6-FAAB0B1C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Native execution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8A0D0-CB0E-447C-A3DE-022E8FAF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compile selected Lex and Yacc specifications using Flex, Bison, and GCC.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F5CCA-951C-42E3-83AD-FC619FE6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1D6D3-83C9-4CF3-8834-2E919CED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29125"/>
            <a:ext cx="5143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built-in analyzer explains supported input through syntax trees, symbols, and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614761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A06BB-5F25-481F-AF13-C097089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Problem identification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5E245-465F-4D3B-A8CD-D7513CD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41FBC-CE61-4A25-A1E3-5D13513A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09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The compilation process is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difficult to understand when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its intermediate steps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3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remain hidden.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4155D-C9C4-48ED-8660-4F246C3A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Fragmented laboratory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41E1F-9946-4AC4-94F3-06D87554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81250"/>
            <a:ext cx="433387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Students manage separate files and commands to generate, compile, and execute a lexer or parser.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E3078-AAED-4B61-AF50-D4FED30E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4333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Limited explanatory feedback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9BC75-907A-4BF7-83E0-A094AF3D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3338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Program output alone does not explain syntax structure, symbol scope, or intermediate code.</a:t>
            </a:r>
          </a:p>
        </p:txBody>
      </p:sp>
    </p:spTree>
    <p:extLst>
      <p:ext uri="{BB962C8B-B14F-4D97-AF65-F5344CB8AC3E}">
        <p14:creationId xmlns:p14="http://schemas.microsoft.com/office/powerpoint/2010/main" val="771415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8F862B-2907-4C6A-90A8-4E7977D3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E00D-F36B-4361-B02C-FB1F3147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CAC02-3FF8-4BA4-A228-848E24DC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9C3AE-AA6F-4D52-930D-341DA3EB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Provide an integrated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C0653-1479-4D49-A38B-500043B8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Students can edit specifications, select targets, and supply program input.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0F435-4743-4FCE-A33A-FCA72A6A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76C10-0BE1-46EF-B386-1EF4BCB5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2402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Execute real compiler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0E411-CAF0-4F14-A3E8-829DB163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62225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backend generates C sources, builds an executable, and captures its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D128D-2552-4FF7-978B-CA36B9F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F46A3-EA9A-472D-BEB2-6D2CCDA8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Explain compiler concepts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B27AA-34D9-44CB-94D2-BDD39629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Visual views connect tokens and syntax structure with symbols and intermediate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36EFD-182C-4992-B0E1-A670A7DE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81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525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3525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C0AD4-4ED9-4621-A41C-C9979D9B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Support repeatable experiments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18FEE-3D70-48BB-B8B0-B4A6658F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81965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Browser drafts, examples, and file downloads help students continue their work.</a:t>
            </a:r>
          </a:p>
        </p:txBody>
      </p:sp>
    </p:spTree>
    <p:extLst>
      <p:ext uri="{BB962C8B-B14F-4D97-AF65-F5344CB8AC3E}">
        <p14:creationId xmlns:p14="http://schemas.microsoft.com/office/powerpoint/2010/main" val="19035882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103B0-ABE2-41E9-B8AF-CFFBED9A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Literature survey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42019-68D0-456C-BB98-3F4D85E9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BA209-A684-4B02-85A1-372550D78850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162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857625"/>
                <a:gridCol w="4257675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Foundation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Relevant method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Application in Lexora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Aho et al. (2007) [1]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Compiler phases and intermediate representations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The analyzer exposes the textbook phases.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Flex manual [2]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Scanner generation from regular-expression rules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Flex generates the C scanner from a .l file.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Bison manual [3]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Parser generation from context-free grammars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Bison generates the parser and token header.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GCC manual [4]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C compilation and linking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GCC builds the generated C sources.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5DA9B-EB11-41FF-8043-9288DCC1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applies established compiler methods through an integrated teaching interface.</a:t>
            </a:r>
          </a:p>
        </p:txBody>
      </p:sp>
    </p:spTree>
    <p:extLst>
      <p:ext uri="{BB962C8B-B14F-4D97-AF65-F5344CB8AC3E}">
        <p14:creationId xmlns:p14="http://schemas.microsoft.com/office/powerpoint/2010/main" val="854543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616F0-FCF1-4566-BCCC-C5CD8D1FEEE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467600" y="54530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0FB7E-934E-48A5-9AC2-67EE1BF58EBC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371850" y="545306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12982-6606-4FD3-B4FA-C43CFDAE3B4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67600" y="41767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7F867-CB46-40F2-A74A-58F79C2EE56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4176713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E5BD5-D762-4D62-B9E4-758CB749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Novelty and project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1F9F3-9662-4772-B821-54E79F08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66730-3062-4438-93A2-B67B576C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One workspace connects practical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Lex/Yacc experiments with visible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compiler representations.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4E843-C290-4216-B1CB-136F9B57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Selected .l / .y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F3122-D68A-463C-89CE-D316BD3B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814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D1BE1-379D-4265-8CA8-6EE3202E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8142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3CE89-433D-444C-B532-7B1BBB25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Program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1DB26-A0B6-4996-9A86-2AE4A10E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577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Built-in analyzer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DCC38-C2CD-428A-951E-F19143C2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57775"/>
            <a:ext cx="27622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views</a:t>
            </a:r>
          </a:p>
        </p:txBody>
      </p:sp>
    </p:spTree>
    <p:extLst>
      <p:ext uri="{BB962C8B-B14F-4D97-AF65-F5344CB8AC3E}">
        <p14:creationId xmlns:p14="http://schemas.microsoft.com/office/powerpoint/2010/main" val="1503455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F4C59-CE95-43DF-AA5D-D2F8A8DEA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Lexora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8BCC7-8628-48C0-A019-F5908892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46C6A-E870-4B69-95ED-23111FBFD0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d85b3d5734b41"/>
          <a:stretch xmlns:a="http://schemas.openxmlformats.org/drawingml/2006/main"/>
        </p:blipFill>
        <p:spPr>
          <a:xfrm xmlns:a="http://schemas.openxmlformats.org/drawingml/2006/main">
            <a:off x="609600" y="1657350"/>
            <a:ext cx="8077200" cy="45434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D358F-8FDB-43E0-8623-D30E895E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954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Source editing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D10F-C799-4343-8434-FF04D303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0325"/>
            <a:ext cx="2495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editor holds the selected lexer or parser specification.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59E10-2289-40E0-BCFB-6BDCB0A8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2495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Analysis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FFDC7-A239-428C-8211-DFB40BAF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62525"/>
            <a:ext cx="2495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token table records each lexeme and its position in the input.</a:t>
            </a:r>
          </a:p>
        </p:txBody>
      </p:sp>
    </p:spTree>
    <p:extLst>
      <p:ext uri="{BB962C8B-B14F-4D97-AF65-F5344CB8AC3E}">
        <p14:creationId xmlns:p14="http://schemas.microsoft.com/office/powerpoint/2010/main" val="568002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C8937-D814-4288-B41A-F63C76B2579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003935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B3FAE-D985-4D5C-A58A-2C657C0CD88A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86475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8472E-2691-44B2-9DF4-3613F9631B9E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133600" y="2867025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35D50-078E-4148-ADAA-1C545605528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610475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2AB59-7189-460D-BAD1-75E996A6D2A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657600" y="23336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FCBCF7-60F9-4064-BD80-5C68164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2C2E8-A3D3-46FE-A12B-85E25253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DF247-706E-4497-B7B5-EA4D7EC7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interface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React + CodeMirror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708EA-DA9D-4BBE-B274-B36947D6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Backend API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Node.js + Express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C1128-EAF1-4C46-80FD-0082B928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0225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Native tools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 + Bison + GCC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C7BD8-71CB-4D1D-A999-0550599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571625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 / JSON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3DA055-3A9F-45AF-AA5B-E0479FD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Browser localStorage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Workspace drafts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0AAE7-90EC-4028-AFC0-48BEDFF9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JavaScript analyzer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AST, symbols, and TAC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643EA-AF02-467E-9876-AE7633AF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05275"/>
            <a:ext cx="304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Temporary job directory</a:t>
            </a:r>
          </a:p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Sources and executable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7969E5-DEE1-46FD-852C-08E69F6C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browser manages editing. The backend performs input analysis and native compilation.</a:t>
            </a:r>
          </a:p>
        </p:txBody>
      </p:sp>
    </p:spTree>
    <p:extLst>
      <p:ext uri="{BB962C8B-B14F-4D97-AF65-F5344CB8AC3E}">
        <p14:creationId xmlns:p14="http://schemas.microsoft.com/office/powerpoint/2010/main" val="7787721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05DA2-0546-418B-B029-5A98AF4A4E9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086225" y="41529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90318-694B-4195-8A2B-063092E7B4F3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9991725" y="36766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4AD79-65CF-4BDB-915B-85D319AED04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86225" y="5248275"/>
            <a:ext cx="433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1AEBF-9E41-4433-A82D-88E98B69CA7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347913" y="45720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28C0E-F321-4C34-A7B3-CBD6EEC99AE3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347913" y="33909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E88FB-B02F-4935-89E9-BEDDFE4F13A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2347913" y="23812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04635-9CF1-4675-8A11-DB6C6CE6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Working flowchart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72748-7A19-4DE1-873D-E0804063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198E8-704A-4153-A565-C4D71BB4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Edit files and program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51C33-FC39-458C-896F-6EA6D776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Submit compilation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F6799-E28B-4C27-9ABE-2BB4152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476625" cy="8382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Validate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47CC8-6158-485D-BE73-2FCCEA0F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3476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Analyze input and create job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C9BA37-4D2D-4F3A-B85B-5E1CA29E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81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Valid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87D16-9C41-4772-81B2-160EC71A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149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Generate C, compile, and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BD384-B9CF-4083-9B88-2EED750A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241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results and clean job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B2EAD6-1EDA-45CD-AF45-6D60DED2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857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Return a validation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C0B51-5B77-4BD6-AA25-194B5B9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813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Invalid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8E018-6093-45CC-8DEF-B58F86B6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95450"/>
            <a:ext cx="3143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Failures identify the failing phase and preserve available results.</a:t>
            </a:r>
          </a:p>
        </p:txBody>
      </p:sp>
    </p:spTree>
    <p:extLst>
      <p:ext uri="{BB962C8B-B14F-4D97-AF65-F5344CB8AC3E}">
        <p14:creationId xmlns:p14="http://schemas.microsoft.com/office/powerpoint/2010/main" val="970783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24E3F-7270-4038-BDEB-BF134C74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Data storage and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044DF-0590-4150-9886-1A2C5358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02DCC-48F7-481D-BADD-FD337FBAA162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4543425"/>
                <a:gridCol w="33337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Data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Storage location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Lifetime</a:t>
                      </a:r>
                    </a:p>
                  </a:txBody>
                  <a:tcPr marL="91440" marR="91440" marT="45720" marB="45720">
                    <a:solidFill>
                      <a:srgbClr val="111B31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Workspace drafts and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Browser localStorage</a:t>
                      </a:r>
                    </a:p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lexora.workspace.v2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Persists across reloads until cleared.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Job files and executable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OS temporary directory</a:t>
                      </a:r>
                    </a:p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lexora-&lt;UUID&gt;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One request, followed by cleanup.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Output and analysis results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memory and browser React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Available during the current run.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715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Downloaded source and 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The user’s download destination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53E"/>
                          </a:solidFill>
                          <a:latin typeface="Segoe UI"/>
                          <a:ea typeface="Segoe UI"/>
                          <a:cs typeface="Segoe UI"/>
                        </a:rPr>
                        <a:t>Remains until the user removes it.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5568E-DCAB-4F87-B374-44BCB8A9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uses browser drafts and temporary job files without an application database.</a:t>
            </a:r>
          </a:p>
        </p:txBody>
      </p:sp>
    </p:spTree>
    <p:extLst>
      <p:ext uri="{BB962C8B-B14F-4D97-AF65-F5344CB8AC3E}">
        <p14:creationId xmlns:p14="http://schemas.microsoft.com/office/powerpoint/2010/main" val="7367934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5F0C8-0AC2-4D3E-BFFA-19F9E532864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677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0731A-5BD1-4FA6-B436-65B003D1DAB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721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ADDFE-A990-4791-AEE3-97B31B0259B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76550" y="23050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EBD0E-625D-475F-8A8A-C36AB264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Native compilation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57D25-835B-4A73-82D7-2D7BDA82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ED483-E30B-4547-9150-0D18DEC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Flex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D11CE-BD29-4408-80C7-97E23DD9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79EC7-7F7F-463D-A4D9-95ADE08B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76FC0-FA3B-4DFA-BD20-6C77C093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669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77706-59E2-44E0-98B4-806F4FC7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lex.l produces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lex.yy.c.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A59C6-A9B6-40FA-887C-E8BA34A2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247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parser.y produces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parser.tab.c and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parser.tab.h.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922D6-6666-4080-92FE-D1037562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00375"/>
            <a:ext cx="2419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Generated C files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produce an executable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named compiler.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7EA67-116F-446C-926D-FF8948E6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0375"/>
            <a:ext cx="2305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executable reads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input.txt and writes</a:t>
            </a:r>
          </a:p>
          <a:p xmlns:a="http://schemas.openxmlformats.org/drawingml/2006/main">
            <a:pPr>
              <a:defRPr sz="202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standard output.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4C7AA-D1B9-4D1A-97F2-F1B6563C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gcc -o compiler lex.yy.c parser.tab.c -lfl -lm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14799-7638-47A5-B1A3-D69434CF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backend aligns parser-header references and regenerates the scanner before GCC runs.</a:t>
            </a:r>
          </a:p>
        </p:txBody>
      </p:sp>
    </p:spTree>
    <p:extLst>
      <p:ext uri="{BB962C8B-B14F-4D97-AF65-F5344CB8AC3E}">
        <p14:creationId xmlns:p14="http://schemas.microsoft.com/office/powerpoint/2010/main" val="1740934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2E31D-3117-4586-AAF5-5E8EC191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Educational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9969C-38CF-417A-8365-2BB361B6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92765-9E84-4FBF-8121-16DECE93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Input: 3 + 5 *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FFB06-AC62-44A5-9292-AB3F21C6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58293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built-in parser groups multiplication before addition and constructs an abstract syntax tree.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4815D3-4928-4285-8C17-8452EF2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8293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The analyzer also derives scoped symbols, three-address code, optimization results, and basic blocks.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D20CA-EE5C-48A7-A339-D97B767E86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38fba469c4079"/>
          <a:stretch xmlns:a="http://schemas.openxmlformats.org/drawingml/2006/main"/>
        </p:blipFill>
        <p:spPr>
          <a:xfrm xmlns:a="http://schemas.openxmlformats.org/drawingml/2006/main">
            <a:off x="7107267" y="1657350"/>
            <a:ext cx="4454465" cy="3886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21D86-33AD-41E2-BC7C-5A2A7D3E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Educational analysis uses Lexora’s supported C subset. Native execution follows the submitted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1005305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7BC01-C7EE-4E9F-98F4-AC78CA735D9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829050" y="5181600"/>
            <a:ext cx="7905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C285A-946A-40B2-A0DD-89B3AF221440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3114675" y="5181600"/>
            <a:ext cx="714375" cy="4381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D4A4F-772B-4F47-9FAD-2446464F909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447925" y="4143375"/>
            <a:ext cx="13811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897E2-E884-4AF4-9687-174B1D8E5BB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1152525" y="4143375"/>
            <a:ext cx="12954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03424-164B-4027-82B9-516615A420E2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2447925" y="3152775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128BF-873C-4CE3-9E28-0AB202B8D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Worked example: intermediate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E46DB-2861-45AF-A3DC-F662FDEF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DD8BE-CDBB-4FDA-88A8-845F768D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2 + 3 * 4;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0DCF5-FD13-4066-9706-10C2972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24125"/>
            <a:ext cx="266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Declare x : 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519A2-EB05-4A60-91FC-9451F52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571875"/>
            <a:ext cx="1143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FE262-7A9B-4B24-87F7-033936F4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95646-A1A2-4F89-BF01-765E1019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57725"/>
            <a:ext cx="857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C9A2D-E1D2-47C5-A76F-0C23527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25E00-A142-4C82-BFC4-99E0C5A5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19750"/>
            <a:ext cx="742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D243FF-EA54-474D-9D0C-97E74D49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14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Original TAC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79485-A612-4D0F-BD1A-38C5C35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24200"/>
            <a:ext cx="50482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3 * 4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2 + t1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0640C-1F2E-477B-B824-9B6AE8B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Optimized TAC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63964D-68CF-4BC2-96E7-1120840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23336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t1 = 12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14</a:t>
            </a:r>
          </a:p>
          <a:p xmlns:a="http://schemas.openxmlformats.org/drawingml/2006/main">
            <a:pPr>
              <a:defRPr sz="2475" b="0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FA0D2-BBE5-46BE-99B1-177E63B1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62525"/>
            <a:ext cx="5410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folding evaluates arithmetic.</a:t>
            </a:r>
          </a:p>
          <a:p xmlns:a="http://schemas.openxmlformats.org/drawingml/2006/main">
            <a:pPr>
              <a:defRPr sz="19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Constant propagation substitutes known values.</a:t>
            </a:r>
          </a:p>
        </p:txBody>
      </p:sp>
    </p:spTree>
    <p:extLst>
      <p:ext uri="{BB962C8B-B14F-4D97-AF65-F5344CB8AC3E}">
        <p14:creationId xmlns:p14="http://schemas.microsoft.com/office/powerpoint/2010/main" val="10940992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9E6F1-1997-4FDD-922B-ECB75B62599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0382250" y="2400300"/>
            <a:ext cx="1257300" cy="3524250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7C3EB-E511-4745-850F-AE744F442C0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477250" y="495300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3307C-1BAE-4E70-B87B-7AFB1C98B51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8477250" y="3152775"/>
            <a:ext cx="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15EF4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E05B0-175A-40C1-95A1-6527FD3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Basic blocks and control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018DB-08BF-4109-BCC6-FC30988F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879E0-4BFD-4E4B-B977-0BEB3808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int x = 1;</a:t>
            </a:r>
          </a:p>
          <a:p xmlns:a="http://schemas.openxmlformats.org/drawingml/2006/main">
            <a:pPr>
              <a:defRPr sz="2475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75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if (x &lt; 3) { x = x + 1; 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4F922-2A1F-4795-AA42-05A6B8B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5675"/>
            <a:ext cx="50577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A basic block contains consecutive instructions with no internal branch.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D2D72-ED28-433C-8DAE-203EFE5F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057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identifies block leaders and records the successor relationships in the original TAC.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E6CC6-B5FF-4379-AD6C-E579F581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47825"/>
            <a:ext cx="38100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EF4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B1: Test condition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 = 1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t1 = x &lt; 3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ifFalse t1 goto L1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3035A1-7D01-43FF-AE56-619138C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3810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F"/>
          </a:solidFill>
          <a:ln xmlns:a="http://schemas.openxmlformats.org/drawingml/2006/main" w="12383">
            <a:solidFill>
              <a:srgbClr val="315EF4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B2: Execute body</a:t>
            </a:r>
          </a:p>
          <a:p xmlns:a="http://schemas.openxmlformats.org/drawingml/2006/main">
            <a: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t2 = x + 1</a:t>
            </a:r>
          </a:p>
          <a:p xmlns:a="http://schemas.openxmlformats.org/drawingml/2006/main">
            <a:pPr algn="ctr">
              <a:defRPr sz="19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x = t2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772A8-BBD4-445E-8059-29E66FDD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AE1EF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B3: Continue</a:t>
            </a:r>
          </a:p>
          <a:p xmlns:a="http://schemas.openxmlformats.org/drawingml/2006/main">
            <a:pPr algn="ctr">
              <a:defRPr sz="17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L1: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09A49-8A02-4F00-AE8A-A4C3DEF5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108CF-87E5-4FA3-896D-33AB9FE4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433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20597409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5B545-3F58-432C-B949-D3433A55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Demonstration: the calculator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5F6D4-9F06-4D71-8500-9E0990CE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0D7B-1C80-4324-991D-5C1B7CC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Program input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15F0A-35AA-4715-908E-AA1045A1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4770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5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5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0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 + 5 *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FF972-4469-464C-A8DA-5347FEF8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Native output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C8D36-227F-457B-A554-6A2C9FE0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90775"/>
            <a:ext cx="2667000" cy="162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37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9375" b="1">
                <a:solidFill>
                  <a:srgbClr val="9EE7CE"/>
                </a:solidFill>
                <a:latin typeface="Segoe UI"/>
                <a:ea typeface="Segoe UI"/>
                <a:cs typeface="Segoe UI"/>
              </a:defRPr>
            </a:pPr>
            <a:r>
              <a:rPr sz="9375" b="1">
                <a:solidFill>
                  <a:srgbClr val="9EE7CE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CB488-B654-4045-B72E-8B285177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6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Flex generates the scanner, Bison generates the parser, and GCC builds the program that prints the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5AA93-FFE8-4B24-B17C-67A8C18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bundled calculator expects a newline after each expression.</a:t>
            </a:r>
          </a:p>
        </p:txBody>
      </p:sp>
    </p:spTree>
    <p:extLst>
      <p:ext uri="{BB962C8B-B14F-4D97-AF65-F5344CB8AC3E}">
        <p14:creationId xmlns:p14="http://schemas.microsoft.com/office/powerpoint/2010/main" val="12841986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61C78-F13C-4E9F-93B7-F9890FCF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Current scope and future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E30A8-8D41-448B-9CF7-E32952D0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6FC9D-110F-49DB-899E-E4F65023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Implemented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95CF7-CFAE-49AE-A365-F7BE7FD1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5048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Lexora supports selected .l and .y targets and an educational subset of 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5E220-DC10-4E59-955B-6231C400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048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The analyzer currently excludes arrays, structures, pointer declarations, and several other C constructs.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200A6-7223-45E1-8722-0D309F0E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6212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Future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E2659-BAED-40D6-BC2A-C82CB8D1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Language and project-file support can expand beyond the current teaching subset.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974E2-D60B-43E0-907E-64D01C95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43375"/>
            <a:ext cx="5143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Public execution would require isolated workers with restricted filesystem and network access.</a:t>
            </a:r>
          </a:p>
        </p:txBody>
      </p:sp>
    </p:spTree>
    <p:extLst>
      <p:ext uri="{BB962C8B-B14F-4D97-AF65-F5344CB8AC3E}">
        <p14:creationId xmlns:p14="http://schemas.microsoft.com/office/powerpoint/2010/main" val="14581160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11B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181D1-D03D-4EDF-86B2-BE8F764C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746DC-451B-4C19-AEC3-0C29422C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11BBC-B230-455A-BA74-FA0898A6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9728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Lexora makes compiler-design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experiments easier to run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and easier to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361F4-3CCC-4496-A2F0-27C01A72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077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BCC9E4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BCC9E4"/>
                </a:solidFill>
                <a:latin typeface="Segoe UI"/>
                <a:ea typeface="Segoe UI"/>
                <a:cs typeface="Segoe UI"/>
              </a:rPr>
              <a:t>The project combines native tool execution with educational representations of program input in a persistent browser workspace.</a:t>
            </a:r>
          </a:p>
        </p:txBody>
      </p:sp>
    </p:spTree>
    <p:extLst>
      <p:ext uri="{BB962C8B-B14F-4D97-AF65-F5344CB8AC3E}">
        <p14:creationId xmlns:p14="http://schemas.microsoft.com/office/powerpoint/2010/main" val="4101741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3771F-1BDB-4BA1-BAE9-B9890B14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9929-777C-4C3D-A708-3F64CC84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912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0CF30-48DB-4F60-980C-DCD0A355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62862-B860-402A-AFB8-166F5C12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Aho, Lam, Sethi, and Ullman (2007)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3ECBE-FAB9-4D0E-B528-61B0F28F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90725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Compilers: Principles, Techniques, and Tools, second edition.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F8CC1-92D2-4F54-A5C8-62C8FE4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145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https://www.cs.columbia.edu/~aho/books.html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3D294-5FE3-47A6-BBFD-892119E9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23E2B-6CA5-4100-A4AF-D9DC2914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9557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Flex documentation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B0F1A-8627-4224-9026-635E102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Scanner generation from regular-expression rules.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BE6FD-D0BE-4B8E-A611-258422D8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https://westes.github.io/flex/manual/Introduction.html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F7B633-86B5-4742-BD42-5EF17AC7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F41D2-104C-4D77-8B7F-F92A6281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GNU Bison documentation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02D93-2331-45BB-AB4C-EE3189BC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19575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Parser generation from annotated context-free grammars.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72CF3-2625-4F01-AF05-17D94E13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434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https://www.gnu.org/s/bison/manual/bison.html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844FD-88B2-4F54-A9A7-00D75E53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742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15EF4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315EF4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B2E86-DFFC-4A0E-97D5-17C69B12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990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253E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8253E"/>
                </a:solidFill>
                <a:latin typeface="Segoe UI"/>
                <a:ea typeface="Segoe UI"/>
                <a:cs typeface="Segoe UI"/>
              </a:rPr>
              <a:t>Official GCC documentation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4475B-F1A2-4617-9092-B02B039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990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Compilation stages and executable generation.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EDD5A-E1D7-4C24-819C-431852D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9667C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9667C"/>
                </a:solidFill>
                <a:latin typeface="Segoe UI"/>
                <a:ea typeface="Segoe UI"/>
                <a:cs typeface="Segoe UI"/>
              </a:rPr>
              <a:t>https://gcc.gnu.org/onlinedocs/gcc/Overall-Options.html</a:t>
            </a:r>
          </a:p>
        </p:txBody>
      </p:sp>
    </p:spTree>
    <p:extLst>
      <p:ext uri="{BB962C8B-B14F-4D97-AF65-F5344CB8AC3E}">
        <p14:creationId xmlns:p14="http://schemas.microsoft.com/office/powerpoint/2010/main" val="15744450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2026-10-08T07:04:50.1390000Z</dcterms:created>
  <dcterms:modified xsi:type="dcterms:W3CDTF">2026-10-08T07:04:50.1390000Z</dcterms:modified>
</coreProperties>
</file>